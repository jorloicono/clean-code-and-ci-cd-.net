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86" r:id="rId1"/>
  </p:sldMasterIdLst>
  <p:notesMasterIdLst>
    <p:notesMasterId r:id="rId58"/>
  </p:notesMasterIdLst>
  <p:sldIdLst>
    <p:sldId id="256" r:id="rId2"/>
    <p:sldId id="263" r:id="rId3"/>
    <p:sldId id="262" r:id="rId4"/>
    <p:sldId id="264" r:id="rId5"/>
    <p:sldId id="257" r:id="rId6"/>
    <p:sldId id="258" r:id="rId7"/>
    <p:sldId id="259" r:id="rId8"/>
    <p:sldId id="260" r:id="rId9"/>
    <p:sldId id="286" r:id="rId10"/>
    <p:sldId id="261" r:id="rId11"/>
    <p:sldId id="265" r:id="rId12"/>
    <p:sldId id="266" r:id="rId13"/>
    <p:sldId id="267" r:id="rId14"/>
    <p:sldId id="268" r:id="rId15"/>
    <p:sldId id="269" r:id="rId16"/>
    <p:sldId id="287" r:id="rId17"/>
    <p:sldId id="270" r:id="rId18"/>
    <p:sldId id="271" r:id="rId19"/>
    <p:sldId id="288" r:id="rId20"/>
    <p:sldId id="272" r:id="rId21"/>
    <p:sldId id="273" r:id="rId22"/>
    <p:sldId id="274" r:id="rId23"/>
    <p:sldId id="289" r:id="rId24"/>
    <p:sldId id="275" r:id="rId25"/>
    <p:sldId id="276" r:id="rId26"/>
    <p:sldId id="277" r:id="rId27"/>
    <p:sldId id="278" r:id="rId28"/>
    <p:sldId id="290" r:id="rId29"/>
    <p:sldId id="279" r:id="rId30"/>
    <p:sldId id="280" r:id="rId31"/>
    <p:sldId id="281" r:id="rId32"/>
    <p:sldId id="282" r:id="rId33"/>
    <p:sldId id="285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11" r:id="rId45"/>
    <p:sldId id="283" r:id="rId46"/>
    <p:sldId id="284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5.021%" autoAdjust="0"/>
    <p:restoredTop sz="94.66%"/>
  </p:normalViewPr>
  <p:slideViewPr>
    <p:cSldViewPr snapToGrid="0">
      <p:cViewPr varScale="1">
        <p:scale>
          <a:sx n="62" d="100"/>
          <a:sy n="62" d="100"/>
        </p:scale>
        <p:origin x="12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purl.oclc.org/ooxml/officeDocument/relationships/slide" Target="slides/slide12.xml"/><Relationship Id="rId18" Type="http://purl.oclc.org/ooxml/officeDocument/relationships/slide" Target="slides/slide17.xml"/><Relationship Id="rId26" Type="http://purl.oclc.org/ooxml/officeDocument/relationships/slide" Target="slides/slide25.xml"/><Relationship Id="rId39" Type="http://purl.oclc.org/ooxml/officeDocument/relationships/slide" Target="slides/slide38.xml"/><Relationship Id="rId21" Type="http://purl.oclc.org/ooxml/officeDocument/relationships/slide" Target="slides/slide20.xml"/><Relationship Id="rId34" Type="http://purl.oclc.org/ooxml/officeDocument/relationships/slide" Target="slides/slide33.xml"/><Relationship Id="rId42" Type="http://purl.oclc.org/ooxml/officeDocument/relationships/slide" Target="slides/slide41.xml"/><Relationship Id="rId47" Type="http://purl.oclc.org/ooxml/officeDocument/relationships/slide" Target="slides/slide46.xml"/><Relationship Id="rId50" Type="http://purl.oclc.org/ooxml/officeDocument/relationships/slide" Target="slides/slide49.xml"/><Relationship Id="rId55" Type="http://purl.oclc.org/ooxml/officeDocument/relationships/slide" Target="slides/slide54.xml"/><Relationship Id="rId7" Type="http://purl.oclc.org/ooxml/officeDocument/relationships/slide" Target="slides/slide6.xml"/><Relationship Id="rId2" Type="http://purl.oclc.org/ooxml/officeDocument/relationships/slide" Target="slides/slide1.xml"/><Relationship Id="rId16" Type="http://purl.oclc.org/ooxml/officeDocument/relationships/slide" Target="slides/slide15.xml"/><Relationship Id="rId29" Type="http://purl.oclc.org/ooxml/officeDocument/relationships/slide" Target="slides/slide28.xml"/><Relationship Id="rId11" Type="http://purl.oclc.org/ooxml/officeDocument/relationships/slide" Target="slides/slide10.xml"/><Relationship Id="rId24" Type="http://purl.oclc.org/ooxml/officeDocument/relationships/slide" Target="slides/slide23.xml"/><Relationship Id="rId32" Type="http://purl.oclc.org/ooxml/officeDocument/relationships/slide" Target="slides/slide31.xml"/><Relationship Id="rId37" Type="http://purl.oclc.org/ooxml/officeDocument/relationships/slide" Target="slides/slide36.xml"/><Relationship Id="rId40" Type="http://purl.oclc.org/ooxml/officeDocument/relationships/slide" Target="slides/slide39.xml"/><Relationship Id="rId45" Type="http://purl.oclc.org/ooxml/officeDocument/relationships/slide" Target="slides/slide44.xml"/><Relationship Id="rId53" Type="http://purl.oclc.org/ooxml/officeDocument/relationships/slide" Target="slides/slide52.xml"/><Relationship Id="rId58" Type="http://purl.oclc.org/ooxml/officeDocument/relationships/notesMaster" Target="notesMasters/notesMaster1.xml"/><Relationship Id="rId5" Type="http://purl.oclc.org/ooxml/officeDocument/relationships/slide" Target="slides/slide4.xml"/><Relationship Id="rId61" Type="http://purl.oclc.org/ooxml/officeDocument/relationships/theme" Target="theme/theme1.xml"/><Relationship Id="rId19" Type="http://purl.oclc.org/ooxml/officeDocument/relationships/slide" Target="slides/slide18.xml"/><Relationship Id="rId14" Type="http://purl.oclc.org/ooxml/officeDocument/relationships/slide" Target="slides/slide13.xml"/><Relationship Id="rId22" Type="http://purl.oclc.org/ooxml/officeDocument/relationships/slide" Target="slides/slide21.xml"/><Relationship Id="rId27" Type="http://purl.oclc.org/ooxml/officeDocument/relationships/slide" Target="slides/slide26.xml"/><Relationship Id="rId30" Type="http://purl.oclc.org/ooxml/officeDocument/relationships/slide" Target="slides/slide29.xml"/><Relationship Id="rId35" Type="http://purl.oclc.org/ooxml/officeDocument/relationships/slide" Target="slides/slide34.xml"/><Relationship Id="rId43" Type="http://purl.oclc.org/ooxml/officeDocument/relationships/slide" Target="slides/slide42.xml"/><Relationship Id="rId48" Type="http://purl.oclc.org/ooxml/officeDocument/relationships/slide" Target="slides/slide47.xml"/><Relationship Id="rId56" Type="http://purl.oclc.org/ooxml/officeDocument/relationships/slide" Target="slides/slide55.xml"/><Relationship Id="rId8" Type="http://purl.oclc.org/ooxml/officeDocument/relationships/slide" Target="slides/slide7.xml"/><Relationship Id="rId51" Type="http://purl.oclc.org/ooxml/officeDocument/relationships/slide" Target="slides/slide50.xml"/><Relationship Id="rId3" Type="http://purl.oclc.org/ooxml/officeDocument/relationships/slide" Target="slides/slide2.xml"/><Relationship Id="rId12" Type="http://purl.oclc.org/ooxml/officeDocument/relationships/slide" Target="slides/slide11.xml"/><Relationship Id="rId17" Type="http://purl.oclc.org/ooxml/officeDocument/relationships/slide" Target="slides/slide16.xml"/><Relationship Id="rId25" Type="http://purl.oclc.org/ooxml/officeDocument/relationships/slide" Target="slides/slide24.xml"/><Relationship Id="rId33" Type="http://purl.oclc.org/ooxml/officeDocument/relationships/slide" Target="slides/slide32.xml"/><Relationship Id="rId38" Type="http://purl.oclc.org/ooxml/officeDocument/relationships/slide" Target="slides/slide37.xml"/><Relationship Id="rId46" Type="http://purl.oclc.org/ooxml/officeDocument/relationships/slide" Target="slides/slide45.xml"/><Relationship Id="rId59" Type="http://purl.oclc.org/ooxml/officeDocument/relationships/presProps" Target="presProps.xml"/><Relationship Id="rId20" Type="http://purl.oclc.org/ooxml/officeDocument/relationships/slide" Target="slides/slide19.xml"/><Relationship Id="rId41" Type="http://purl.oclc.org/ooxml/officeDocument/relationships/slide" Target="slides/slide40.xml"/><Relationship Id="rId54" Type="http://purl.oclc.org/ooxml/officeDocument/relationships/slide" Target="slides/slide53.xml"/><Relationship Id="rId62" Type="http://purl.oclc.org/ooxml/officeDocument/relationships/tableStyles" Target="tableStyles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5" Type="http://purl.oclc.org/ooxml/officeDocument/relationships/slide" Target="slides/slide14.xml"/><Relationship Id="rId23" Type="http://purl.oclc.org/ooxml/officeDocument/relationships/slide" Target="slides/slide22.xml"/><Relationship Id="rId28" Type="http://purl.oclc.org/ooxml/officeDocument/relationships/slide" Target="slides/slide27.xml"/><Relationship Id="rId36" Type="http://purl.oclc.org/ooxml/officeDocument/relationships/slide" Target="slides/slide35.xml"/><Relationship Id="rId49" Type="http://purl.oclc.org/ooxml/officeDocument/relationships/slide" Target="slides/slide48.xml"/><Relationship Id="rId57" Type="http://purl.oclc.org/ooxml/officeDocument/relationships/slide" Target="slides/slide56.xml"/><Relationship Id="rId10" Type="http://purl.oclc.org/ooxml/officeDocument/relationships/slide" Target="slides/slide9.xml"/><Relationship Id="rId31" Type="http://purl.oclc.org/ooxml/officeDocument/relationships/slide" Target="slides/slide30.xml"/><Relationship Id="rId44" Type="http://purl.oclc.org/ooxml/officeDocument/relationships/slide" Target="slides/slide43.xml"/><Relationship Id="rId52" Type="http://purl.oclc.org/ooxml/officeDocument/relationships/slide" Target="slides/slide51.xml"/><Relationship Id="rId60" Type="http://purl.oclc.org/ooxml/officeDocument/relationships/viewProps" Target="viewProps.xml"/><Relationship Id="rId4" Type="http://purl.oclc.org/ooxml/officeDocument/relationships/slide" Target="slides/slide3.xml"/><Relationship Id="rId9" Type="http://purl.oclc.org/ooxml/officeDocument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purl.oclc.org/ooxml/officeDocument/relationships/image" Target="../media/image9.svg"/><Relationship Id="rId3" Type="http://purl.oclc.org/ooxml/officeDocument/relationships/image" Target="../media/image4.png"/><Relationship Id="rId7" Type="http://purl.oclc.org/ooxml/officeDocument/relationships/image" Target="../media/image8.png"/><Relationship Id="rId2" Type="http://purl.oclc.org/ooxml/officeDocument/relationships/image" Target="../media/image3.svg"/><Relationship Id="rId1" Type="http://purl.oclc.org/ooxml/officeDocument/relationships/image" Target="../media/image2.png"/><Relationship Id="rId6" Type="http://purl.oclc.org/ooxml/officeDocument/relationships/image" Target="../media/image7.svg"/><Relationship Id="rId5" Type="http://purl.oclc.org/ooxml/officeDocument/relationships/image" Target="../media/image6.png"/><Relationship Id="rId10" Type="http://purl.oclc.org/ooxml/officeDocument/relationships/image" Target="../media/image11.svg"/><Relationship Id="rId4" Type="http://purl.oclc.org/ooxml/officeDocument/relationships/image" Target="../media/image5.svg"/><Relationship Id="rId9" Type="http://purl.oclc.org/ooxml/officeDocument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purl.oclc.org/ooxml/officeDocument/relationships/image" Target="../media/image9.svg"/><Relationship Id="rId3" Type="http://purl.oclc.org/ooxml/officeDocument/relationships/image" Target="../media/image4.png"/><Relationship Id="rId7" Type="http://purl.oclc.org/ooxml/officeDocument/relationships/image" Target="../media/image8.png"/><Relationship Id="rId2" Type="http://purl.oclc.org/ooxml/officeDocument/relationships/image" Target="../media/image3.svg"/><Relationship Id="rId1" Type="http://purl.oclc.org/ooxml/officeDocument/relationships/image" Target="../media/image2.png"/><Relationship Id="rId6" Type="http://purl.oclc.org/ooxml/officeDocument/relationships/image" Target="../media/image7.svg"/><Relationship Id="rId5" Type="http://purl.oclc.org/ooxml/officeDocument/relationships/image" Target="../media/image6.png"/><Relationship Id="rId10" Type="http://purl.oclc.org/ooxml/officeDocument/relationships/image" Target="../media/image11.svg"/><Relationship Id="rId4" Type="http://purl.oclc.org/ooxml/officeDocument/relationships/image" Target="../media/image5.svg"/><Relationship Id="rId9" Type="http://purl.oclc.org/ooxml/officeDocument/relationships/image" Target="../media/image10.png"/></Relationships>
</file>

<file path=ppt/diagrams/colors1.xml><?xml version="1.0" encoding="utf-8"?>
<dgm:colorsDef xmlns:dgm="http://purl.oclc.org/ooxml/drawingml/diagram" xmlns:a="http://purl.oclc.org/ooxml/drawingml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%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%"/>
      </a:schemeClr>
      <a:schemeClr val="accent3">
        <a:alpha val="50%"/>
      </a:schemeClr>
      <a:schemeClr val="accent4">
        <a:alpha val="50%"/>
      </a:schemeClr>
      <a:schemeClr val="accent5">
        <a:alpha val="50%"/>
      </a:schemeClr>
      <a:schemeClr val="accent6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%"/>
      </a:schemeClr>
      <a:schemeClr val="accent3">
        <a:tint val="50%"/>
      </a:schemeClr>
      <a:schemeClr val="accent4">
        <a:tint val="50%"/>
      </a:schemeClr>
      <a:schemeClr val="accent5">
        <a:tint val="50%"/>
      </a:schemeClr>
      <a:schemeClr val="accent6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%"/>
      </a:schemeClr>
      <a:schemeClr val="accent2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%"/>
      </a:schemeClr>
      <a:schemeClr val="accent2">
        <a:tint val="2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%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%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%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%"/>
        <a:alpha val="90%"/>
      </a:schemeClr>
      <a:schemeClr val="accent3">
        <a:tint val="40%"/>
        <a:alpha val="90%"/>
      </a:schemeClr>
      <a:schemeClr val="accent4">
        <a:tint val="40%"/>
        <a:alpha val="90%"/>
      </a:schemeClr>
      <a:schemeClr val="accent5">
        <a:tint val="40%"/>
        <a:alpha val="90%"/>
      </a:schemeClr>
      <a:schemeClr val="accent6">
        <a:tint val="40%"/>
        <a:alpha val="90%"/>
      </a:schemeClr>
    </dgm:fillClrLst>
    <dgm:linClrLst meth="repeat">
      <a:schemeClr val="accent2">
        <a:tint val="40%"/>
        <a:alpha val="90%"/>
      </a:schemeClr>
      <a:schemeClr val="accent3">
        <a:tint val="40%"/>
        <a:alpha val="90%"/>
      </a:schemeClr>
      <a:schemeClr val="accent4">
        <a:tint val="40%"/>
        <a:alpha val="90%"/>
      </a:schemeClr>
      <a:schemeClr val="accent5">
        <a:tint val="40%"/>
        <a:alpha val="90%"/>
      </a:schemeClr>
      <a:schemeClr val="accent6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%"/>
        <a:alpha val="90%"/>
      </a:schemeClr>
      <a:schemeClr val="accent3">
        <a:tint val="40%"/>
        <a:alpha val="90%"/>
      </a:schemeClr>
      <a:schemeClr val="accent4">
        <a:tint val="40%"/>
        <a:alpha val="90%"/>
      </a:schemeClr>
      <a:schemeClr val="accent5">
        <a:tint val="40%"/>
        <a:alpha val="90%"/>
      </a:schemeClr>
      <a:schemeClr val="accent6">
        <a:tint val="40%"/>
        <a:alpha val="90%"/>
      </a:schemeClr>
    </dgm:fillClrLst>
    <dgm:linClrLst meth="repeat">
      <a:schemeClr val="accent2">
        <a:tint val="40%"/>
        <a:alpha val="90%"/>
      </a:schemeClr>
      <a:schemeClr val="accent3">
        <a:tint val="40%"/>
        <a:alpha val="90%"/>
      </a:schemeClr>
      <a:schemeClr val="accent4">
        <a:tint val="40%"/>
        <a:alpha val="90%"/>
      </a:schemeClr>
      <a:schemeClr val="accent5">
        <a:tint val="40%"/>
        <a:alpha val="90%"/>
      </a:schemeClr>
      <a:schemeClr val="accent6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%"/>
        <a:alpha val="90%"/>
      </a:schemeClr>
      <a:schemeClr val="accent3">
        <a:tint val="40%"/>
        <a:alpha val="90%"/>
      </a:schemeClr>
      <a:schemeClr val="accent4">
        <a:tint val="40%"/>
        <a:alpha val="90%"/>
      </a:schemeClr>
      <a:schemeClr val="accent5">
        <a:tint val="40%"/>
        <a:alpha val="90%"/>
      </a:schemeClr>
      <a:schemeClr val="accent6">
        <a:tint val="40%"/>
        <a:alpha val="90%"/>
      </a:schemeClr>
    </dgm:fillClrLst>
    <dgm:linClrLst meth="repeat">
      <a:schemeClr val="accent2">
        <a:tint val="40%"/>
        <a:alpha val="90%"/>
      </a:schemeClr>
      <a:schemeClr val="accent3">
        <a:tint val="40%"/>
        <a:alpha val="90%"/>
      </a:schemeClr>
      <a:schemeClr val="accent4">
        <a:tint val="40%"/>
        <a:alpha val="90%"/>
      </a:schemeClr>
      <a:schemeClr val="accent5">
        <a:tint val="40%"/>
        <a:alpha val="90%"/>
      </a:schemeClr>
      <a:schemeClr val="accent6">
        <a:tint val="40%"/>
        <a:alpha val="9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%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%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%"/>
        <a:alpha val="40%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purl.oclc.org/ooxml/drawingml/diagram" xmlns:a="http://purl.oclc.org/ooxml/drawingml/main">
  <dgm:ptLst>
    <dgm:pt modelId="{F2371E57-500C-41BB-9C91-33842F5F83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90F1DEA-9C0B-45A9-88B3-6F578D986260}">
      <dgm:prSet/>
      <dgm:spPr/>
      <dgm:t>
        <a:bodyPr/>
        <a:lstStyle/>
        <a:p>
          <a:r>
            <a:rPr lang="en-US"/>
            <a:t>It goes beyond merely being aesthetically pleasing to write code that is simple to read, alter, and maintain. Clean code is important for the following reasons:</a:t>
          </a:r>
        </a:p>
      </dgm:t>
    </dgm:pt>
    <dgm:pt modelId="{F78ED36E-7CEE-4C74-A619-5CAE09B65448}" type="parTrans" cxnId="{0E1ECD91-3AC2-4438-8105-9AAF2C6D69C8}">
      <dgm:prSet/>
      <dgm:spPr/>
      <dgm:t>
        <a:bodyPr/>
        <a:lstStyle/>
        <a:p>
          <a:endParaRPr lang="en-US"/>
        </a:p>
      </dgm:t>
    </dgm:pt>
    <dgm:pt modelId="{CC830376-C55C-4E87-A053-44810060A6FF}" type="sibTrans" cxnId="{0E1ECD91-3AC2-4438-8105-9AAF2C6D69C8}">
      <dgm:prSet/>
      <dgm:spPr/>
      <dgm:t>
        <a:bodyPr/>
        <a:lstStyle/>
        <a:p>
          <a:endParaRPr lang="en-US"/>
        </a:p>
      </dgm:t>
    </dgm:pt>
    <dgm:pt modelId="{4C3A5AF2-7EFB-49B8-9C11-490076EBC1BD}">
      <dgm:prSet/>
      <dgm:spPr/>
      <dgm:t>
        <a:bodyPr/>
        <a:lstStyle/>
        <a:p>
          <a:r>
            <a:rPr lang="en-US" b="1"/>
            <a:t>1. Readability:</a:t>
          </a:r>
          <a:r>
            <a:rPr lang="en-US"/>
            <a:t> Clean code is easy to read and understand. Anyone looking at your code should be able to comprehend its purpose and functionality without struggling.</a:t>
          </a:r>
        </a:p>
      </dgm:t>
    </dgm:pt>
    <dgm:pt modelId="{D1358285-B4B8-40FF-A072-F5A048645CF1}" type="parTrans" cxnId="{218DBA53-11D9-4B06-B172-911E6347F551}">
      <dgm:prSet/>
      <dgm:spPr/>
      <dgm:t>
        <a:bodyPr/>
        <a:lstStyle/>
        <a:p>
          <a:endParaRPr lang="en-US"/>
        </a:p>
      </dgm:t>
    </dgm:pt>
    <dgm:pt modelId="{495BB5D7-58C3-43B5-AC1D-EEC25E594AED}" type="sibTrans" cxnId="{218DBA53-11D9-4B06-B172-911E6347F551}">
      <dgm:prSet/>
      <dgm:spPr/>
      <dgm:t>
        <a:bodyPr/>
        <a:lstStyle/>
        <a:p>
          <a:endParaRPr lang="en-US"/>
        </a:p>
      </dgm:t>
    </dgm:pt>
    <dgm:pt modelId="{F645AFC5-AE38-4CF9-980F-4F4FDB55D5D1}">
      <dgm:prSet/>
      <dgm:spPr/>
      <dgm:t>
        <a:bodyPr/>
        <a:lstStyle/>
        <a:p>
          <a:r>
            <a:rPr lang="en-US" b="1"/>
            <a:t>2. Maintainability:</a:t>
          </a:r>
          <a:r>
            <a:rPr lang="en-US"/>
            <a:t> Clean code is easier to maintain. When you need to make changes or fix bugs, clean code minimizes the chances of introducing new issues.</a:t>
          </a:r>
        </a:p>
      </dgm:t>
    </dgm:pt>
    <dgm:pt modelId="{DD37306C-3F1D-44DD-BC22-380B9BDDE3F5}" type="parTrans" cxnId="{1D72E9B4-6399-4265-9AFF-E8242FBE98B1}">
      <dgm:prSet/>
      <dgm:spPr/>
      <dgm:t>
        <a:bodyPr/>
        <a:lstStyle/>
        <a:p>
          <a:endParaRPr lang="en-US"/>
        </a:p>
      </dgm:t>
    </dgm:pt>
    <dgm:pt modelId="{3C40D778-0CE0-4995-9EC9-AB690682CCA6}" type="sibTrans" cxnId="{1D72E9B4-6399-4265-9AFF-E8242FBE98B1}">
      <dgm:prSet/>
      <dgm:spPr/>
      <dgm:t>
        <a:bodyPr/>
        <a:lstStyle/>
        <a:p>
          <a:endParaRPr lang="en-US"/>
        </a:p>
      </dgm:t>
    </dgm:pt>
    <dgm:pt modelId="{68532B6D-78C3-45A8-9EDA-8C585ADFA550}">
      <dgm:prSet/>
      <dgm:spPr/>
      <dgm:t>
        <a:bodyPr/>
        <a:lstStyle/>
        <a:p>
          <a:r>
            <a:rPr lang="en-US" b="1"/>
            <a:t>3. Collaboration:</a:t>
          </a:r>
          <a:r>
            <a:rPr lang="en-US"/>
            <a:t> Clean code promotes collaboration within development teams. It allows team members to work on the same codebase more effectively.</a:t>
          </a:r>
        </a:p>
      </dgm:t>
    </dgm:pt>
    <dgm:pt modelId="{5CB2E462-9401-4B82-8E79-9DE36165FCC4}" type="parTrans" cxnId="{FA29F214-80B7-4F8B-928E-98F92B01B0A4}">
      <dgm:prSet/>
      <dgm:spPr/>
      <dgm:t>
        <a:bodyPr/>
        <a:lstStyle/>
        <a:p>
          <a:endParaRPr lang="en-US"/>
        </a:p>
      </dgm:t>
    </dgm:pt>
    <dgm:pt modelId="{2FAEE13C-E82D-4040-855D-8448FEC45A07}" type="sibTrans" cxnId="{FA29F214-80B7-4F8B-928E-98F92B01B0A4}">
      <dgm:prSet/>
      <dgm:spPr/>
      <dgm:t>
        <a:bodyPr/>
        <a:lstStyle/>
        <a:p>
          <a:endParaRPr lang="en-US"/>
        </a:p>
      </dgm:t>
    </dgm:pt>
    <dgm:pt modelId="{34C34901-C65C-4ECF-A022-830725D6E8FE}">
      <dgm:prSet/>
      <dgm:spPr/>
      <dgm:t>
        <a:bodyPr/>
        <a:lstStyle/>
        <a:p>
          <a:r>
            <a:rPr lang="en-US" b="1"/>
            <a:t>4. Efficiency:</a:t>
          </a:r>
          <a:r>
            <a:rPr lang="en-US"/>
            <a:t> Clean code can lead to more efficient software. It reduces the chances of performance bottlenecks and unintended consequences.</a:t>
          </a:r>
        </a:p>
      </dgm:t>
    </dgm:pt>
    <dgm:pt modelId="{D98D2E93-ACB9-4B4B-8291-80D1166E73D5}" type="parTrans" cxnId="{8E656AD4-648A-4107-AD02-79A3A1277AC2}">
      <dgm:prSet/>
      <dgm:spPr/>
      <dgm:t>
        <a:bodyPr/>
        <a:lstStyle/>
        <a:p>
          <a:endParaRPr lang="en-US"/>
        </a:p>
      </dgm:t>
    </dgm:pt>
    <dgm:pt modelId="{8AC2A005-B01E-4815-A8A6-42DF2435667D}" type="sibTrans" cxnId="{8E656AD4-648A-4107-AD02-79A3A1277AC2}">
      <dgm:prSet/>
      <dgm:spPr/>
      <dgm:t>
        <a:bodyPr/>
        <a:lstStyle/>
        <a:p>
          <a:endParaRPr lang="en-US"/>
        </a:p>
      </dgm:t>
    </dgm:pt>
    <dgm:pt modelId="{B2C738B4-85AE-4A3A-9C4D-976898523DD0}" type="pres">
      <dgm:prSet presAssocID="{F2371E57-500C-41BB-9C91-33842F5F835F}" presName="root" presStyleCnt="0">
        <dgm:presLayoutVars>
          <dgm:dir/>
          <dgm:resizeHandles val="exact"/>
        </dgm:presLayoutVars>
      </dgm:prSet>
      <dgm:spPr/>
    </dgm:pt>
    <dgm:pt modelId="{A6F68C39-919C-42EA-9C59-0F12F19415B3}" type="pres">
      <dgm:prSet presAssocID="{290F1DEA-9C0B-45A9-88B3-6F578D986260}" presName="compNode" presStyleCnt="0"/>
      <dgm:spPr/>
    </dgm:pt>
    <dgm:pt modelId="{0F1095BD-91AD-4B5B-ACA8-E971907DDB69}" type="pres">
      <dgm:prSet presAssocID="{290F1DEA-9C0B-45A9-88B3-6F578D986260}" presName="bgRect" presStyleLbl="bgShp" presStyleIdx="0" presStyleCnt="5"/>
      <dgm:spPr/>
    </dgm:pt>
    <dgm:pt modelId="{3210C736-1189-4F66-B81F-C5F2814EFAA6}" type="pres">
      <dgm:prSet presAssocID="{290F1DEA-9C0B-45A9-88B3-6F578D986260}" presName="iconRect" presStyleLbl="node1" presStyleIdx="0" presStyleCnt="5"/>
      <dgm:spPr>
        <a:blipFill>
          <a:blip xmlns:r="http://purl.oclc.org/ooxml/officeDocument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5E1F7A6C-FBFC-49ED-8635-047123E3D186}" type="pres">
      <dgm:prSet presAssocID="{290F1DEA-9C0B-45A9-88B3-6F578D986260}" presName="spaceRect" presStyleCnt="0"/>
      <dgm:spPr/>
    </dgm:pt>
    <dgm:pt modelId="{54B51567-1FA5-4042-A89F-468767BEEC3D}" type="pres">
      <dgm:prSet presAssocID="{290F1DEA-9C0B-45A9-88B3-6F578D986260}" presName="parTx" presStyleLbl="revTx" presStyleIdx="0" presStyleCnt="5">
        <dgm:presLayoutVars>
          <dgm:chMax val="0"/>
          <dgm:chPref val="0"/>
        </dgm:presLayoutVars>
      </dgm:prSet>
      <dgm:spPr/>
    </dgm:pt>
    <dgm:pt modelId="{6FF55CE7-CD0C-4AB1-A920-4D612A7E257E}" type="pres">
      <dgm:prSet presAssocID="{CC830376-C55C-4E87-A053-44810060A6FF}" presName="sibTrans" presStyleCnt="0"/>
      <dgm:spPr/>
    </dgm:pt>
    <dgm:pt modelId="{8ECDE3AE-0D43-429F-B5A9-0D2B46F69EED}" type="pres">
      <dgm:prSet presAssocID="{4C3A5AF2-7EFB-49B8-9C11-490076EBC1BD}" presName="compNode" presStyleCnt="0"/>
      <dgm:spPr/>
    </dgm:pt>
    <dgm:pt modelId="{C481A281-C7A9-47DC-863A-7CCEAB20D2AD}" type="pres">
      <dgm:prSet presAssocID="{4C3A5AF2-7EFB-49B8-9C11-490076EBC1BD}" presName="bgRect" presStyleLbl="bgShp" presStyleIdx="1" presStyleCnt="5"/>
      <dgm:spPr/>
    </dgm:pt>
    <dgm:pt modelId="{0CEDA002-C242-4B98-B78D-942ECB69978B}" type="pres">
      <dgm:prSet presAssocID="{4C3A5AF2-7EFB-49B8-9C11-490076EBC1BD}" presName="iconRect" presStyleLbl="node1" presStyleIdx="1" presStyleCnt="5"/>
      <dgm:spPr>
        <a:blipFill>
          <a:blip xmlns:r="http://purl.oclc.org/ooxml/officeDocument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D499D962-C35D-49CB-B03E-9C0D22E638B1}" type="pres">
      <dgm:prSet presAssocID="{4C3A5AF2-7EFB-49B8-9C11-490076EBC1BD}" presName="spaceRect" presStyleCnt="0"/>
      <dgm:spPr/>
    </dgm:pt>
    <dgm:pt modelId="{BCF7DA16-6248-4695-A531-9429F7E919E4}" type="pres">
      <dgm:prSet presAssocID="{4C3A5AF2-7EFB-49B8-9C11-490076EBC1BD}" presName="parTx" presStyleLbl="revTx" presStyleIdx="1" presStyleCnt="5">
        <dgm:presLayoutVars>
          <dgm:chMax val="0"/>
          <dgm:chPref val="0"/>
        </dgm:presLayoutVars>
      </dgm:prSet>
      <dgm:spPr/>
    </dgm:pt>
    <dgm:pt modelId="{3C7823CF-BEBD-486A-BBDE-1C392D6E04AC}" type="pres">
      <dgm:prSet presAssocID="{495BB5D7-58C3-43B5-AC1D-EEC25E594AED}" presName="sibTrans" presStyleCnt="0"/>
      <dgm:spPr/>
    </dgm:pt>
    <dgm:pt modelId="{03042CAD-E535-42D9-8827-0030368FCB9E}" type="pres">
      <dgm:prSet presAssocID="{F645AFC5-AE38-4CF9-980F-4F4FDB55D5D1}" presName="compNode" presStyleCnt="0"/>
      <dgm:spPr/>
    </dgm:pt>
    <dgm:pt modelId="{CD3A7285-8901-49CA-842F-61430CCB0F08}" type="pres">
      <dgm:prSet presAssocID="{F645AFC5-AE38-4CF9-980F-4F4FDB55D5D1}" presName="bgRect" presStyleLbl="bgShp" presStyleIdx="2" presStyleCnt="5"/>
      <dgm:spPr/>
    </dgm:pt>
    <dgm:pt modelId="{A5433ED0-BFB8-40C8-97DF-42F9A31DFBDF}" type="pres">
      <dgm:prSet presAssocID="{F645AFC5-AE38-4CF9-980F-4F4FDB55D5D1}" presName="iconRect" presStyleLbl="node1" presStyleIdx="2" presStyleCnt="5"/>
      <dgm:spPr>
        <a:blipFill>
          <a:blip xmlns:r="http://purl.oclc.org/ooxml/officeDocument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secto"/>
        </a:ext>
      </dgm:extLst>
    </dgm:pt>
    <dgm:pt modelId="{9986A817-2D9F-47F0-8282-B9561DE98F34}" type="pres">
      <dgm:prSet presAssocID="{F645AFC5-AE38-4CF9-980F-4F4FDB55D5D1}" presName="spaceRect" presStyleCnt="0"/>
      <dgm:spPr/>
    </dgm:pt>
    <dgm:pt modelId="{C0331ABB-EB8D-4DD5-8048-125445330620}" type="pres">
      <dgm:prSet presAssocID="{F645AFC5-AE38-4CF9-980F-4F4FDB55D5D1}" presName="parTx" presStyleLbl="revTx" presStyleIdx="2" presStyleCnt="5">
        <dgm:presLayoutVars>
          <dgm:chMax val="0"/>
          <dgm:chPref val="0"/>
        </dgm:presLayoutVars>
      </dgm:prSet>
      <dgm:spPr/>
    </dgm:pt>
    <dgm:pt modelId="{F76FDC3F-98F2-4AE6-9B2F-D833AAB45F79}" type="pres">
      <dgm:prSet presAssocID="{3C40D778-0CE0-4995-9EC9-AB690682CCA6}" presName="sibTrans" presStyleCnt="0"/>
      <dgm:spPr/>
    </dgm:pt>
    <dgm:pt modelId="{99F7B8D4-CE0C-4F37-A117-74D69222EE22}" type="pres">
      <dgm:prSet presAssocID="{68532B6D-78C3-45A8-9EDA-8C585ADFA550}" presName="compNode" presStyleCnt="0"/>
      <dgm:spPr/>
    </dgm:pt>
    <dgm:pt modelId="{B27F105E-1B75-4E2E-AB0F-EEB05234D7FC}" type="pres">
      <dgm:prSet presAssocID="{68532B6D-78C3-45A8-9EDA-8C585ADFA550}" presName="bgRect" presStyleLbl="bgShp" presStyleIdx="3" presStyleCnt="5"/>
      <dgm:spPr/>
    </dgm:pt>
    <dgm:pt modelId="{3924D001-9D3F-4BAB-A5E0-457FDD3324A9}" type="pres">
      <dgm:prSet presAssocID="{68532B6D-78C3-45A8-9EDA-8C585ADFA550}" presName="iconRect" presStyleLbl="node1" presStyleIdx="3" presStyleCnt="5"/>
      <dgm:spPr>
        <a:blipFill>
          <a:blip xmlns:r="http://purl.oclc.org/ooxml/officeDocument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077A96D1-1C35-485E-93FD-21227945A70A}" type="pres">
      <dgm:prSet presAssocID="{68532B6D-78C3-45A8-9EDA-8C585ADFA550}" presName="spaceRect" presStyleCnt="0"/>
      <dgm:spPr/>
    </dgm:pt>
    <dgm:pt modelId="{F43D833E-FD95-4472-A78B-77B31995064B}" type="pres">
      <dgm:prSet presAssocID="{68532B6D-78C3-45A8-9EDA-8C585ADFA550}" presName="parTx" presStyleLbl="revTx" presStyleIdx="3" presStyleCnt="5">
        <dgm:presLayoutVars>
          <dgm:chMax val="0"/>
          <dgm:chPref val="0"/>
        </dgm:presLayoutVars>
      </dgm:prSet>
      <dgm:spPr/>
    </dgm:pt>
    <dgm:pt modelId="{E5778118-BDCE-4028-84FC-95BA538F8071}" type="pres">
      <dgm:prSet presAssocID="{2FAEE13C-E82D-4040-855D-8448FEC45A07}" presName="sibTrans" presStyleCnt="0"/>
      <dgm:spPr/>
    </dgm:pt>
    <dgm:pt modelId="{4FD35E8D-4500-422C-BF4D-4BD40C35692B}" type="pres">
      <dgm:prSet presAssocID="{34C34901-C65C-4ECF-A022-830725D6E8FE}" presName="compNode" presStyleCnt="0"/>
      <dgm:spPr/>
    </dgm:pt>
    <dgm:pt modelId="{CD3D9AE9-14FC-410D-A181-9BC55A2A77FA}" type="pres">
      <dgm:prSet presAssocID="{34C34901-C65C-4ECF-A022-830725D6E8FE}" presName="bgRect" presStyleLbl="bgShp" presStyleIdx="4" presStyleCnt="5"/>
      <dgm:spPr/>
    </dgm:pt>
    <dgm:pt modelId="{9D193563-43FA-48E0-BFE9-B153384E142C}" type="pres">
      <dgm:prSet presAssocID="{34C34901-C65C-4ECF-A022-830725D6E8FE}" presName="iconRect" presStyleLbl="node1" presStyleIdx="4" presStyleCnt="5"/>
      <dgm:spPr>
        <a:blipFill>
          <a:blip xmlns:r="http://purl.oclc.org/ooxml/officeDocument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1A0DE79E-9120-42B7-9EA3-83FCAE725844}" type="pres">
      <dgm:prSet presAssocID="{34C34901-C65C-4ECF-A022-830725D6E8FE}" presName="spaceRect" presStyleCnt="0"/>
      <dgm:spPr/>
    </dgm:pt>
    <dgm:pt modelId="{98014F9E-26B0-488E-BE2B-9EAC0FEA19A1}" type="pres">
      <dgm:prSet presAssocID="{34C34901-C65C-4ECF-A022-830725D6E8F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A29F214-80B7-4F8B-928E-98F92B01B0A4}" srcId="{F2371E57-500C-41BB-9C91-33842F5F835F}" destId="{68532B6D-78C3-45A8-9EDA-8C585ADFA550}" srcOrd="3" destOrd="0" parTransId="{5CB2E462-9401-4B82-8E79-9DE36165FCC4}" sibTransId="{2FAEE13C-E82D-4040-855D-8448FEC45A07}"/>
    <dgm:cxn modelId="{2FE0345D-8F20-4B96-94F5-486DA46E174A}" type="presOf" srcId="{F645AFC5-AE38-4CF9-980F-4F4FDB55D5D1}" destId="{C0331ABB-EB8D-4DD5-8048-125445330620}" srcOrd="0" destOrd="0" presId="urn:microsoft.com/office/officeart/2018/2/layout/IconVerticalSolidList"/>
    <dgm:cxn modelId="{C63BF15E-5A48-4A2D-AF44-13DA925900D6}" type="presOf" srcId="{4C3A5AF2-7EFB-49B8-9C11-490076EBC1BD}" destId="{BCF7DA16-6248-4695-A531-9429F7E919E4}" srcOrd="0" destOrd="0" presId="urn:microsoft.com/office/officeart/2018/2/layout/IconVerticalSolidList"/>
    <dgm:cxn modelId="{D61B1E6C-34AA-442F-A338-5B95E47AB043}" type="presOf" srcId="{F2371E57-500C-41BB-9C91-33842F5F835F}" destId="{B2C738B4-85AE-4A3A-9C4D-976898523DD0}" srcOrd="0" destOrd="0" presId="urn:microsoft.com/office/officeart/2018/2/layout/IconVerticalSolidList"/>
    <dgm:cxn modelId="{218DBA53-11D9-4B06-B172-911E6347F551}" srcId="{F2371E57-500C-41BB-9C91-33842F5F835F}" destId="{4C3A5AF2-7EFB-49B8-9C11-490076EBC1BD}" srcOrd="1" destOrd="0" parTransId="{D1358285-B4B8-40FF-A072-F5A048645CF1}" sibTransId="{495BB5D7-58C3-43B5-AC1D-EEC25E594AED}"/>
    <dgm:cxn modelId="{0E1ECD91-3AC2-4438-8105-9AAF2C6D69C8}" srcId="{F2371E57-500C-41BB-9C91-33842F5F835F}" destId="{290F1DEA-9C0B-45A9-88B3-6F578D986260}" srcOrd="0" destOrd="0" parTransId="{F78ED36E-7CEE-4C74-A619-5CAE09B65448}" sibTransId="{CC830376-C55C-4E87-A053-44810060A6FF}"/>
    <dgm:cxn modelId="{1D72E9B4-6399-4265-9AFF-E8242FBE98B1}" srcId="{F2371E57-500C-41BB-9C91-33842F5F835F}" destId="{F645AFC5-AE38-4CF9-980F-4F4FDB55D5D1}" srcOrd="2" destOrd="0" parTransId="{DD37306C-3F1D-44DD-BC22-380B9BDDE3F5}" sibTransId="{3C40D778-0CE0-4995-9EC9-AB690682CCA6}"/>
    <dgm:cxn modelId="{91B4AFBC-8D57-4AE1-BD50-337FFC5F9B3E}" type="presOf" srcId="{290F1DEA-9C0B-45A9-88B3-6F578D986260}" destId="{54B51567-1FA5-4042-A89F-468767BEEC3D}" srcOrd="0" destOrd="0" presId="urn:microsoft.com/office/officeart/2018/2/layout/IconVerticalSolidList"/>
    <dgm:cxn modelId="{8E656AD4-648A-4107-AD02-79A3A1277AC2}" srcId="{F2371E57-500C-41BB-9C91-33842F5F835F}" destId="{34C34901-C65C-4ECF-A022-830725D6E8FE}" srcOrd="4" destOrd="0" parTransId="{D98D2E93-ACB9-4B4B-8291-80D1166E73D5}" sibTransId="{8AC2A005-B01E-4815-A8A6-42DF2435667D}"/>
    <dgm:cxn modelId="{99A210D5-2B06-46FA-97BC-B42B68521589}" type="presOf" srcId="{68532B6D-78C3-45A8-9EDA-8C585ADFA550}" destId="{F43D833E-FD95-4472-A78B-77B31995064B}" srcOrd="0" destOrd="0" presId="urn:microsoft.com/office/officeart/2018/2/layout/IconVerticalSolidList"/>
    <dgm:cxn modelId="{DF9CFEE1-6623-46A9-817B-1AC71E7E1871}" type="presOf" srcId="{34C34901-C65C-4ECF-A022-830725D6E8FE}" destId="{98014F9E-26B0-488E-BE2B-9EAC0FEA19A1}" srcOrd="0" destOrd="0" presId="urn:microsoft.com/office/officeart/2018/2/layout/IconVerticalSolidList"/>
    <dgm:cxn modelId="{195B010D-15C5-42B7-B95A-4477B890076B}" type="presParOf" srcId="{B2C738B4-85AE-4A3A-9C4D-976898523DD0}" destId="{A6F68C39-919C-42EA-9C59-0F12F19415B3}" srcOrd="0" destOrd="0" presId="urn:microsoft.com/office/officeart/2018/2/layout/IconVerticalSolidList"/>
    <dgm:cxn modelId="{98CCA872-328B-4877-BAA0-B377C373DF4C}" type="presParOf" srcId="{A6F68C39-919C-42EA-9C59-0F12F19415B3}" destId="{0F1095BD-91AD-4B5B-ACA8-E971907DDB69}" srcOrd="0" destOrd="0" presId="urn:microsoft.com/office/officeart/2018/2/layout/IconVerticalSolidList"/>
    <dgm:cxn modelId="{8E669C32-DD0F-4133-85AE-7F4C585264EF}" type="presParOf" srcId="{A6F68C39-919C-42EA-9C59-0F12F19415B3}" destId="{3210C736-1189-4F66-B81F-C5F2814EFAA6}" srcOrd="1" destOrd="0" presId="urn:microsoft.com/office/officeart/2018/2/layout/IconVerticalSolidList"/>
    <dgm:cxn modelId="{37CACD29-E14A-4314-8C6B-6625EF1FA31F}" type="presParOf" srcId="{A6F68C39-919C-42EA-9C59-0F12F19415B3}" destId="{5E1F7A6C-FBFC-49ED-8635-047123E3D186}" srcOrd="2" destOrd="0" presId="urn:microsoft.com/office/officeart/2018/2/layout/IconVerticalSolidList"/>
    <dgm:cxn modelId="{9BCE10E3-0D8D-4C25-83C2-98AF3F283709}" type="presParOf" srcId="{A6F68C39-919C-42EA-9C59-0F12F19415B3}" destId="{54B51567-1FA5-4042-A89F-468767BEEC3D}" srcOrd="3" destOrd="0" presId="urn:microsoft.com/office/officeart/2018/2/layout/IconVerticalSolidList"/>
    <dgm:cxn modelId="{8F0B08E6-5C0E-448C-AE2A-BD00C7C17065}" type="presParOf" srcId="{B2C738B4-85AE-4A3A-9C4D-976898523DD0}" destId="{6FF55CE7-CD0C-4AB1-A920-4D612A7E257E}" srcOrd="1" destOrd="0" presId="urn:microsoft.com/office/officeart/2018/2/layout/IconVerticalSolidList"/>
    <dgm:cxn modelId="{04BD6BEF-6ACD-4A8C-A999-75F943C10901}" type="presParOf" srcId="{B2C738B4-85AE-4A3A-9C4D-976898523DD0}" destId="{8ECDE3AE-0D43-429F-B5A9-0D2B46F69EED}" srcOrd="2" destOrd="0" presId="urn:microsoft.com/office/officeart/2018/2/layout/IconVerticalSolidList"/>
    <dgm:cxn modelId="{07814BBC-6CF5-476A-93A4-9B19A151C7DB}" type="presParOf" srcId="{8ECDE3AE-0D43-429F-B5A9-0D2B46F69EED}" destId="{C481A281-C7A9-47DC-863A-7CCEAB20D2AD}" srcOrd="0" destOrd="0" presId="urn:microsoft.com/office/officeart/2018/2/layout/IconVerticalSolidList"/>
    <dgm:cxn modelId="{A3A0E116-A277-4494-B7C2-87F481333025}" type="presParOf" srcId="{8ECDE3AE-0D43-429F-B5A9-0D2B46F69EED}" destId="{0CEDA002-C242-4B98-B78D-942ECB69978B}" srcOrd="1" destOrd="0" presId="urn:microsoft.com/office/officeart/2018/2/layout/IconVerticalSolidList"/>
    <dgm:cxn modelId="{F010A555-0408-4C3C-A4D7-063CE4F7ED5E}" type="presParOf" srcId="{8ECDE3AE-0D43-429F-B5A9-0D2B46F69EED}" destId="{D499D962-C35D-49CB-B03E-9C0D22E638B1}" srcOrd="2" destOrd="0" presId="urn:microsoft.com/office/officeart/2018/2/layout/IconVerticalSolidList"/>
    <dgm:cxn modelId="{44390D56-50EB-4133-9A2E-83BE37791F1A}" type="presParOf" srcId="{8ECDE3AE-0D43-429F-B5A9-0D2B46F69EED}" destId="{BCF7DA16-6248-4695-A531-9429F7E919E4}" srcOrd="3" destOrd="0" presId="urn:microsoft.com/office/officeart/2018/2/layout/IconVerticalSolidList"/>
    <dgm:cxn modelId="{FCA68704-EBF3-43C3-8AAA-3CD801781CBB}" type="presParOf" srcId="{B2C738B4-85AE-4A3A-9C4D-976898523DD0}" destId="{3C7823CF-BEBD-486A-BBDE-1C392D6E04AC}" srcOrd="3" destOrd="0" presId="urn:microsoft.com/office/officeart/2018/2/layout/IconVerticalSolidList"/>
    <dgm:cxn modelId="{41B241BF-64E1-4464-BD7C-AA8DFC97EC40}" type="presParOf" srcId="{B2C738B4-85AE-4A3A-9C4D-976898523DD0}" destId="{03042CAD-E535-42D9-8827-0030368FCB9E}" srcOrd="4" destOrd="0" presId="urn:microsoft.com/office/officeart/2018/2/layout/IconVerticalSolidList"/>
    <dgm:cxn modelId="{C642B176-A6AE-472E-9F46-C5DB21DA10F1}" type="presParOf" srcId="{03042CAD-E535-42D9-8827-0030368FCB9E}" destId="{CD3A7285-8901-49CA-842F-61430CCB0F08}" srcOrd="0" destOrd="0" presId="urn:microsoft.com/office/officeart/2018/2/layout/IconVerticalSolidList"/>
    <dgm:cxn modelId="{16D42D47-5713-4154-AA6C-FDEEF50DA9D6}" type="presParOf" srcId="{03042CAD-E535-42D9-8827-0030368FCB9E}" destId="{A5433ED0-BFB8-40C8-97DF-42F9A31DFBDF}" srcOrd="1" destOrd="0" presId="urn:microsoft.com/office/officeart/2018/2/layout/IconVerticalSolidList"/>
    <dgm:cxn modelId="{C276C418-3232-4951-B742-0C19A504D5BE}" type="presParOf" srcId="{03042CAD-E535-42D9-8827-0030368FCB9E}" destId="{9986A817-2D9F-47F0-8282-B9561DE98F34}" srcOrd="2" destOrd="0" presId="urn:microsoft.com/office/officeart/2018/2/layout/IconVerticalSolidList"/>
    <dgm:cxn modelId="{B66229B5-6338-4FD0-9B3D-621836BCFA23}" type="presParOf" srcId="{03042CAD-E535-42D9-8827-0030368FCB9E}" destId="{C0331ABB-EB8D-4DD5-8048-125445330620}" srcOrd="3" destOrd="0" presId="urn:microsoft.com/office/officeart/2018/2/layout/IconVerticalSolidList"/>
    <dgm:cxn modelId="{855BCCA3-3AF2-4938-B0C0-DAB936D0F118}" type="presParOf" srcId="{B2C738B4-85AE-4A3A-9C4D-976898523DD0}" destId="{F76FDC3F-98F2-4AE6-9B2F-D833AAB45F79}" srcOrd="5" destOrd="0" presId="urn:microsoft.com/office/officeart/2018/2/layout/IconVerticalSolidList"/>
    <dgm:cxn modelId="{3DC821DA-1EB6-4F8C-BF46-7C1C15370720}" type="presParOf" srcId="{B2C738B4-85AE-4A3A-9C4D-976898523DD0}" destId="{99F7B8D4-CE0C-4F37-A117-74D69222EE22}" srcOrd="6" destOrd="0" presId="urn:microsoft.com/office/officeart/2018/2/layout/IconVerticalSolidList"/>
    <dgm:cxn modelId="{69F4A673-72DE-4B4F-82BC-A1FDC036164A}" type="presParOf" srcId="{99F7B8D4-CE0C-4F37-A117-74D69222EE22}" destId="{B27F105E-1B75-4E2E-AB0F-EEB05234D7FC}" srcOrd="0" destOrd="0" presId="urn:microsoft.com/office/officeart/2018/2/layout/IconVerticalSolidList"/>
    <dgm:cxn modelId="{511AAAB8-2460-4D8E-954D-1D2D6383618F}" type="presParOf" srcId="{99F7B8D4-CE0C-4F37-A117-74D69222EE22}" destId="{3924D001-9D3F-4BAB-A5E0-457FDD3324A9}" srcOrd="1" destOrd="0" presId="urn:microsoft.com/office/officeart/2018/2/layout/IconVerticalSolidList"/>
    <dgm:cxn modelId="{B825FB36-2083-487D-BE9F-FB8E44130C8B}" type="presParOf" srcId="{99F7B8D4-CE0C-4F37-A117-74D69222EE22}" destId="{077A96D1-1C35-485E-93FD-21227945A70A}" srcOrd="2" destOrd="0" presId="urn:microsoft.com/office/officeart/2018/2/layout/IconVerticalSolidList"/>
    <dgm:cxn modelId="{2509A40A-8831-48D1-83FD-60497308E41B}" type="presParOf" srcId="{99F7B8D4-CE0C-4F37-A117-74D69222EE22}" destId="{F43D833E-FD95-4472-A78B-77B31995064B}" srcOrd="3" destOrd="0" presId="urn:microsoft.com/office/officeart/2018/2/layout/IconVerticalSolidList"/>
    <dgm:cxn modelId="{721569FE-C211-4177-91AD-CF09BEDA8C9A}" type="presParOf" srcId="{B2C738B4-85AE-4A3A-9C4D-976898523DD0}" destId="{E5778118-BDCE-4028-84FC-95BA538F8071}" srcOrd="7" destOrd="0" presId="urn:microsoft.com/office/officeart/2018/2/layout/IconVerticalSolidList"/>
    <dgm:cxn modelId="{CDB763C0-2B9B-456F-84A7-2056D2514783}" type="presParOf" srcId="{B2C738B4-85AE-4A3A-9C4D-976898523DD0}" destId="{4FD35E8D-4500-422C-BF4D-4BD40C35692B}" srcOrd="8" destOrd="0" presId="urn:microsoft.com/office/officeart/2018/2/layout/IconVerticalSolidList"/>
    <dgm:cxn modelId="{2567C472-23DF-4E49-900B-6968A64A6515}" type="presParOf" srcId="{4FD35E8D-4500-422C-BF4D-4BD40C35692B}" destId="{CD3D9AE9-14FC-410D-A181-9BC55A2A77FA}" srcOrd="0" destOrd="0" presId="urn:microsoft.com/office/officeart/2018/2/layout/IconVerticalSolidList"/>
    <dgm:cxn modelId="{858C760B-389B-4A8A-BF41-8E416B849D14}" type="presParOf" srcId="{4FD35E8D-4500-422C-BF4D-4BD40C35692B}" destId="{9D193563-43FA-48E0-BFE9-B153384E142C}" srcOrd="1" destOrd="0" presId="urn:microsoft.com/office/officeart/2018/2/layout/IconVerticalSolidList"/>
    <dgm:cxn modelId="{6A23176E-6481-49A2-9B25-5B791147423E}" type="presParOf" srcId="{4FD35E8D-4500-422C-BF4D-4BD40C35692B}" destId="{1A0DE79E-9120-42B7-9EA3-83FCAE725844}" srcOrd="2" destOrd="0" presId="urn:microsoft.com/office/officeart/2018/2/layout/IconVerticalSolidList"/>
    <dgm:cxn modelId="{EF2AF76E-0279-4788-B9B5-4A6D370992BB}" type="presParOf" srcId="{4FD35E8D-4500-422C-BF4D-4BD40C35692B}" destId="{98014F9E-26B0-488E-BE2B-9EAC0FEA19A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0F1095BD-91AD-4B5B-ACA8-E971907DDB69}">
      <dsp:nvSpPr>
        <dsp:cNvPr id="0" name=""/>
        <dsp:cNvSpPr/>
      </dsp:nvSpPr>
      <dsp:spPr>
        <a:xfrm>
          <a:off x="0" y="4296"/>
          <a:ext cx="6171948" cy="9150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</dsp:sp>
    <dsp:sp modelId="{3210C736-1189-4F66-B81F-C5F2814EFAA6}">
      <dsp:nvSpPr>
        <dsp:cNvPr id="0" name=""/>
        <dsp:cNvSpPr/>
      </dsp:nvSpPr>
      <dsp:spPr>
        <a:xfrm>
          <a:off x="276813" y="210190"/>
          <a:ext cx="503296" cy="503296"/>
        </a:xfrm>
        <a:prstGeom prst="rect">
          <a:avLst/>
        </a:prstGeom>
        <a:blipFill>
          <a:blip xmlns:r="http://purl.oclc.org/ooxml/officeDocument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54B51567-1FA5-4042-A89F-468767BEEC3D}">
      <dsp:nvSpPr>
        <dsp:cNvPr id="0" name=""/>
        <dsp:cNvSpPr/>
      </dsp:nvSpPr>
      <dsp:spPr>
        <a:xfrm>
          <a:off x="1056922" y="4296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%" g="0%" b="0%"/>
        </a:lnRef>
        <a:fillRef idx="0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6667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1500" kern="1200"/>
            <a:t>It goes beyond merely being aesthetically pleasing to write code that is simple to read, alter, and maintain. Clean code is important for the following reasons:</a:t>
          </a:r>
        </a:p>
      </dsp:txBody>
      <dsp:txXfrm>
        <a:off x="1056922" y="4296"/>
        <a:ext cx="5115025" cy="915084"/>
      </dsp:txXfrm>
    </dsp:sp>
    <dsp:sp modelId="{C481A281-C7A9-47DC-863A-7CCEAB20D2AD}">
      <dsp:nvSpPr>
        <dsp:cNvPr id="0" name=""/>
        <dsp:cNvSpPr/>
      </dsp:nvSpPr>
      <dsp:spPr>
        <a:xfrm>
          <a:off x="0" y="1148151"/>
          <a:ext cx="6171948" cy="91508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</dsp:sp>
    <dsp:sp modelId="{0CEDA002-C242-4B98-B78D-942ECB69978B}">
      <dsp:nvSpPr>
        <dsp:cNvPr id="0" name=""/>
        <dsp:cNvSpPr/>
      </dsp:nvSpPr>
      <dsp:spPr>
        <a:xfrm>
          <a:off x="276813" y="1354045"/>
          <a:ext cx="503296" cy="503296"/>
        </a:xfrm>
        <a:prstGeom prst="rect">
          <a:avLst/>
        </a:prstGeom>
        <a:blipFill>
          <a:blip xmlns:r="http://purl.oclc.org/ooxml/officeDocument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BCF7DA16-6248-4695-A531-9429F7E919E4}">
      <dsp:nvSpPr>
        <dsp:cNvPr id="0" name=""/>
        <dsp:cNvSpPr/>
      </dsp:nvSpPr>
      <dsp:spPr>
        <a:xfrm>
          <a:off x="1056922" y="1148151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%" g="0%" b="0%"/>
        </a:lnRef>
        <a:fillRef idx="0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6667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1500" b="1" kern="1200"/>
            <a:t>1. Readability:</a:t>
          </a:r>
          <a:r>
            <a:rPr lang="en-US" sz="1500" kern="1200"/>
            <a:t> Clean code is easy to read and understand. Anyone looking at your code should be able to comprehend its purpose and functionality without struggling.</a:t>
          </a:r>
        </a:p>
      </dsp:txBody>
      <dsp:txXfrm>
        <a:off x="1056922" y="1148151"/>
        <a:ext cx="5115025" cy="915084"/>
      </dsp:txXfrm>
    </dsp:sp>
    <dsp:sp modelId="{CD3A7285-8901-49CA-842F-61430CCB0F08}">
      <dsp:nvSpPr>
        <dsp:cNvPr id="0" name=""/>
        <dsp:cNvSpPr/>
      </dsp:nvSpPr>
      <dsp:spPr>
        <a:xfrm>
          <a:off x="0" y="2292007"/>
          <a:ext cx="6171948" cy="91508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</dsp:sp>
    <dsp:sp modelId="{A5433ED0-BFB8-40C8-97DF-42F9A31DFBDF}">
      <dsp:nvSpPr>
        <dsp:cNvPr id="0" name=""/>
        <dsp:cNvSpPr/>
      </dsp:nvSpPr>
      <dsp:spPr>
        <a:xfrm>
          <a:off x="276813" y="2497901"/>
          <a:ext cx="503296" cy="503296"/>
        </a:xfrm>
        <a:prstGeom prst="rect">
          <a:avLst/>
        </a:prstGeom>
        <a:blipFill>
          <a:blip xmlns:r="http://purl.oclc.org/ooxml/officeDocument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C0331ABB-EB8D-4DD5-8048-125445330620}">
      <dsp:nvSpPr>
        <dsp:cNvPr id="0" name=""/>
        <dsp:cNvSpPr/>
      </dsp:nvSpPr>
      <dsp:spPr>
        <a:xfrm>
          <a:off x="1056922" y="2292007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%" g="0%" b="0%"/>
        </a:lnRef>
        <a:fillRef idx="0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6667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1500" b="1" kern="1200"/>
            <a:t>2. Maintainability:</a:t>
          </a:r>
          <a:r>
            <a:rPr lang="en-US" sz="1500" kern="1200"/>
            <a:t> Clean code is easier to maintain. When you need to make changes or fix bugs, clean code minimizes the chances of introducing new issues.</a:t>
          </a:r>
        </a:p>
      </dsp:txBody>
      <dsp:txXfrm>
        <a:off x="1056922" y="2292007"/>
        <a:ext cx="5115025" cy="915084"/>
      </dsp:txXfrm>
    </dsp:sp>
    <dsp:sp modelId="{B27F105E-1B75-4E2E-AB0F-EEB05234D7FC}">
      <dsp:nvSpPr>
        <dsp:cNvPr id="0" name=""/>
        <dsp:cNvSpPr/>
      </dsp:nvSpPr>
      <dsp:spPr>
        <a:xfrm>
          <a:off x="0" y="3435863"/>
          <a:ext cx="6171948" cy="9150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</dsp:sp>
    <dsp:sp modelId="{3924D001-9D3F-4BAB-A5E0-457FDD3324A9}">
      <dsp:nvSpPr>
        <dsp:cNvPr id="0" name=""/>
        <dsp:cNvSpPr/>
      </dsp:nvSpPr>
      <dsp:spPr>
        <a:xfrm>
          <a:off x="276813" y="3641757"/>
          <a:ext cx="503296" cy="503296"/>
        </a:xfrm>
        <a:prstGeom prst="rect">
          <a:avLst/>
        </a:prstGeom>
        <a:blipFill>
          <a:blip xmlns:r="http://purl.oclc.org/ooxml/officeDocument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F43D833E-FD95-4472-A78B-77B31995064B}">
      <dsp:nvSpPr>
        <dsp:cNvPr id="0" name=""/>
        <dsp:cNvSpPr/>
      </dsp:nvSpPr>
      <dsp:spPr>
        <a:xfrm>
          <a:off x="1056922" y="3435863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%" g="0%" b="0%"/>
        </a:lnRef>
        <a:fillRef idx="0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6667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1500" b="1" kern="1200"/>
            <a:t>3. Collaboration:</a:t>
          </a:r>
          <a:r>
            <a:rPr lang="en-US" sz="1500" kern="1200"/>
            <a:t> Clean code promotes collaboration within development teams. It allows team members to work on the same codebase more effectively.</a:t>
          </a:r>
        </a:p>
      </dsp:txBody>
      <dsp:txXfrm>
        <a:off x="1056922" y="3435863"/>
        <a:ext cx="5115025" cy="915084"/>
      </dsp:txXfrm>
    </dsp:sp>
    <dsp:sp modelId="{CD3D9AE9-14FC-410D-A181-9BC55A2A77FA}">
      <dsp:nvSpPr>
        <dsp:cNvPr id="0" name=""/>
        <dsp:cNvSpPr/>
      </dsp:nvSpPr>
      <dsp:spPr>
        <a:xfrm>
          <a:off x="0" y="4579719"/>
          <a:ext cx="6171948" cy="91508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</dsp:sp>
    <dsp:sp modelId="{9D193563-43FA-48E0-BFE9-B153384E142C}">
      <dsp:nvSpPr>
        <dsp:cNvPr id="0" name=""/>
        <dsp:cNvSpPr/>
      </dsp:nvSpPr>
      <dsp:spPr>
        <a:xfrm>
          <a:off x="276813" y="4785613"/>
          <a:ext cx="503296" cy="503296"/>
        </a:xfrm>
        <a:prstGeom prst="rect">
          <a:avLst/>
        </a:prstGeom>
        <a:blipFill>
          <a:blip xmlns:r="http://purl.oclc.org/ooxml/officeDocument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%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98014F9E-26B0-488E-BE2B-9EAC0FEA19A1}">
      <dsp:nvSpPr>
        <dsp:cNvPr id="0" name=""/>
        <dsp:cNvSpPr/>
      </dsp:nvSpPr>
      <dsp:spPr>
        <a:xfrm>
          <a:off x="1056922" y="4579719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%" g="0%" b="0%"/>
        </a:lnRef>
        <a:fillRef idx="0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6667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1500" b="1" kern="1200"/>
            <a:t>4. Efficiency:</a:t>
          </a:r>
          <a:r>
            <a:rPr lang="en-US" sz="1500" kern="1200"/>
            <a:t> Clean code can lead to more efficient software. It reduces the chances of performance bottlenecks and unintended consequences.</a:t>
          </a:r>
        </a:p>
      </dsp:txBody>
      <dsp:txXfrm>
        <a:off x="1056922" y="4579719"/>
        <a:ext cx="5115025" cy="915084"/>
      </dsp:txXfrm>
    </dsp:sp>
  </dsp:spTree>
</dsp:drawing>
</file>

<file path=ppt/diagrams/layout1.xml><?xml version="1.0" encoding="utf-8"?>
<dgm:layoutDef xmlns:dgm="http://purl.oclc.org/ooxml/drawingml/diagram" xmlns:a="http://purl.oclc.org/ooxml/drawingml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purl.oclc.org/ooxml/officeDocument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purl.oclc.org/ooxml/officeDocument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purl.oclc.org/ooxml/officeDocument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purl.oclc.org/ooxml/officeDocument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purl.oclc.org/ooxml/officeDocument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purl.oclc.org/ooxml/officeDocument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purl.oclc.org/ooxml/officeDocument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purl.oclc.org/ooxml/officeDocument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%"/>
          </a:lnSpc>
        </a:lvl1pPr>
        <a:lvl2pPr>
          <a:lnSpc>
            <a:spcPct val="100%"/>
          </a:lnSpc>
        </a:lvl2pPr>
      </dgm1612:lstStyle>
    </a:ext>
  </dgm:extLst>
</dgm:layoutDef>
</file>

<file path=ppt/diagrams/quickStyle1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3DEC2-250A-4E12-8D1A-AB2F606F959F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90863-2985-49C8-B95A-4F18139FC83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5071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purl.oclc.org/ooxml/officeDocument/relationships/slide" Target="../slides/slide2.xml"/><Relationship Id="rId1" Type="http://purl.oclc.org/ooxml/officeDocument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purl.oclc.org/ooxml/officeDocument/relationships/slide" Target="../slides/slide30.xml"/><Relationship Id="rId1" Type="http://purl.oclc.org/ooxml/officeDocument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purl.oclc.org/ooxml/officeDocument/relationships/slide" Target="../slides/slide34.xml"/><Relationship Id="rId1" Type="http://purl.oclc.org/ooxml/officeDocument/relationships/notesMaster" Target="../notesMasters/notesMaster1.xml"/></Relationships>
</file>

<file path=ppt/notesSlides/notesSlide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https://www.bytehide.com/blog/important-tips-to-writing-clean-csharp-code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90863-2985-49C8-B95A-4F18139FC837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9209767"/>
      </p:ext>
    </p:extLst>
  </p:cSld>
  <p:clrMapOvr>
    <a:masterClrMapping/>
  </p:clrMapOvr>
</p:notes>
</file>

<file path=ppt/notesSlides/notesSlide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https://engx.space/global/en/blog/c-sharp-clean-code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90863-2985-49C8-B95A-4F18139FC837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5768378"/>
      </p:ext>
    </p:extLst>
  </p:cSld>
  <p:clrMapOvr>
    <a:masterClrMapping/>
  </p:clrMapOvr>
</p:notes>
</file>

<file path=ppt/notesSlides/notesSlide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https://learn.microsoft.com/en-us/archive/msdn-magazine/2014/may/csharp-best-practices-dangers-of-violating-solid-principles-in-csharp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90863-2985-49C8-B95A-4F18139FC837}" type="slidenum">
              <a:rPr lang="es-ES" smtClean="0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0537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80605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6921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%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%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%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751556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76604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81785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47930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08704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78897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67189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17625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99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%"/>
        </a:lnSpc>
        <a:spcBef>
          <a:spcPct val="0%"/>
        </a:spcBef>
        <a:buNone/>
        <a:defRPr sz="4000" kern="1200" cap="all" spc="30" baseline="0%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%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%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%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%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purl.oclc.org/ooxml/officeDocument/relationships/image" Target="../media/image1.jpeg"/><Relationship Id="rId1" Type="http://purl.oclc.org/ooxml/officeDocument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.xml"/><Relationship Id="rId1" Type="http://purl.oclc.org/ooxml/officeDocument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purl.oclc.org/ooxml/officeDocument/relationships/diagramLayout" Target="../diagrams/layout1.xml"/><Relationship Id="rId2" Type="http://purl.oclc.org/ooxml/officeDocument/relationships/diagramData" Target="../diagrams/data1.xml"/><Relationship Id="rId1" Type="http://purl.oclc.org/ooxml/officeDocument/relationships/slideLayout" Target="../slideLayouts/slideLayout2.xml"/><Relationship Id="rId6" Type="http://schemas.microsoft.com/office/2007/relationships/diagramDrawing" Target="../diagrams/drawing1.xml"/><Relationship Id="rId5" Type="http://purl.oclc.org/ooxml/officeDocument/relationships/diagramColors" Target="../diagrams/colors1.xml"/><Relationship Id="rId4" Type="http://purl.oclc.org/ooxml/officeDocument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purl.oclc.org/ooxml/officeDocument/relationships/image" Target="../media/image12.jpeg"/><Relationship Id="rId1" Type="http://purl.oclc.org/ooxml/officeDocument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.xml"/><Relationship Id="rId1" Type="http://purl.oclc.org/ooxml/officeDocument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purl.oclc.org/ooxml/officeDocument/relationships/image" Target="../media/image13.png"/><Relationship Id="rId2" Type="http://purl.oclc.org/ooxml/officeDocument/relationships/notesSlide" Target="../notesSlides/notesSlide3.xml"/><Relationship Id="rId1" Type="http://purl.oclc.org/ooxml/officeDocument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2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08AD61-7865-BDFB-9A5E-64B2A94E3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937004" cy="4058682"/>
          </a:xfrm>
        </p:spPr>
        <p:txBody>
          <a:bodyPr anchor="t">
            <a:normAutofit/>
          </a:bodyPr>
          <a:lstStyle/>
          <a:p>
            <a:r>
              <a:rPr lang="es-ES" sz="6500"/>
              <a:t>CLEAN CODE .NET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27AA33-D978-6DD0-235B-0A7B6E5C2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5103862"/>
            <a:ext cx="4172757" cy="845487"/>
          </a:xfrm>
        </p:spPr>
        <p:txBody>
          <a:bodyPr anchor="b">
            <a:normAutofit/>
          </a:bodyPr>
          <a:lstStyle/>
          <a:p>
            <a:endParaRPr lang="es-ES"/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3" descr="Representación del código informático.">
            <a:extLst>
              <a:ext uri="{FF2B5EF4-FFF2-40B4-BE49-F238E27FC236}">
                <a16:creationId xmlns:a16="http://schemas.microsoft.com/office/drawing/2014/main" id="{A488E0E4-C00F-3369-2AF8-A443155FD4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.095%" r="20.008%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%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C61E67-27A1-3E42-869D-83B8967C6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1705460"/>
            <a:ext cx="4265763" cy="1593185"/>
          </a:xfrm>
        </p:spPr>
        <p:txBody>
          <a:bodyPr anchor="t">
            <a:normAutofit/>
          </a:bodyPr>
          <a:lstStyle/>
          <a:p>
            <a:r>
              <a:rPr lang="es-ES" sz="4200"/>
              <a:t>CLEAN CODE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A1CD3A-A81C-A8AA-17C6-19516A83D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1796458"/>
            <a:ext cx="5483190" cy="4457453"/>
          </a:xfrm>
        </p:spPr>
        <p:txBody>
          <a:bodyPr>
            <a:normAutofit/>
          </a:bodyPr>
          <a:lstStyle/>
          <a:p>
            <a:r>
              <a:rPr lang="en-US" dirty="0"/>
              <a:t>Writing code that’s easy to read, understand, and maintain is every developer’s goal. Clean code practices and SOLID principles in C# can help you achieve that goal. Let’s dive into what clean code and SOLID principles are, and how you can implement them in your C# projects.</a:t>
            </a:r>
            <a:endParaRPr lang="es-ES" dirty="0"/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F6DB4BEA-22D1-9BE0-1F06-BAFE567B5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435170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409349"/>
      </p:ext>
    </p:extLst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A44FB1-85E3-5960-84AD-298098C10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s-ES"/>
              <a:t>Why Clean Code Matters</a:t>
            </a:r>
            <a:br>
              <a:rPr lang="es-ES"/>
            </a:br>
            <a:endParaRPr lang="es-ES" dirty="0"/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Marcador de contenido 2">
            <a:extLst>
              <a:ext uri="{FF2B5EF4-FFF2-40B4-BE49-F238E27FC236}">
                <a16:creationId xmlns:a16="http://schemas.microsoft.com/office/drawing/2014/main" id="{425560F0-E115-4B7C-876B-3857F9813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253474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1261307"/>
      </p:ext>
    </p:extLst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%"/>
          </a:ln>
          <a:effectLst/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%"/>
          </a:ln>
          <a:effectLst/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Episodio #58 - Legacy code | Programar es una mierda">
            <a:extLst>
              <a:ext uri="{FF2B5EF4-FFF2-40B4-BE49-F238E27FC236}">
                <a16:creationId xmlns:a16="http://schemas.microsoft.com/office/drawing/2014/main" id="{EA5FB6A4-666F-20C0-96F7-310BA77370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.141%" b="17.609%"/>
          <a:stretch>
            <a:fillRect/>
          </a:stretch>
        </p:blipFill>
        <p:spPr bwMode="auto">
          <a:xfrm>
            <a:off x="20" y="10"/>
            <a:ext cx="12191979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63117"/>
      </p:ext>
    </p:extLst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C81754-AA14-9643-AE29-876813C3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109493"/>
            <a:ext cx="4265763" cy="1441776"/>
          </a:xfrm>
        </p:spPr>
        <p:txBody>
          <a:bodyPr anchor="t">
            <a:normAutofit/>
          </a:bodyPr>
          <a:lstStyle/>
          <a:p>
            <a:pPr fontAlgn="base">
              <a:lnSpc>
                <a:spcPct val="90%"/>
              </a:lnSpc>
            </a:pPr>
            <a:r>
              <a:rPr lang="en-US" sz="3100"/>
              <a:t>Use variable names that are easy to remember</a:t>
            </a:r>
            <a:endParaRPr lang="es-ES" sz="31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CD973A-7665-955A-CD57-3B17419E9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2200490"/>
            <a:ext cx="5269831" cy="3445399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s-ES" b="1" dirty="0" err="1"/>
              <a:t>Bad</a:t>
            </a:r>
            <a:r>
              <a:rPr lang="es-ES" b="1" dirty="0"/>
              <a:t> </a:t>
            </a:r>
            <a:r>
              <a:rPr lang="es-ES" b="1" dirty="0" err="1"/>
              <a:t>way</a:t>
            </a:r>
            <a:r>
              <a:rPr lang="es-ES" b="1" dirty="0"/>
              <a:t>:</a:t>
            </a:r>
            <a:endParaRPr lang="es-ES" dirty="0"/>
          </a:p>
          <a:p>
            <a:pPr marL="0" indent="0" fontAlgn="base">
              <a:buNone/>
            </a:pPr>
            <a:r>
              <a:rPr lang="es-ES" dirty="0" err="1"/>
              <a:t>var</a:t>
            </a:r>
            <a:r>
              <a:rPr lang="es-ES" dirty="0"/>
              <a:t> </a:t>
            </a:r>
            <a:r>
              <a:rPr lang="es-ES" dirty="0" err="1"/>
              <a:t>yyyymmdstr</a:t>
            </a:r>
            <a:r>
              <a:rPr lang="es-ES" dirty="0"/>
              <a:t> = </a:t>
            </a:r>
            <a:r>
              <a:rPr lang="es-ES" dirty="0" err="1"/>
              <a:t>DateTime.Now.ToString</a:t>
            </a:r>
            <a:r>
              <a:rPr lang="es-ES" dirty="0"/>
              <a:t>("YYYY/MM/DD");</a:t>
            </a:r>
          </a:p>
          <a:p>
            <a:pPr marL="0" indent="0" fontAlgn="base">
              <a:buNone/>
            </a:pPr>
            <a:r>
              <a:rPr lang="es-ES" b="1" dirty="0"/>
              <a:t>Good </a:t>
            </a:r>
            <a:r>
              <a:rPr lang="es-ES" b="1" dirty="0" err="1"/>
              <a:t>way</a:t>
            </a:r>
            <a:r>
              <a:rPr lang="es-ES" b="1" dirty="0"/>
              <a:t>:</a:t>
            </a:r>
            <a:endParaRPr lang="es-ES" dirty="0"/>
          </a:p>
          <a:p>
            <a:pPr marL="0" indent="0" fontAlgn="base">
              <a:buNone/>
            </a:pPr>
            <a:r>
              <a:rPr lang="es-ES" dirty="0" err="1"/>
              <a:t>var</a:t>
            </a:r>
            <a:r>
              <a:rPr lang="es-ES" dirty="0"/>
              <a:t> </a:t>
            </a:r>
            <a:r>
              <a:rPr lang="es-ES" dirty="0" err="1"/>
              <a:t>currentDate</a:t>
            </a:r>
            <a:r>
              <a:rPr lang="es-ES" dirty="0"/>
              <a:t> = </a:t>
            </a:r>
            <a:r>
              <a:rPr lang="es-ES" dirty="0" err="1"/>
              <a:t>DateTime.Now.ToString</a:t>
            </a:r>
            <a:r>
              <a:rPr lang="es-ES" dirty="0"/>
              <a:t>("YYYY/MM/DD");</a:t>
            </a:r>
          </a:p>
          <a:p>
            <a:endParaRPr lang="es-E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866849"/>
      </p:ext>
    </p:extLst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92C2F8-18FC-9912-B3B6-2FC1320B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109493"/>
            <a:ext cx="4265763" cy="1441776"/>
          </a:xfrm>
        </p:spPr>
        <p:txBody>
          <a:bodyPr anchor="t">
            <a:normAutofit/>
          </a:bodyPr>
          <a:lstStyle/>
          <a:p>
            <a:pPr fontAlgn="base">
              <a:lnSpc>
                <a:spcPct val="90%"/>
              </a:lnSpc>
            </a:pPr>
            <a:r>
              <a:rPr lang="en-US" sz="2200"/>
              <a:t>Use variable names with the same structure</a:t>
            </a:r>
            <a:br>
              <a:rPr lang="en-US" sz="2200"/>
            </a:br>
            <a:br>
              <a:rPr lang="en-US" sz="2200"/>
            </a:br>
            <a:endParaRPr lang="es-ES" sz="22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44DEEC-D287-8802-0266-16A78518D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2200490"/>
            <a:ext cx="5269831" cy="3445399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Bad way: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getUserInfo</a:t>
            </a:r>
            <a:r>
              <a:rPr lang="en-US" dirty="0"/>
              <a:t>();</a:t>
            </a:r>
          </a:p>
          <a:p>
            <a:pPr marL="0" indent="0" fontAlgn="base">
              <a:buNone/>
            </a:pPr>
            <a:r>
              <a:rPr lang="en-US" dirty="0" err="1"/>
              <a:t>getClientData</a:t>
            </a:r>
            <a:r>
              <a:rPr lang="en-US" dirty="0"/>
              <a:t>();</a:t>
            </a:r>
          </a:p>
          <a:p>
            <a:pPr marL="0" indent="0" fontAlgn="base">
              <a:buNone/>
            </a:pPr>
            <a:r>
              <a:rPr lang="en-US" dirty="0" err="1"/>
              <a:t>getCustomerRecord</a:t>
            </a:r>
            <a:r>
              <a:rPr lang="en-US" dirty="0"/>
              <a:t>();</a:t>
            </a:r>
          </a:p>
          <a:p>
            <a:pPr marL="0" indent="0" fontAlgn="base">
              <a:buNone/>
            </a:pPr>
            <a:r>
              <a:rPr lang="en-US" b="1" dirty="0"/>
              <a:t>Good way: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getUser</a:t>
            </a:r>
            <a:r>
              <a:rPr lang="en-US" dirty="0"/>
              <a:t>();</a:t>
            </a:r>
          </a:p>
          <a:p>
            <a:endParaRPr lang="es-E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621069"/>
      </p:ext>
    </p:extLst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C562F6-93EB-32DD-D655-8C5B8328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109493"/>
            <a:ext cx="4265763" cy="1441776"/>
          </a:xfrm>
        </p:spPr>
        <p:txBody>
          <a:bodyPr anchor="t">
            <a:normAutofit/>
          </a:bodyPr>
          <a:lstStyle/>
          <a:p>
            <a:pPr fontAlgn="base">
              <a:lnSpc>
                <a:spcPct val="90%"/>
              </a:lnSpc>
            </a:pPr>
            <a:r>
              <a:rPr lang="es-ES" sz="2800"/>
              <a:t>Use </a:t>
            </a:r>
            <a:r>
              <a:rPr lang="es-ES" sz="2800" err="1"/>
              <a:t>searchable</a:t>
            </a:r>
            <a:r>
              <a:rPr lang="es-ES" sz="2800"/>
              <a:t> </a:t>
            </a:r>
            <a:r>
              <a:rPr lang="es-ES" sz="2800" err="1"/>
              <a:t>names</a:t>
            </a:r>
            <a:br>
              <a:rPr lang="es-ES" sz="2800"/>
            </a:br>
            <a:br>
              <a:rPr lang="es-ES" sz="2800"/>
            </a:br>
            <a:endParaRPr lang="es-ES" sz="2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CAAFA2-9071-B4E9-8B83-8DE20A8B9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2200490"/>
            <a:ext cx="5269831" cy="3445399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00%"/>
              </a:lnSpc>
              <a:buNone/>
            </a:pPr>
            <a:r>
              <a:rPr lang="en-US" sz="1600" b="1" dirty="0"/>
              <a:t>Bad way:</a:t>
            </a:r>
            <a:endParaRPr lang="en-US" sz="16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600" dirty="0"/>
              <a:t>// In the future we will not remember what 86400000 means.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600" dirty="0" err="1"/>
              <a:t>clearBacklog</a:t>
            </a:r>
            <a:r>
              <a:rPr lang="en-US" sz="1600" dirty="0"/>
              <a:t>(backlog, 86400000);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600" b="1" dirty="0"/>
              <a:t>Good way:</a:t>
            </a:r>
            <a:endParaRPr lang="en-US" sz="16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600" dirty="0"/>
              <a:t>// Declare constants with a searchable name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600" dirty="0"/>
              <a:t>var MILLISECONDS_PER_DAY = 60 * 60 * 24 * 1000; //86400000;</a:t>
            </a:r>
          </a:p>
          <a:p>
            <a:pPr marL="0" indent="0" fontAlgn="base">
              <a:lnSpc>
                <a:spcPct val="100%"/>
              </a:lnSpc>
              <a:buNone/>
            </a:pPr>
            <a:endParaRPr lang="en-US" sz="16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600" dirty="0" err="1"/>
              <a:t>clearBacklog</a:t>
            </a:r>
            <a:r>
              <a:rPr lang="en-US" sz="1600" dirty="0"/>
              <a:t>(backlog, MILLISECONDS_PER_DAY);</a:t>
            </a:r>
          </a:p>
          <a:p>
            <a:pPr>
              <a:lnSpc>
                <a:spcPct val="100%"/>
              </a:lnSpc>
            </a:pPr>
            <a:endParaRPr lang="es-ES" sz="1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274664"/>
      </p:ext>
    </p:extLst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E4391533-A0C6-004C-0FFD-378D5D3D7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3678485" cy="3543764"/>
          </a:xfrm>
        </p:spPr>
        <p:txBody>
          <a:bodyPr>
            <a:normAutofit/>
          </a:bodyPr>
          <a:lstStyle/>
          <a:p>
            <a:pPr fontAlgn="base"/>
            <a:r>
              <a:rPr lang="es-ES" sz="3400" err="1"/>
              <a:t>Don’t</a:t>
            </a:r>
            <a:r>
              <a:rPr lang="es-ES" sz="3400"/>
              <a:t> </a:t>
            </a:r>
            <a:r>
              <a:rPr lang="es-ES" sz="3400" err="1"/>
              <a:t>repeat</a:t>
            </a:r>
            <a:r>
              <a:rPr lang="es-ES" sz="3400"/>
              <a:t> </a:t>
            </a:r>
            <a:r>
              <a:rPr lang="es-ES" sz="3400" err="1"/>
              <a:t>yourself</a:t>
            </a:r>
            <a:br>
              <a:rPr lang="es-ES" sz="3400"/>
            </a:br>
            <a:br>
              <a:rPr lang="es-ES" sz="3400"/>
            </a:br>
            <a:endParaRPr lang="es-ES" sz="34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66087F-23B4-75C9-503D-A8A3BE1C6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168" y="993228"/>
            <a:ext cx="6720840" cy="4935981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s-ES" b="1" dirty="0" err="1"/>
              <a:t>Bad</a:t>
            </a:r>
            <a:r>
              <a:rPr lang="es-ES" b="1" dirty="0"/>
              <a:t> </a:t>
            </a:r>
            <a:r>
              <a:rPr lang="es-ES" b="1" dirty="0" err="1"/>
              <a:t>way</a:t>
            </a:r>
            <a:endParaRPr lang="es-ES" dirty="0"/>
          </a:p>
          <a:p>
            <a:pPr marL="0" indent="0" fontAlgn="base">
              <a:buNone/>
            </a:pPr>
            <a:r>
              <a:rPr lang="es-ES" dirty="0" err="1"/>
              <a:t>Bike</a:t>
            </a:r>
            <a:r>
              <a:rPr lang="es-ES" dirty="0"/>
              <a:t> </a:t>
            </a:r>
            <a:r>
              <a:rPr lang="es-ES" dirty="0" err="1"/>
              <a:t>MountainBike</a:t>
            </a:r>
            <a:r>
              <a:rPr lang="es-ES" dirty="0"/>
              <a:t> = new(){</a:t>
            </a:r>
          </a:p>
          <a:p>
            <a:pPr marL="0" indent="0" fontAlgn="base">
              <a:buNone/>
            </a:pPr>
            <a:r>
              <a:rPr lang="es-ES" dirty="0"/>
              <a:t>   </a:t>
            </a:r>
            <a:r>
              <a:rPr lang="es-ES" dirty="0" err="1"/>
              <a:t>bikeBrand</a:t>
            </a:r>
            <a:r>
              <a:rPr lang="es-ES" dirty="0"/>
              <a:t> = "Trek",</a:t>
            </a:r>
          </a:p>
          <a:p>
            <a:pPr marL="0" indent="0" fontAlgn="base">
              <a:buNone/>
            </a:pPr>
            <a:r>
              <a:rPr lang="es-ES" dirty="0"/>
              <a:t>   </a:t>
            </a:r>
            <a:r>
              <a:rPr lang="es-ES" dirty="0" err="1"/>
              <a:t>bikeModel</a:t>
            </a:r>
            <a:r>
              <a:rPr lang="es-ES" dirty="0"/>
              <a:t> = "MX Mountain",</a:t>
            </a:r>
          </a:p>
          <a:p>
            <a:pPr marL="0" indent="0" fontAlgn="base">
              <a:buNone/>
            </a:pPr>
            <a:r>
              <a:rPr lang="es-ES" dirty="0"/>
              <a:t>   </a:t>
            </a:r>
            <a:r>
              <a:rPr lang="es-ES" dirty="0" err="1"/>
              <a:t>bikeColor</a:t>
            </a:r>
            <a:r>
              <a:rPr lang="es-ES" dirty="0"/>
              <a:t> = "Green"</a:t>
            </a:r>
          </a:p>
          <a:p>
            <a:pPr marL="0" indent="0" fontAlgn="base">
              <a:buNone/>
            </a:pPr>
            <a:r>
              <a:rPr lang="es-ES" dirty="0"/>
              <a:t>};</a:t>
            </a:r>
          </a:p>
          <a:p>
            <a:pPr marL="0" indent="0" fontAlgn="base">
              <a:buNone/>
            </a:pP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paintBike</a:t>
            </a:r>
            <a:r>
              <a:rPr lang="es-ES" dirty="0"/>
              <a:t>(</a:t>
            </a:r>
            <a:r>
              <a:rPr lang="es-ES" dirty="0" err="1"/>
              <a:t>Bike</a:t>
            </a:r>
            <a:r>
              <a:rPr lang="es-ES" dirty="0"/>
              <a:t> </a:t>
            </a:r>
            <a:r>
              <a:rPr lang="es-ES" dirty="0" err="1"/>
              <a:t>mountainBike</a:t>
            </a:r>
            <a:r>
              <a:rPr lang="es-ES" dirty="0"/>
              <a:t>, </a:t>
            </a:r>
            <a:r>
              <a:rPr lang="es-ES" dirty="0" err="1"/>
              <a:t>string</a:t>
            </a:r>
            <a:r>
              <a:rPr lang="es-ES" dirty="0"/>
              <a:t> color){</a:t>
            </a:r>
          </a:p>
          <a:p>
            <a:pPr marL="0" indent="0" fontAlgn="base">
              <a:buNone/>
            </a:pPr>
            <a:r>
              <a:rPr lang="es-ES" dirty="0"/>
              <a:t>     </a:t>
            </a:r>
            <a:r>
              <a:rPr lang="es-ES" dirty="0" err="1"/>
              <a:t>mountainBike.bikeColor</a:t>
            </a:r>
            <a:r>
              <a:rPr lang="es-ES" dirty="0"/>
              <a:t> = color;</a:t>
            </a:r>
          </a:p>
          <a:p>
            <a:pPr marL="0" indent="0" fontAlgn="base">
              <a:buNone/>
            </a:pPr>
            <a:r>
              <a:rPr lang="es-E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9003790"/>
      </p:ext>
    </p:extLst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59D72B1-B974-1CC5-A7FC-7A5B56ED4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3678485" cy="3543764"/>
          </a:xfrm>
        </p:spPr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86D7F-B67F-370D-5838-2632E869D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168" y="993228"/>
            <a:ext cx="6720840" cy="4935981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s-ES" b="1" dirty="0"/>
              <a:t>Good </a:t>
            </a:r>
            <a:r>
              <a:rPr lang="es-ES" b="1" dirty="0" err="1"/>
              <a:t>way</a:t>
            </a:r>
            <a:r>
              <a:rPr lang="es-ES" b="1" dirty="0"/>
              <a:t>:</a:t>
            </a:r>
            <a:endParaRPr lang="es-ES" dirty="0"/>
          </a:p>
          <a:p>
            <a:pPr marL="0" indent="0" fontAlgn="base">
              <a:buNone/>
            </a:pPr>
            <a:r>
              <a:rPr lang="es-ES" dirty="0" err="1"/>
              <a:t>Bike</a:t>
            </a:r>
            <a:r>
              <a:rPr lang="es-ES" dirty="0"/>
              <a:t> </a:t>
            </a:r>
            <a:r>
              <a:rPr lang="es-ES" dirty="0" err="1"/>
              <a:t>MountainBike</a:t>
            </a:r>
            <a:r>
              <a:rPr lang="es-ES" dirty="0"/>
              <a:t> = new(){</a:t>
            </a:r>
          </a:p>
          <a:p>
            <a:pPr marL="0" indent="0" fontAlgn="base">
              <a:buNone/>
            </a:pPr>
            <a:r>
              <a:rPr lang="es-ES" dirty="0"/>
              <a:t>   </a:t>
            </a:r>
            <a:r>
              <a:rPr lang="es-ES" dirty="0" err="1"/>
              <a:t>brand</a:t>
            </a:r>
            <a:r>
              <a:rPr lang="es-ES" dirty="0"/>
              <a:t> = "Trek",</a:t>
            </a:r>
          </a:p>
          <a:p>
            <a:pPr marL="0" indent="0" fontAlgn="base">
              <a:buNone/>
            </a:pPr>
            <a:r>
              <a:rPr lang="es-ES" dirty="0"/>
              <a:t>   </a:t>
            </a:r>
            <a:r>
              <a:rPr lang="es-ES" dirty="0" err="1"/>
              <a:t>model</a:t>
            </a:r>
            <a:r>
              <a:rPr lang="es-ES" dirty="0"/>
              <a:t> = "MX Mountain",</a:t>
            </a:r>
          </a:p>
          <a:p>
            <a:pPr marL="0" indent="0" fontAlgn="base">
              <a:buNone/>
            </a:pPr>
            <a:r>
              <a:rPr lang="es-ES" dirty="0"/>
              <a:t>   color = "Green"</a:t>
            </a:r>
          </a:p>
          <a:p>
            <a:pPr marL="0" indent="0" fontAlgn="base">
              <a:buNone/>
            </a:pPr>
            <a:r>
              <a:rPr lang="es-ES" dirty="0"/>
              <a:t>};</a:t>
            </a:r>
          </a:p>
          <a:p>
            <a:pPr marL="0" indent="0" fontAlgn="base">
              <a:buNone/>
            </a:pP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paintBike</a:t>
            </a:r>
            <a:r>
              <a:rPr lang="es-ES" dirty="0"/>
              <a:t>(</a:t>
            </a:r>
            <a:r>
              <a:rPr lang="es-ES" dirty="0" err="1"/>
              <a:t>Bike</a:t>
            </a:r>
            <a:r>
              <a:rPr lang="es-ES" dirty="0"/>
              <a:t> </a:t>
            </a:r>
            <a:r>
              <a:rPr lang="es-ES" dirty="0" err="1"/>
              <a:t>mountainBike</a:t>
            </a:r>
            <a:r>
              <a:rPr lang="es-ES" dirty="0"/>
              <a:t>, </a:t>
            </a:r>
            <a:r>
              <a:rPr lang="es-ES" dirty="0" err="1"/>
              <a:t>string</a:t>
            </a:r>
            <a:r>
              <a:rPr lang="es-ES" dirty="0"/>
              <a:t> color){</a:t>
            </a:r>
          </a:p>
          <a:p>
            <a:pPr marL="0" indent="0" fontAlgn="base">
              <a:buNone/>
            </a:pPr>
            <a:r>
              <a:rPr lang="es-ES" dirty="0"/>
              <a:t>     </a:t>
            </a:r>
            <a:r>
              <a:rPr lang="es-ES" dirty="0" err="1"/>
              <a:t>mountainBike.color</a:t>
            </a:r>
            <a:r>
              <a:rPr lang="es-ES" dirty="0"/>
              <a:t> = color;</a:t>
            </a:r>
          </a:p>
          <a:p>
            <a:pPr marL="0" indent="0" fontAlgn="base">
              <a:buNone/>
            </a:pPr>
            <a:r>
              <a:rPr lang="es-ES" dirty="0"/>
              <a:t>}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30757057"/>
      </p:ext>
    </p:extLst>
  </p:cSld>
  <p:clrMapOvr>
    <a:masterClrMapping/>
  </p:clrMapOvr>
</p:sld>
</file>

<file path=ppt/slides/slide10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1D3D632E-A2D0-8315-8410-C73294623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pPr fontAlgn="base"/>
            <a:r>
              <a:rPr lang="en-US" sz="2500"/>
              <a:t>Uses highly descriptive variable names</a:t>
            </a:r>
            <a:br>
              <a:rPr lang="en-US" sz="2500"/>
            </a:br>
            <a:br>
              <a:rPr lang="en-US" sz="2500"/>
            </a:br>
            <a:endParaRPr lang="es-ES" sz="25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D94CD9-FC6E-3CA1-52BD-395BFEBB4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00%"/>
              </a:lnSpc>
              <a:buNone/>
            </a:pPr>
            <a:r>
              <a:rPr lang="es-ES" sz="1400" b="1" dirty="0" err="1"/>
              <a:t>Bad</a:t>
            </a:r>
            <a:r>
              <a:rPr lang="es-ES" sz="1400" b="1" dirty="0"/>
              <a:t> </a:t>
            </a:r>
            <a:r>
              <a:rPr lang="es-ES" sz="1400" b="1" dirty="0" err="1"/>
              <a:t>way</a:t>
            </a:r>
            <a:r>
              <a:rPr lang="es-ES" sz="1400" b="1" dirty="0"/>
              <a:t>:</a:t>
            </a:r>
            <a:endParaRPr lang="es-ES" sz="14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 err="1"/>
              <a:t>const</a:t>
            </a:r>
            <a:r>
              <a:rPr lang="es-ES" sz="1400" dirty="0"/>
              <a:t> </a:t>
            </a:r>
            <a:r>
              <a:rPr lang="es-ES" sz="1400" dirty="0" err="1"/>
              <a:t>address</a:t>
            </a:r>
            <a:r>
              <a:rPr lang="es-ES" sz="1400" dirty="0"/>
              <a:t> = "One Infinite </a:t>
            </a:r>
            <a:r>
              <a:rPr lang="es-ES" sz="1400" dirty="0" err="1"/>
              <a:t>Loop</a:t>
            </a:r>
            <a:r>
              <a:rPr lang="es-ES" sz="1400" dirty="0"/>
              <a:t>, Cupertino 95014";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 err="1"/>
              <a:t>var</a:t>
            </a:r>
            <a:r>
              <a:rPr lang="es-ES" sz="1400" dirty="0"/>
              <a:t> </a:t>
            </a:r>
            <a:r>
              <a:rPr lang="es-ES" sz="1400" dirty="0" err="1"/>
              <a:t>cityZipCodeRegex</a:t>
            </a:r>
            <a:r>
              <a:rPr lang="es-ES" sz="1400" dirty="0"/>
              <a:t> = new </a:t>
            </a:r>
            <a:r>
              <a:rPr lang="es-ES" sz="1400" dirty="0" err="1"/>
              <a:t>Regex</a:t>
            </a:r>
            <a:r>
              <a:rPr lang="es-ES" sz="1400" dirty="0"/>
              <a:t>(@"/ ^[^,\\] +[,\\\s] + (.+?)\s * (\d{ 5 })?$/").</a:t>
            </a:r>
            <a:r>
              <a:rPr lang="es-ES" sz="1400" dirty="0" err="1"/>
              <a:t>Matches</a:t>
            </a:r>
            <a:r>
              <a:rPr lang="es-ES" sz="1400" dirty="0"/>
              <a:t>(</a:t>
            </a:r>
            <a:r>
              <a:rPr lang="es-ES" sz="1400" dirty="0" err="1"/>
              <a:t>address</a:t>
            </a:r>
            <a:r>
              <a:rPr lang="es-ES" sz="1400" dirty="0"/>
              <a:t>);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 err="1"/>
              <a:t>saveCityZipCode</a:t>
            </a:r>
            <a:r>
              <a:rPr lang="es-ES" sz="1400" dirty="0"/>
              <a:t>(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/>
              <a:t>  </a:t>
            </a:r>
            <a:r>
              <a:rPr lang="es-ES" sz="1400" dirty="0" err="1"/>
              <a:t>cityZipCodeRegex</a:t>
            </a:r>
            <a:r>
              <a:rPr lang="es-ES" sz="1400" dirty="0"/>
              <a:t>[0].</a:t>
            </a:r>
            <a:r>
              <a:rPr lang="es-ES" sz="1400" dirty="0" err="1"/>
              <a:t>Value</a:t>
            </a:r>
            <a:r>
              <a:rPr lang="es-ES" sz="1400" dirty="0"/>
              <a:t>,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/>
              <a:t>  </a:t>
            </a:r>
            <a:r>
              <a:rPr lang="es-ES" sz="1400" dirty="0" err="1"/>
              <a:t>cityZipCodeRegex</a:t>
            </a:r>
            <a:r>
              <a:rPr lang="es-ES" sz="1400" dirty="0"/>
              <a:t>[1].</a:t>
            </a:r>
            <a:r>
              <a:rPr lang="es-ES" sz="1400" dirty="0" err="1"/>
              <a:t>Value</a:t>
            </a:r>
            <a:endParaRPr lang="es-ES" sz="14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/>
              <a:t>);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b="1" dirty="0"/>
              <a:t>Good </a:t>
            </a:r>
            <a:r>
              <a:rPr lang="es-ES" sz="1400" b="1" dirty="0" err="1"/>
              <a:t>way</a:t>
            </a:r>
            <a:r>
              <a:rPr lang="es-ES" sz="1400" b="1" dirty="0"/>
              <a:t>:</a:t>
            </a:r>
            <a:endParaRPr lang="es-ES" sz="14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 err="1"/>
              <a:t>var</a:t>
            </a:r>
            <a:r>
              <a:rPr lang="es-ES" sz="1400" dirty="0"/>
              <a:t> </a:t>
            </a:r>
            <a:r>
              <a:rPr lang="es-ES" sz="1400" dirty="0" err="1"/>
              <a:t>address</a:t>
            </a:r>
            <a:r>
              <a:rPr lang="es-ES" sz="1400" dirty="0"/>
              <a:t> = "One Infinite </a:t>
            </a:r>
            <a:r>
              <a:rPr lang="es-ES" sz="1400" dirty="0" err="1"/>
              <a:t>Loop</a:t>
            </a:r>
            <a:r>
              <a:rPr lang="es-ES" sz="1400" dirty="0"/>
              <a:t>, Cupertino 95014";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 err="1"/>
              <a:t>var</a:t>
            </a:r>
            <a:r>
              <a:rPr lang="es-ES" sz="1400" dirty="0"/>
              <a:t> </a:t>
            </a:r>
            <a:r>
              <a:rPr lang="es-ES" sz="1400" dirty="0" err="1"/>
              <a:t>cityZipCodeRegex</a:t>
            </a:r>
            <a:r>
              <a:rPr lang="es-ES" sz="1400" dirty="0"/>
              <a:t> = new </a:t>
            </a:r>
            <a:r>
              <a:rPr lang="es-ES" sz="1400" dirty="0" err="1"/>
              <a:t>Regex</a:t>
            </a:r>
            <a:r>
              <a:rPr lang="es-ES" sz="1400" dirty="0"/>
              <a:t>(@"/ ^[^,\\] +[,\\\s] + (.+?)\s * (\d{ 5 })?$/").</a:t>
            </a:r>
            <a:r>
              <a:rPr lang="es-ES" sz="1400" dirty="0" err="1"/>
              <a:t>Matches</a:t>
            </a:r>
            <a:r>
              <a:rPr lang="es-ES" sz="1400" dirty="0"/>
              <a:t>(</a:t>
            </a:r>
            <a:r>
              <a:rPr lang="es-ES" sz="1400" dirty="0" err="1"/>
              <a:t>address</a:t>
            </a:r>
            <a:r>
              <a:rPr lang="es-ES" sz="1400" dirty="0"/>
              <a:t>);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 err="1"/>
              <a:t>var</a:t>
            </a:r>
            <a:r>
              <a:rPr lang="es-ES" sz="1400" dirty="0"/>
              <a:t> </a:t>
            </a:r>
            <a:r>
              <a:rPr lang="es-ES" sz="1400" dirty="0" err="1"/>
              <a:t>city</a:t>
            </a:r>
            <a:r>
              <a:rPr lang="es-ES" sz="1400" dirty="0"/>
              <a:t> = </a:t>
            </a:r>
            <a:r>
              <a:rPr lang="es-ES" sz="1400" dirty="0" err="1"/>
              <a:t>cityZipCodeRegex</a:t>
            </a:r>
            <a:r>
              <a:rPr lang="es-ES" sz="1400" dirty="0"/>
              <a:t>[0].</a:t>
            </a:r>
            <a:r>
              <a:rPr lang="es-ES" sz="1400" dirty="0" err="1"/>
              <a:t>Value</a:t>
            </a:r>
            <a:r>
              <a:rPr lang="es-ES" sz="1400" dirty="0"/>
              <a:t>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 err="1"/>
              <a:t>var</a:t>
            </a:r>
            <a:r>
              <a:rPr lang="es-ES" sz="1400" dirty="0"/>
              <a:t> </a:t>
            </a:r>
            <a:r>
              <a:rPr lang="es-ES" sz="1400" dirty="0" err="1"/>
              <a:t>zipCode</a:t>
            </a:r>
            <a:r>
              <a:rPr lang="es-ES" sz="1400" dirty="0"/>
              <a:t> = </a:t>
            </a:r>
            <a:r>
              <a:rPr lang="es-ES" sz="1400" dirty="0" err="1"/>
              <a:t>cityZipCodeRegex</a:t>
            </a:r>
            <a:r>
              <a:rPr lang="es-ES" sz="1400" dirty="0"/>
              <a:t>[1].</a:t>
            </a:r>
            <a:r>
              <a:rPr lang="es-ES" sz="1400" dirty="0" err="1"/>
              <a:t>Value</a:t>
            </a:r>
            <a:r>
              <a:rPr lang="es-ES" sz="1400" dirty="0"/>
              <a:t>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 err="1"/>
              <a:t>saveCityZipCode</a:t>
            </a:r>
            <a:r>
              <a:rPr lang="es-ES" sz="1400" dirty="0"/>
              <a:t>(</a:t>
            </a:r>
            <a:r>
              <a:rPr lang="es-ES" sz="1400" dirty="0" err="1"/>
              <a:t>city</a:t>
            </a:r>
            <a:r>
              <a:rPr lang="es-ES" sz="1400" dirty="0"/>
              <a:t>, </a:t>
            </a:r>
            <a:r>
              <a:rPr lang="es-ES" sz="1400" dirty="0" err="1"/>
              <a:t>zipCode</a:t>
            </a:r>
            <a:r>
              <a:rPr lang="es-ES" sz="1400" dirty="0"/>
              <a:t>);</a:t>
            </a:r>
          </a:p>
          <a:p>
            <a:pPr>
              <a:lnSpc>
                <a:spcPct val="100%"/>
              </a:lnSpc>
            </a:pP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2965257947"/>
      </p:ext>
    </p:extLst>
  </p:cSld>
  <p:clrMapOvr>
    <a:masterClrMapping/>
  </p:clrMapOvr>
</p:sld>
</file>

<file path=ppt/slides/slide11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35C903A-C6F6-A581-D56C-58D9C489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pPr fontAlgn="base"/>
            <a:r>
              <a:rPr lang="es-ES" sz="3100"/>
              <a:t>Always encapsulate conditionals</a:t>
            </a:r>
            <a:br>
              <a:rPr lang="es-ES" sz="3100"/>
            </a:br>
            <a:br>
              <a:rPr lang="es-ES" sz="3100"/>
            </a:br>
            <a:endParaRPr lang="es-ES" sz="31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EADC0D-7FAC-BACD-EAD1-D6008DCF1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Bad way: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if (</a:t>
            </a:r>
            <a:r>
              <a:rPr lang="en-US" dirty="0" err="1"/>
              <a:t>website.state</a:t>
            </a:r>
            <a:r>
              <a:rPr lang="en-US" dirty="0"/>
              <a:t> == "down")</a:t>
            </a:r>
          </a:p>
          <a:p>
            <a:pPr marL="0" indent="0" fontAlgn="base">
              <a:buNone/>
            </a:pPr>
            <a:r>
              <a:rPr lang="en-US" dirty="0"/>
              <a:t>{</a:t>
            </a:r>
          </a:p>
          <a:p>
            <a:pPr marL="0" indent="0" fontAlgn="base">
              <a:buNone/>
            </a:pPr>
            <a:r>
              <a:rPr lang="en-US" dirty="0"/>
              <a:t>    // ...</a:t>
            </a:r>
          </a:p>
          <a:p>
            <a:pPr marL="0" indent="0" fontAlgn="base">
              <a:buNone/>
            </a:pPr>
            <a:r>
              <a:rPr lang="en-US" dirty="0"/>
              <a:t>}</a:t>
            </a:r>
          </a:p>
          <a:p>
            <a:pPr marL="0" indent="0" fontAlgn="base">
              <a:buNone/>
            </a:pPr>
            <a:r>
              <a:rPr lang="en-US" b="1" dirty="0"/>
              <a:t>Good way: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if (</a:t>
            </a:r>
            <a:r>
              <a:rPr lang="en-US" dirty="0" err="1"/>
              <a:t>website.IsDown</a:t>
            </a:r>
            <a:r>
              <a:rPr lang="en-US" dirty="0"/>
              <a:t>())</a:t>
            </a:r>
          </a:p>
          <a:p>
            <a:pPr marL="0" indent="0" fontAlgn="base">
              <a:buNone/>
            </a:pPr>
            <a:r>
              <a:rPr lang="en-US" dirty="0"/>
              <a:t>{</a:t>
            </a:r>
          </a:p>
          <a:p>
            <a:pPr marL="0" indent="0" fontAlgn="base">
              <a:buNone/>
            </a:pPr>
            <a:r>
              <a:rPr lang="en-US" dirty="0"/>
              <a:t>    // ...</a:t>
            </a:r>
          </a:p>
          <a:p>
            <a:pPr marL="0" indent="0" fontAlgn="base">
              <a:buNone/>
            </a:pPr>
            <a:r>
              <a:rPr lang="en-US" dirty="0"/>
              <a:t>}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92420508"/>
      </p:ext>
    </p:extLst>
  </p:cSld>
  <p:clrMapOvr>
    <a:masterClrMapping/>
  </p:clrMapOvr>
</p:sld>
</file>

<file path=ppt/slides/slide12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84E2E1AC-0FFE-7E73-9D21-868CA76F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pPr fontAlgn="base"/>
            <a:r>
              <a:rPr lang="es-ES" sz="2300"/>
              <a:t>Use private/protected members</a:t>
            </a:r>
            <a:br>
              <a:rPr lang="es-ES" sz="2300"/>
            </a:br>
            <a:br>
              <a:rPr lang="es-ES" sz="2300"/>
            </a:br>
            <a:endParaRPr lang="es-ES" sz="23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06DED6-9729-242C-D0B4-9727FDBCB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s-ES" b="1" dirty="0" err="1"/>
              <a:t>Bad</a:t>
            </a:r>
            <a:r>
              <a:rPr lang="es-ES" b="1" dirty="0"/>
              <a:t> </a:t>
            </a:r>
            <a:r>
              <a:rPr lang="es-ES" b="1" dirty="0" err="1"/>
              <a:t>way</a:t>
            </a:r>
            <a:r>
              <a:rPr lang="es-ES" b="1" dirty="0"/>
              <a:t>:</a:t>
            </a:r>
            <a:endParaRPr lang="es-ES" dirty="0"/>
          </a:p>
          <a:p>
            <a:pPr marL="0" indent="0" fontAlgn="base">
              <a:buNone/>
            </a:pPr>
            <a:r>
              <a:rPr lang="es-ES" dirty="0" err="1"/>
              <a:t>class</a:t>
            </a:r>
            <a:r>
              <a:rPr lang="es-ES" dirty="0"/>
              <a:t> Car</a:t>
            </a:r>
          </a:p>
          <a:p>
            <a:pPr marL="0" indent="0" fontAlgn="base">
              <a:buNone/>
            </a:pPr>
            <a:r>
              <a:rPr lang="es-ES" dirty="0"/>
              <a:t>{</a:t>
            </a:r>
          </a:p>
          <a:p>
            <a:pPr marL="0" indent="0" fontAlgn="base">
              <a:buNone/>
            </a:pPr>
            <a:r>
              <a:rPr lang="es-ES" dirty="0"/>
              <a:t>   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string</a:t>
            </a:r>
            <a:r>
              <a:rPr lang="es-ES" dirty="0"/>
              <a:t> Brand { </a:t>
            </a:r>
            <a:r>
              <a:rPr lang="es-ES" dirty="0" err="1"/>
              <a:t>get</a:t>
            </a:r>
            <a:r>
              <a:rPr lang="es-ES" dirty="0"/>
              <a:t>; set; }</a:t>
            </a:r>
          </a:p>
          <a:p>
            <a:pPr marL="0" indent="0" fontAlgn="base">
              <a:buNone/>
            </a:pPr>
            <a:r>
              <a:rPr lang="es-ES" dirty="0"/>
              <a:t>    </a:t>
            </a:r>
            <a:r>
              <a:rPr lang="es-ES" dirty="0" err="1"/>
              <a:t>public</a:t>
            </a:r>
            <a:r>
              <a:rPr lang="es-ES" dirty="0"/>
              <a:t> Car(</a:t>
            </a:r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brand</a:t>
            </a:r>
            <a:r>
              <a:rPr lang="es-ES" dirty="0"/>
              <a:t>)</a:t>
            </a:r>
          </a:p>
          <a:p>
            <a:pPr marL="0" indent="0" fontAlgn="base">
              <a:buNone/>
            </a:pPr>
            <a:r>
              <a:rPr lang="es-ES" dirty="0"/>
              <a:t>    {</a:t>
            </a:r>
          </a:p>
          <a:p>
            <a:pPr marL="0" indent="0" fontAlgn="base">
              <a:buNone/>
            </a:pPr>
            <a:r>
              <a:rPr lang="es-ES" dirty="0"/>
              <a:t>        Brand = </a:t>
            </a:r>
            <a:r>
              <a:rPr lang="es-ES" dirty="0" err="1"/>
              <a:t>brand</a:t>
            </a:r>
            <a:r>
              <a:rPr lang="es-ES" dirty="0"/>
              <a:t>;</a:t>
            </a:r>
          </a:p>
          <a:p>
            <a:pPr marL="0" indent="0" fontAlgn="base">
              <a:buNone/>
            </a:pPr>
            <a:r>
              <a:rPr lang="es-ES" dirty="0"/>
              <a:t>    }</a:t>
            </a:r>
          </a:p>
          <a:p>
            <a:pPr marL="0" indent="0" fontAlgn="base">
              <a:buNone/>
            </a:pPr>
            <a:r>
              <a:rPr lang="es-ES" dirty="0"/>
              <a:t>}</a:t>
            </a:r>
          </a:p>
          <a:p>
            <a:pPr marL="0" indent="0" fontAlgn="base">
              <a:buNone/>
            </a:pPr>
            <a:r>
              <a:rPr lang="es-ES" dirty="0" err="1"/>
              <a:t>var</a:t>
            </a:r>
            <a:r>
              <a:rPr lang="es-ES" dirty="0"/>
              <a:t> car = new Car("Porsche");</a:t>
            </a:r>
          </a:p>
          <a:p>
            <a:pPr marL="0" indent="0" fontAlgn="base">
              <a:buNone/>
            </a:pPr>
            <a:r>
              <a:rPr lang="es-ES" dirty="0" err="1"/>
              <a:t>Console.WriteLine</a:t>
            </a:r>
            <a:r>
              <a:rPr lang="es-ES" dirty="0"/>
              <a:t>(</a:t>
            </a:r>
            <a:r>
              <a:rPr lang="es-ES" dirty="0" err="1"/>
              <a:t>car.Brand</a:t>
            </a:r>
            <a:r>
              <a:rPr lang="es-ES" dirty="0"/>
              <a:t>); // Car </a:t>
            </a:r>
            <a:r>
              <a:rPr lang="es-ES" dirty="0" err="1"/>
              <a:t>brand</a:t>
            </a:r>
            <a:r>
              <a:rPr lang="es-ES" dirty="0"/>
              <a:t>: Porsche</a:t>
            </a:r>
          </a:p>
        </p:txBody>
      </p:sp>
    </p:spTree>
    <p:extLst>
      <p:ext uri="{BB962C8B-B14F-4D97-AF65-F5344CB8AC3E}">
        <p14:creationId xmlns:p14="http://schemas.microsoft.com/office/powerpoint/2010/main" val="2127303681"/>
      </p:ext>
    </p:extLst>
  </p:cSld>
  <p:clrMapOvr>
    <a:masterClrMapping/>
  </p:clrMapOvr>
</p:sld>
</file>

<file path=ppt/slides/slide13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7C7B79-FBC9-B0A8-790A-5D4F8883E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s-ES" b="1" dirty="0"/>
              <a:t>Good </a:t>
            </a:r>
            <a:r>
              <a:rPr lang="es-ES" b="1" dirty="0" err="1"/>
              <a:t>way</a:t>
            </a:r>
            <a:r>
              <a:rPr lang="es-ES" b="1" dirty="0"/>
              <a:t>:</a:t>
            </a:r>
            <a:endParaRPr lang="es-ES" dirty="0"/>
          </a:p>
          <a:p>
            <a:pPr marL="0" indent="0" fontAlgn="base">
              <a:buNone/>
            </a:pPr>
            <a:r>
              <a:rPr lang="es-ES" dirty="0" err="1"/>
              <a:t>class</a:t>
            </a:r>
            <a:r>
              <a:rPr lang="es-ES" dirty="0"/>
              <a:t> Car</a:t>
            </a:r>
          </a:p>
          <a:p>
            <a:pPr marL="0" indent="0" fontAlgn="base">
              <a:buNone/>
            </a:pPr>
            <a:r>
              <a:rPr lang="es-ES" dirty="0"/>
              <a:t>{</a:t>
            </a:r>
          </a:p>
          <a:p>
            <a:pPr marL="0" indent="0" fontAlgn="base">
              <a:buNone/>
            </a:pPr>
            <a:r>
              <a:rPr lang="es-ES" dirty="0"/>
              <a:t>   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string</a:t>
            </a:r>
            <a:r>
              <a:rPr lang="es-ES" dirty="0"/>
              <a:t> Brand { </a:t>
            </a:r>
            <a:r>
              <a:rPr lang="es-ES" dirty="0" err="1"/>
              <a:t>get</a:t>
            </a:r>
            <a:r>
              <a:rPr lang="es-ES" dirty="0"/>
              <a:t>; }</a:t>
            </a:r>
          </a:p>
          <a:p>
            <a:pPr marL="0" indent="0" fontAlgn="base">
              <a:buNone/>
            </a:pPr>
            <a:r>
              <a:rPr lang="es-ES" dirty="0"/>
              <a:t>   </a:t>
            </a:r>
            <a:r>
              <a:rPr lang="es-ES" dirty="0" err="1"/>
              <a:t>public</a:t>
            </a:r>
            <a:r>
              <a:rPr lang="es-ES" dirty="0"/>
              <a:t> Car(</a:t>
            </a:r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brand</a:t>
            </a:r>
            <a:r>
              <a:rPr lang="es-ES" dirty="0"/>
              <a:t>)</a:t>
            </a:r>
          </a:p>
          <a:p>
            <a:pPr marL="0" indent="0" fontAlgn="base">
              <a:buNone/>
            </a:pPr>
            <a:r>
              <a:rPr lang="es-ES" dirty="0"/>
              <a:t>    {</a:t>
            </a:r>
          </a:p>
          <a:p>
            <a:pPr marL="0" indent="0" fontAlgn="base">
              <a:buNone/>
            </a:pPr>
            <a:r>
              <a:rPr lang="es-ES" dirty="0"/>
              <a:t>        Brand = </a:t>
            </a:r>
            <a:r>
              <a:rPr lang="es-ES" dirty="0" err="1"/>
              <a:t>brand</a:t>
            </a:r>
            <a:r>
              <a:rPr lang="es-ES" dirty="0"/>
              <a:t>;</a:t>
            </a:r>
          </a:p>
          <a:p>
            <a:pPr marL="0" indent="0" fontAlgn="base">
              <a:buNone/>
            </a:pPr>
            <a:r>
              <a:rPr lang="es-ES" dirty="0"/>
              <a:t>    }</a:t>
            </a:r>
          </a:p>
          <a:p>
            <a:pPr marL="0" indent="0" fontAlgn="base">
              <a:buNone/>
            </a:pPr>
            <a:r>
              <a:rPr lang="es-ES" dirty="0"/>
              <a:t>}</a:t>
            </a:r>
          </a:p>
          <a:p>
            <a:pPr marL="0" indent="0" fontAlgn="base">
              <a:buNone/>
            </a:pPr>
            <a:r>
              <a:rPr lang="es-ES" dirty="0" err="1"/>
              <a:t>var</a:t>
            </a:r>
            <a:r>
              <a:rPr lang="es-ES" dirty="0"/>
              <a:t> car = new Car("Porsche");</a:t>
            </a:r>
          </a:p>
          <a:p>
            <a:pPr marL="0" indent="0" fontAlgn="base">
              <a:buNone/>
            </a:pPr>
            <a:r>
              <a:rPr lang="es-ES" dirty="0" err="1"/>
              <a:t>Console.WriteLine</a:t>
            </a:r>
            <a:r>
              <a:rPr lang="es-ES" dirty="0"/>
              <a:t>(</a:t>
            </a:r>
            <a:r>
              <a:rPr lang="es-ES" dirty="0" err="1"/>
              <a:t>car.Brand</a:t>
            </a:r>
            <a:r>
              <a:rPr lang="es-ES" dirty="0"/>
              <a:t>); // Car </a:t>
            </a:r>
            <a:r>
              <a:rPr lang="es-ES" dirty="0" err="1"/>
              <a:t>brand</a:t>
            </a:r>
            <a:r>
              <a:rPr lang="es-ES" dirty="0"/>
              <a:t>: Porsche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6133556"/>
      </p:ext>
    </p:extLst>
  </p:cSld>
  <p:clrMapOvr>
    <a:masterClrMapping/>
  </p:clrMapOvr>
</p:sld>
</file>

<file path=ppt/slides/slide14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454E62AD-B28B-DFE4-7115-E0C34BD2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pPr fontAlgn="base"/>
            <a:r>
              <a:rPr lang="en-US" sz="3300"/>
              <a:t>Learn to use setters and getters</a:t>
            </a:r>
            <a:br>
              <a:rPr lang="en-US" sz="3300"/>
            </a:br>
            <a:br>
              <a:rPr lang="en-US" sz="3300"/>
            </a:br>
            <a:endParaRPr lang="es-ES" sz="33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E92754-D772-EB8B-F6A5-BF1540ACD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s-ES" b="1" dirty="0" err="1"/>
              <a:t>Bad</a:t>
            </a:r>
            <a:r>
              <a:rPr lang="es-ES" b="1" dirty="0"/>
              <a:t> </a:t>
            </a:r>
            <a:r>
              <a:rPr lang="es-ES" b="1" dirty="0" err="1"/>
              <a:t>way</a:t>
            </a:r>
            <a:r>
              <a:rPr lang="es-ES" b="1" dirty="0"/>
              <a:t>:</a:t>
            </a:r>
            <a:endParaRPr lang="es-ES" dirty="0"/>
          </a:p>
          <a:p>
            <a:pPr marL="0" indent="0" fontAlgn="base">
              <a:buNone/>
            </a:pP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BankAccount</a:t>
            </a:r>
            <a:endParaRPr lang="es-ES" dirty="0"/>
          </a:p>
          <a:p>
            <a:pPr marL="0" indent="0" fontAlgn="base">
              <a:buNone/>
            </a:pPr>
            <a:r>
              <a:rPr lang="es-ES" dirty="0"/>
              <a:t>{</a:t>
            </a:r>
          </a:p>
          <a:p>
            <a:pPr marL="0" indent="0" fontAlgn="base">
              <a:buNone/>
            </a:pPr>
            <a:r>
              <a:rPr lang="es-ES" dirty="0"/>
              <a:t>   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double</a:t>
            </a:r>
            <a:r>
              <a:rPr lang="es-ES" dirty="0"/>
              <a:t> Balance = 5000;</a:t>
            </a:r>
          </a:p>
          <a:p>
            <a:pPr marL="0" indent="0" fontAlgn="base">
              <a:buNone/>
            </a:pPr>
            <a:r>
              <a:rPr lang="es-ES" dirty="0"/>
              <a:t>}</a:t>
            </a:r>
          </a:p>
          <a:p>
            <a:pPr marL="0" indent="0" fontAlgn="base">
              <a:buNone/>
            </a:pPr>
            <a:endParaRPr lang="es-ES" dirty="0"/>
          </a:p>
          <a:p>
            <a:pPr marL="0" indent="0" fontAlgn="base">
              <a:buNone/>
            </a:pPr>
            <a:r>
              <a:rPr lang="es-ES" dirty="0" err="1"/>
              <a:t>var</a:t>
            </a:r>
            <a:r>
              <a:rPr lang="es-ES" dirty="0"/>
              <a:t> </a:t>
            </a:r>
            <a:r>
              <a:rPr lang="es-ES" dirty="0" err="1"/>
              <a:t>bankAccount</a:t>
            </a:r>
            <a:r>
              <a:rPr lang="es-ES" dirty="0"/>
              <a:t> = new </a:t>
            </a:r>
            <a:r>
              <a:rPr lang="es-ES" dirty="0" err="1"/>
              <a:t>BankAccount</a:t>
            </a:r>
            <a:r>
              <a:rPr lang="es-ES" dirty="0"/>
              <a:t>();</a:t>
            </a:r>
          </a:p>
          <a:p>
            <a:pPr marL="0" indent="0" fontAlgn="base">
              <a:buNone/>
            </a:pPr>
            <a:endParaRPr lang="es-ES" dirty="0"/>
          </a:p>
          <a:p>
            <a:pPr marL="0" indent="0" fontAlgn="base">
              <a:buNone/>
            </a:pPr>
            <a:r>
              <a:rPr lang="es-ES" dirty="0"/>
              <a:t>// </a:t>
            </a:r>
            <a:r>
              <a:rPr lang="es-ES" dirty="0" err="1"/>
              <a:t>Buy</a:t>
            </a:r>
            <a:r>
              <a:rPr lang="es-ES" dirty="0"/>
              <a:t> a cappuccino ☕️ ...</a:t>
            </a:r>
          </a:p>
          <a:p>
            <a:pPr marL="0" indent="0" fontAlgn="base">
              <a:buNone/>
            </a:pPr>
            <a:r>
              <a:rPr lang="es-ES" dirty="0" err="1"/>
              <a:t>bankAccount.Balance</a:t>
            </a:r>
            <a:r>
              <a:rPr lang="es-ES" dirty="0"/>
              <a:t> -= 15;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4103697"/>
      </p:ext>
    </p:extLst>
  </p:cSld>
  <p:clrMapOvr>
    <a:masterClrMapping/>
  </p:clrMapOvr>
</p:sld>
</file>

<file path=ppt/slides/slide15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17E03F-D515-55EB-5CD2-A04B050ED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168" y="993228"/>
            <a:ext cx="6720840" cy="4935981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00%"/>
              </a:lnSpc>
              <a:buNone/>
            </a:pPr>
            <a:r>
              <a:rPr lang="es-ES" sz="1600" b="1" dirty="0"/>
              <a:t>Good </a:t>
            </a:r>
            <a:r>
              <a:rPr lang="es-ES" sz="1600" b="1" dirty="0" err="1"/>
              <a:t>way</a:t>
            </a:r>
            <a:r>
              <a:rPr lang="es-ES" sz="1600" b="1" dirty="0"/>
              <a:t>:</a:t>
            </a:r>
            <a:endParaRPr lang="es-ES" sz="16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600" dirty="0" err="1"/>
              <a:t>class</a:t>
            </a:r>
            <a:r>
              <a:rPr lang="es-ES" sz="1600" dirty="0"/>
              <a:t> </a:t>
            </a:r>
            <a:r>
              <a:rPr lang="es-ES" sz="1600" dirty="0" err="1"/>
              <a:t>BankAccount</a:t>
            </a:r>
            <a:endParaRPr lang="es-ES" sz="16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600" dirty="0"/>
              <a:t>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600" dirty="0"/>
              <a:t>    </a:t>
            </a:r>
            <a:r>
              <a:rPr lang="es-ES" sz="1600" dirty="0" err="1"/>
              <a:t>private</a:t>
            </a:r>
            <a:r>
              <a:rPr lang="es-ES" sz="1600" dirty="0"/>
              <a:t> </a:t>
            </a:r>
            <a:r>
              <a:rPr lang="es-ES" sz="1600" dirty="0" err="1"/>
              <a:t>double</a:t>
            </a:r>
            <a:r>
              <a:rPr lang="es-ES" sz="1600" dirty="0"/>
              <a:t> _balance = 0.0D;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600" dirty="0"/>
              <a:t>    </a:t>
            </a:r>
            <a:r>
              <a:rPr lang="es-ES" sz="1600" dirty="0" err="1"/>
              <a:t>public</a:t>
            </a:r>
            <a:r>
              <a:rPr lang="es-ES" sz="1600" dirty="0"/>
              <a:t> </a:t>
            </a:r>
            <a:r>
              <a:rPr lang="es-ES" sz="1600" dirty="0" err="1"/>
              <a:t>double</a:t>
            </a:r>
            <a:r>
              <a:rPr lang="es-ES" sz="1600" dirty="0"/>
              <a:t> Balance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600" dirty="0"/>
              <a:t>        </a:t>
            </a:r>
            <a:r>
              <a:rPr lang="es-ES" sz="1600" dirty="0" err="1"/>
              <a:t>get</a:t>
            </a:r>
            <a:r>
              <a:rPr lang="es-ES" sz="1600" dirty="0"/>
              <a:t>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600" dirty="0"/>
              <a:t>            </a:t>
            </a:r>
            <a:r>
              <a:rPr lang="es-ES" sz="1600" dirty="0" err="1"/>
              <a:t>return</a:t>
            </a:r>
            <a:r>
              <a:rPr lang="es-ES" sz="1600" dirty="0"/>
              <a:t> _balance;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600" dirty="0"/>
              <a:t>        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600" dirty="0"/>
              <a:t>    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600" dirty="0"/>
              <a:t>    </a:t>
            </a:r>
            <a:r>
              <a:rPr lang="es-ES" sz="1600" dirty="0" err="1"/>
              <a:t>public</a:t>
            </a:r>
            <a:r>
              <a:rPr lang="es-ES" sz="1600" dirty="0"/>
              <a:t> </a:t>
            </a:r>
            <a:r>
              <a:rPr lang="es-ES" sz="1600" dirty="0" err="1"/>
              <a:t>BankAccount</a:t>
            </a:r>
            <a:r>
              <a:rPr lang="es-ES" sz="1600" dirty="0"/>
              <a:t>(balance = 1000)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600" dirty="0"/>
              <a:t>   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600" dirty="0"/>
              <a:t>       _balance = balance;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600" dirty="0"/>
              <a:t>    }</a:t>
            </a:r>
          </a:p>
          <a:p>
            <a:pPr fontAlgn="base">
              <a:lnSpc>
                <a:spcPct val="100%"/>
              </a:lnSpc>
            </a:pPr>
            <a:endParaRPr lang="es-ES" sz="1600" dirty="0"/>
          </a:p>
          <a:p>
            <a:pPr>
              <a:lnSpc>
                <a:spcPct val="100%"/>
              </a:lnSpc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089123712"/>
      </p:ext>
    </p:extLst>
  </p:cSld>
  <p:clrMapOvr>
    <a:masterClrMapping/>
  </p:clrMapOvr>
</p:sld>
</file>

<file path=ppt/slides/slide16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24C7E9-C96A-531D-C00A-4304009EA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168" y="993228"/>
            <a:ext cx="6720840" cy="4935981"/>
          </a:xfrm>
        </p:spPr>
        <p:txBody>
          <a:bodyPr>
            <a:normAutofit/>
          </a:bodyPr>
          <a:lstStyle/>
          <a:p>
            <a:pPr fontAlgn="base">
              <a:lnSpc>
                <a:spcPct val="100%"/>
              </a:lnSpc>
            </a:pPr>
            <a:r>
              <a:rPr lang="es-ES" sz="500" dirty="0"/>
              <a:t> </a:t>
            </a:r>
            <a:r>
              <a:rPr lang="es-ES" sz="500" dirty="0" err="1"/>
              <a:t>public</a:t>
            </a:r>
            <a:r>
              <a:rPr lang="es-ES" sz="500" dirty="0"/>
              <a:t> </a:t>
            </a:r>
            <a:r>
              <a:rPr lang="es-ES" sz="500" dirty="0" err="1"/>
              <a:t>void</a:t>
            </a:r>
            <a:r>
              <a:rPr lang="es-ES" sz="500" dirty="0"/>
              <a:t> </a:t>
            </a:r>
            <a:r>
              <a:rPr lang="es-ES" sz="500" dirty="0" err="1"/>
              <a:t>WithdrawBalance</a:t>
            </a:r>
            <a:r>
              <a:rPr lang="es-ES" sz="500" dirty="0"/>
              <a:t>(</a:t>
            </a:r>
            <a:r>
              <a:rPr lang="es-ES" sz="500" dirty="0" err="1"/>
              <a:t>int</a:t>
            </a:r>
            <a:r>
              <a:rPr lang="es-ES" sz="500" dirty="0"/>
              <a:t> </a:t>
            </a:r>
            <a:r>
              <a:rPr lang="es-ES" sz="500" dirty="0" err="1"/>
              <a:t>amount</a:t>
            </a:r>
            <a:r>
              <a:rPr lang="es-ES" sz="500" dirty="0"/>
              <a:t>)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</a:t>
            </a:r>
            <a:r>
              <a:rPr lang="es-ES" sz="500" dirty="0" err="1"/>
              <a:t>if</a:t>
            </a:r>
            <a:r>
              <a:rPr lang="es-ES" sz="500" dirty="0"/>
              <a:t> (</a:t>
            </a:r>
            <a:r>
              <a:rPr lang="es-ES" sz="500" dirty="0" err="1"/>
              <a:t>amount</a:t>
            </a:r>
            <a:r>
              <a:rPr lang="es-ES" sz="500" dirty="0"/>
              <a:t> &gt; _balance)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    </a:t>
            </a:r>
            <a:r>
              <a:rPr lang="es-ES" sz="500" dirty="0" err="1"/>
              <a:t>throw</a:t>
            </a:r>
            <a:r>
              <a:rPr lang="es-ES" sz="500" dirty="0"/>
              <a:t> new </a:t>
            </a:r>
            <a:r>
              <a:rPr lang="es-ES" sz="500" dirty="0" err="1"/>
              <a:t>Exception</a:t>
            </a:r>
            <a:r>
              <a:rPr lang="es-ES" sz="500" dirty="0"/>
              <a:t>('</a:t>
            </a:r>
            <a:r>
              <a:rPr lang="es-ES" sz="500" dirty="0" err="1"/>
              <a:t>Amount</a:t>
            </a:r>
            <a:r>
              <a:rPr lang="es-ES" sz="500" dirty="0"/>
              <a:t> </a:t>
            </a:r>
            <a:r>
              <a:rPr lang="es-ES" sz="500" dirty="0" err="1"/>
              <a:t>greater</a:t>
            </a:r>
            <a:r>
              <a:rPr lang="es-ES" sz="500" dirty="0"/>
              <a:t> </a:t>
            </a:r>
            <a:r>
              <a:rPr lang="es-ES" sz="500" dirty="0" err="1"/>
              <a:t>than</a:t>
            </a:r>
            <a:r>
              <a:rPr lang="es-ES" sz="500" dirty="0"/>
              <a:t> </a:t>
            </a:r>
            <a:r>
              <a:rPr lang="es-ES" sz="500" dirty="0" err="1"/>
              <a:t>available</a:t>
            </a:r>
            <a:r>
              <a:rPr lang="es-ES" sz="500" dirty="0"/>
              <a:t> balance.');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_balance -= </a:t>
            </a:r>
            <a:r>
              <a:rPr lang="es-ES" sz="500" dirty="0" err="1"/>
              <a:t>amount</a:t>
            </a:r>
            <a:r>
              <a:rPr lang="es-ES" sz="500" dirty="0"/>
              <a:t>;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public</a:t>
            </a:r>
            <a:r>
              <a:rPr lang="es-ES" sz="500" dirty="0"/>
              <a:t> </a:t>
            </a:r>
            <a:r>
              <a:rPr lang="es-ES" sz="500" dirty="0" err="1"/>
              <a:t>void</a:t>
            </a:r>
            <a:r>
              <a:rPr lang="es-ES" sz="500" dirty="0"/>
              <a:t> </a:t>
            </a:r>
            <a:r>
              <a:rPr lang="es-ES" sz="500" dirty="0" err="1"/>
              <a:t>DepositBalance</a:t>
            </a:r>
            <a:r>
              <a:rPr lang="es-ES" sz="500" dirty="0"/>
              <a:t>(</a:t>
            </a:r>
            <a:r>
              <a:rPr lang="es-ES" sz="500" dirty="0" err="1"/>
              <a:t>int</a:t>
            </a:r>
            <a:r>
              <a:rPr lang="es-ES" sz="500" dirty="0"/>
              <a:t> </a:t>
            </a:r>
            <a:r>
              <a:rPr lang="es-ES" sz="500" dirty="0" err="1"/>
              <a:t>amount</a:t>
            </a:r>
            <a:r>
              <a:rPr lang="es-ES" sz="500" dirty="0"/>
              <a:t>)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_balance += </a:t>
            </a:r>
            <a:r>
              <a:rPr lang="es-ES" sz="500" dirty="0" err="1"/>
              <a:t>amount</a:t>
            </a:r>
            <a:r>
              <a:rPr lang="es-ES" sz="500" dirty="0"/>
              <a:t>;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}</a:t>
            </a:r>
          </a:p>
          <a:p>
            <a:pPr fontAlgn="base">
              <a:lnSpc>
                <a:spcPct val="100%"/>
              </a:lnSpc>
            </a:pPr>
            <a:r>
              <a:rPr lang="es-ES" sz="500" dirty="0" err="1"/>
              <a:t>var</a:t>
            </a:r>
            <a:r>
              <a:rPr lang="es-ES" sz="500" dirty="0"/>
              <a:t> </a:t>
            </a:r>
            <a:r>
              <a:rPr lang="es-ES" sz="500" dirty="0" err="1"/>
              <a:t>bankAccount</a:t>
            </a:r>
            <a:r>
              <a:rPr lang="es-ES" sz="500" dirty="0"/>
              <a:t> = new </a:t>
            </a:r>
            <a:r>
              <a:rPr lang="es-ES" sz="500" dirty="0" err="1"/>
              <a:t>BankAccount</a:t>
            </a:r>
            <a:r>
              <a:rPr lang="es-ES" sz="500" dirty="0"/>
              <a:t>();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// </a:t>
            </a:r>
            <a:r>
              <a:rPr lang="es-ES" sz="500" dirty="0" err="1"/>
              <a:t>Buy</a:t>
            </a:r>
            <a:r>
              <a:rPr lang="es-ES" sz="500" dirty="0"/>
              <a:t> a cappuccino ☕️ ...</a:t>
            </a:r>
          </a:p>
          <a:p>
            <a:pPr fontAlgn="base">
              <a:lnSpc>
                <a:spcPct val="100%"/>
              </a:lnSpc>
            </a:pPr>
            <a:r>
              <a:rPr lang="es-ES" sz="500" dirty="0" err="1"/>
              <a:t>bankAccount.WithdrawBalance</a:t>
            </a:r>
            <a:r>
              <a:rPr lang="es-ES" sz="500" dirty="0"/>
              <a:t>(</a:t>
            </a:r>
            <a:r>
              <a:rPr lang="es-ES" sz="500" dirty="0" err="1"/>
              <a:t>price</a:t>
            </a:r>
            <a:r>
              <a:rPr lang="es-ES" sz="500" dirty="0"/>
              <a:t>: 15);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balance = </a:t>
            </a:r>
            <a:r>
              <a:rPr lang="es-ES" sz="500" dirty="0" err="1"/>
              <a:t>bankAccount.Balance</a:t>
            </a:r>
            <a:r>
              <a:rPr lang="es-ES" sz="5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48427470"/>
      </p:ext>
    </p:extLst>
  </p:cSld>
  <p:clrMapOvr>
    <a:masterClrMapping/>
  </p:clrMapOvr>
</p:sld>
</file>

<file path=ppt/slides/slide17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8B6F6E05-F15D-92E3-FA06-56384BB0D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3678485" cy="3543764"/>
          </a:xfrm>
        </p:spPr>
        <p:txBody>
          <a:bodyPr>
            <a:normAutofit/>
          </a:bodyPr>
          <a:lstStyle/>
          <a:p>
            <a:pPr fontAlgn="base">
              <a:lnSpc>
                <a:spcPct val="90%"/>
              </a:lnSpc>
            </a:pPr>
            <a:r>
              <a:rPr lang="en-US" dirty="0"/>
              <a:t>Composition is better than inheritance</a:t>
            </a:r>
            <a:br>
              <a:rPr lang="en-US" dirty="0"/>
            </a:br>
            <a:br>
              <a:rPr lang="en-US" dirty="0"/>
            </a:b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0D9514-40A1-DC7B-9C21-DF86DEA9A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168" y="993228"/>
            <a:ext cx="6720840" cy="4935981"/>
          </a:xfrm>
        </p:spPr>
        <p:txBody>
          <a:bodyPr>
            <a:normAutofit/>
          </a:bodyPr>
          <a:lstStyle/>
          <a:p>
            <a:pPr fontAlgn="base">
              <a:lnSpc>
                <a:spcPct val="100%"/>
              </a:lnSpc>
            </a:pPr>
            <a:r>
              <a:rPr lang="es-ES" sz="500" b="1" dirty="0" err="1"/>
              <a:t>Bad</a:t>
            </a:r>
            <a:r>
              <a:rPr lang="es-ES" sz="500" b="1" dirty="0"/>
              <a:t> </a:t>
            </a:r>
            <a:r>
              <a:rPr lang="es-ES" sz="500" b="1" dirty="0" err="1"/>
              <a:t>way</a:t>
            </a:r>
            <a:r>
              <a:rPr lang="es-ES" sz="500" b="1" dirty="0"/>
              <a:t>:</a:t>
            </a:r>
            <a:endParaRPr lang="es-ES" sz="500" dirty="0"/>
          </a:p>
          <a:p>
            <a:pPr fontAlgn="base">
              <a:lnSpc>
                <a:spcPct val="100%"/>
              </a:lnSpc>
            </a:pPr>
            <a:r>
              <a:rPr lang="es-ES" sz="500" dirty="0" err="1"/>
              <a:t>class</a:t>
            </a:r>
            <a:r>
              <a:rPr lang="es-ES" sz="500" dirty="0"/>
              <a:t> Car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private</a:t>
            </a:r>
            <a:r>
              <a:rPr lang="es-ES" sz="500" dirty="0"/>
              <a:t> 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Model</a:t>
            </a:r>
            <a:r>
              <a:rPr lang="es-ES" sz="500" dirty="0"/>
              <a:t> { </a:t>
            </a:r>
            <a:r>
              <a:rPr lang="es-ES" sz="500" dirty="0" err="1"/>
              <a:t>get</a:t>
            </a:r>
            <a:r>
              <a:rPr lang="es-ES" sz="500" dirty="0"/>
              <a:t>; set;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private</a:t>
            </a:r>
            <a:r>
              <a:rPr lang="es-ES" sz="500" dirty="0"/>
              <a:t> </a:t>
            </a:r>
            <a:r>
              <a:rPr lang="es-ES" sz="500" dirty="0" err="1"/>
              <a:t>string</a:t>
            </a:r>
            <a:r>
              <a:rPr lang="es-ES" sz="500" dirty="0"/>
              <a:t> Brand { </a:t>
            </a:r>
            <a:r>
              <a:rPr lang="es-ES" sz="500" dirty="0" err="1"/>
              <a:t>get</a:t>
            </a:r>
            <a:r>
              <a:rPr lang="es-ES" sz="500" dirty="0"/>
              <a:t>; set;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public</a:t>
            </a:r>
            <a:r>
              <a:rPr lang="es-ES" sz="500" dirty="0"/>
              <a:t> Car(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model</a:t>
            </a:r>
            <a:r>
              <a:rPr lang="es-ES" sz="500" dirty="0"/>
              <a:t>, 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brand</a:t>
            </a:r>
            <a:r>
              <a:rPr lang="es-ES" sz="500" dirty="0"/>
              <a:t>)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</a:t>
            </a:r>
            <a:r>
              <a:rPr lang="es-ES" sz="500" dirty="0" err="1"/>
              <a:t>Model</a:t>
            </a:r>
            <a:r>
              <a:rPr lang="es-ES" sz="500" dirty="0"/>
              <a:t> = </a:t>
            </a:r>
            <a:r>
              <a:rPr lang="es-ES" sz="500" dirty="0" err="1"/>
              <a:t>model</a:t>
            </a:r>
            <a:r>
              <a:rPr lang="es-ES" sz="500" dirty="0"/>
              <a:t>;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Brand = </a:t>
            </a:r>
            <a:r>
              <a:rPr lang="es-ES" sz="500" dirty="0" err="1"/>
              <a:t>brand</a:t>
            </a:r>
            <a:r>
              <a:rPr lang="es-ES" sz="500" dirty="0"/>
              <a:t>;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// ...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// </a:t>
            </a:r>
            <a:r>
              <a:rPr lang="es-ES" sz="500" dirty="0" err="1"/>
              <a:t>Bad</a:t>
            </a:r>
            <a:r>
              <a:rPr lang="es-ES" sz="500" dirty="0"/>
              <a:t> </a:t>
            </a:r>
            <a:r>
              <a:rPr lang="es-ES" sz="500" dirty="0" err="1"/>
              <a:t>because</a:t>
            </a:r>
            <a:r>
              <a:rPr lang="es-ES" sz="500" dirty="0"/>
              <a:t> Car "have" </a:t>
            </a:r>
            <a:r>
              <a:rPr lang="es-ES" sz="500" dirty="0" err="1"/>
              <a:t>engine</a:t>
            </a:r>
            <a:r>
              <a:rPr lang="es-ES" sz="500" dirty="0"/>
              <a:t> data.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// </a:t>
            </a:r>
            <a:r>
              <a:rPr lang="es-ES" sz="500" dirty="0" err="1"/>
              <a:t>CarEngineData</a:t>
            </a:r>
            <a:r>
              <a:rPr lang="es-ES" sz="500" dirty="0"/>
              <a:t> </a:t>
            </a:r>
            <a:r>
              <a:rPr lang="es-ES" sz="500" dirty="0" err="1"/>
              <a:t>is</a:t>
            </a:r>
            <a:r>
              <a:rPr lang="es-ES" sz="500" dirty="0"/>
              <a:t> </a:t>
            </a:r>
            <a:r>
              <a:rPr lang="es-ES" sz="500" dirty="0" err="1"/>
              <a:t>not</a:t>
            </a:r>
            <a:r>
              <a:rPr lang="es-ES" sz="500" dirty="0"/>
              <a:t> a </a:t>
            </a:r>
            <a:r>
              <a:rPr lang="es-ES" sz="500" dirty="0" err="1"/>
              <a:t>type</a:t>
            </a:r>
            <a:r>
              <a:rPr lang="es-ES" sz="500" dirty="0"/>
              <a:t> </a:t>
            </a:r>
            <a:r>
              <a:rPr lang="es-ES" sz="500" dirty="0" err="1"/>
              <a:t>of</a:t>
            </a:r>
            <a:r>
              <a:rPr lang="es-ES" sz="500" dirty="0"/>
              <a:t> Car</a:t>
            </a:r>
          </a:p>
          <a:p>
            <a:pPr fontAlgn="base">
              <a:lnSpc>
                <a:spcPct val="100%"/>
              </a:lnSpc>
            </a:pPr>
            <a:r>
              <a:rPr lang="es-ES" sz="500" dirty="0" err="1"/>
              <a:t>class</a:t>
            </a:r>
            <a:r>
              <a:rPr lang="es-ES" sz="500" dirty="0"/>
              <a:t> </a:t>
            </a:r>
            <a:r>
              <a:rPr lang="es-ES" sz="500" dirty="0" err="1"/>
              <a:t>CarEngineData</a:t>
            </a:r>
            <a:r>
              <a:rPr lang="es-ES" sz="500" dirty="0"/>
              <a:t> : Car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</a:t>
            </a:r>
            <a:r>
              <a:rPr lang="es-ES" sz="500" dirty="0" err="1"/>
              <a:t>private</a:t>
            </a:r>
            <a:r>
              <a:rPr lang="es-ES" sz="500" dirty="0"/>
              <a:t> 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Model</a:t>
            </a:r>
            <a:r>
              <a:rPr lang="es-ES" sz="500" dirty="0"/>
              <a:t> { </a:t>
            </a:r>
            <a:r>
              <a:rPr lang="es-ES" sz="500" dirty="0" err="1"/>
              <a:t>get</a:t>
            </a:r>
            <a:r>
              <a:rPr lang="es-ES" sz="500" dirty="0"/>
              <a:t>; set;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</a:t>
            </a:r>
            <a:r>
              <a:rPr lang="es-ES" sz="500" dirty="0" err="1"/>
              <a:t>private</a:t>
            </a:r>
            <a:r>
              <a:rPr lang="es-ES" sz="500" dirty="0"/>
              <a:t> </a:t>
            </a:r>
            <a:r>
              <a:rPr lang="es-ES" sz="500" dirty="0" err="1"/>
              <a:t>string</a:t>
            </a:r>
            <a:r>
              <a:rPr lang="es-ES" sz="500" dirty="0"/>
              <a:t> Brand { </a:t>
            </a:r>
            <a:r>
              <a:rPr lang="es-ES" sz="500" dirty="0" err="1"/>
              <a:t>get</a:t>
            </a:r>
            <a:r>
              <a:rPr lang="es-ES" sz="500" dirty="0"/>
              <a:t>; set;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</a:t>
            </a:r>
            <a:r>
              <a:rPr lang="es-ES" sz="500" dirty="0" err="1"/>
              <a:t>public</a:t>
            </a:r>
            <a:r>
              <a:rPr lang="es-ES" sz="500" dirty="0"/>
              <a:t> </a:t>
            </a:r>
            <a:r>
              <a:rPr lang="es-ES" sz="500" dirty="0" err="1"/>
              <a:t>CarEngineData</a:t>
            </a:r>
            <a:r>
              <a:rPr lang="es-ES" sz="500" dirty="0"/>
              <a:t>(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model</a:t>
            </a:r>
            <a:r>
              <a:rPr lang="es-ES" sz="500" dirty="0"/>
              <a:t>, 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brand</a:t>
            </a:r>
            <a:r>
              <a:rPr lang="es-ES" sz="500" dirty="0"/>
              <a:t>, 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displacement</a:t>
            </a:r>
            <a:r>
              <a:rPr lang="es-ES" sz="500" dirty="0"/>
              <a:t>, 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horses</a:t>
            </a:r>
            <a:r>
              <a:rPr lang="es-ES" sz="500" dirty="0"/>
              <a:t>)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 // ...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// ...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}</a:t>
            </a:r>
          </a:p>
          <a:p>
            <a:pPr>
              <a:lnSpc>
                <a:spcPct val="100%"/>
              </a:lnSpc>
            </a:pPr>
            <a:endParaRPr lang="es-ES" sz="500" dirty="0"/>
          </a:p>
        </p:txBody>
      </p:sp>
    </p:spTree>
    <p:extLst>
      <p:ext uri="{BB962C8B-B14F-4D97-AF65-F5344CB8AC3E}">
        <p14:creationId xmlns:p14="http://schemas.microsoft.com/office/powerpoint/2010/main" val="3426995271"/>
      </p:ext>
    </p:extLst>
  </p:cSld>
  <p:clrMapOvr>
    <a:masterClrMapping/>
  </p:clrMapOvr>
</p:sld>
</file>

<file path=ppt/slides/slide18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8BDE27-07F4-DCC3-F6C0-62CB6E292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00%"/>
              </a:lnSpc>
              <a:buNone/>
            </a:pPr>
            <a:r>
              <a:rPr lang="es-ES" sz="1400" b="1" dirty="0"/>
              <a:t>Good </a:t>
            </a:r>
            <a:r>
              <a:rPr lang="es-ES" sz="1400" b="1" dirty="0" err="1"/>
              <a:t>way</a:t>
            </a:r>
            <a:r>
              <a:rPr lang="es-ES" sz="1400" b="1" dirty="0"/>
              <a:t>:</a:t>
            </a:r>
            <a:endParaRPr lang="es-ES" sz="14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 err="1"/>
              <a:t>class</a:t>
            </a:r>
            <a:r>
              <a:rPr lang="es-ES" sz="1400" dirty="0"/>
              <a:t> </a:t>
            </a:r>
            <a:r>
              <a:rPr lang="es-ES" sz="1400" dirty="0" err="1"/>
              <a:t>CarEngineData</a:t>
            </a:r>
            <a:endParaRPr lang="es-ES" sz="14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/>
              <a:t>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/>
              <a:t>    </a:t>
            </a:r>
            <a:r>
              <a:rPr lang="es-ES" sz="1400" dirty="0" err="1"/>
              <a:t>public</a:t>
            </a:r>
            <a:r>
              <a:rPr lang="es-ES" sz="1400" dirty="0"/>
              <a:t> </a:t>
            </a:r>
            <a:r>
              <a:rPr lang="es-ES" sz="1400" dirty="0" err="1"/>
              <a:t>string</a:t>
            </a:r>
            <a:r>
              <a:rPr lang="es-ES" sz="1400" dirty="0"/>
              <a:t> </a:t>
            </a:r>
            <a:r>
              <a:rPr lang="es-ES" sz="1400" dirty="0" err="1"/>
              <a:t>Displacement</a:t>
            </a:r>
            <a:r>
              <a:rPr lang="es-ES" sz="1400" dirty="0"/>
              <a:t> { </a:t>
            </a:r>
            <a:r>
              <a:rPr lang="es-ES" sz="1400" dirty="0" err="1"/>
              <a:t>get</a:t>
            </a:r>
            <a:r>
              <a:rPr lang="es-ES" sz="1400" dirty="0"/>
              <a:t>; 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/>
              <a:t>    </a:t>
            </a:r>
            <a:r>
              <a:rPr lang="es-ES" sz="1400" dirty="0" err="1"/>
              <a:t>public</a:t>
            </a:r>
            <a:r>
              <a:rPr lang="es-ES" sz="1400" dirty="0"/>
              <a:t> </a:t>
            </a:r>
            <a:r>
              <a:rPr lang="es-ES" sz="1400" dirty="0" err="1"/>
              <a:t>string</a:t>
            </a:r>
            <a:r>
              <a:rPr lang="es-ES" sz="1400" dirty="0"/>
              <a:t> </a:t>
            </a:r>
            <a:r>
              <a:rPr lang="es-ES" sz="1400" dirty="0" err="1"/>
              <a:t>Horses</a:t>
            </a:r>
            <a:r>
              <a:rPr lang="es-ES" sz="1400" dirty="0"/>
              <a:t> { </a:t>
            </a:r>
            <a:r>
              <a:rPr lang="es-ES" sz="1400" dirty="0" err="1"/>
              <a:t>get</a:t>
            </a:r>
            <a:r>
              <a:rPr lang="es-ES" sz="1400" dirty="0"/>
              <a:t>; }</a:t>
            </a:r>
          </a:p>
          <a:p>
            <a:pPr marL="0" indent="0" fontAlgn="base">
              <a:lnSpc>
                <a:spcPct val="100%"/>
              </a:lnSpc>
              <a:buNone/>
            </a:pPr>
            <a:endParaRPr lang="es-ES" sz="14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/>
              <a:t>    </a:t>
            </a:r>
            <a:r>
              <a:rPr lang="es-ES" sz="1400" dirty="0" err="1"/>
              <a:t>public</a:t>
            </a:r>
            <a:r>
              <a:rPr lang="es-ES" sz="1400" dirty="0"/>
              <a:t> </a:t>
            </a:r>
            <a:r>
              <a:rPr lang="es-ES" sz="1400" dirty="0" err="1"/>
              <a:t>EmployeeTaxData</a:t>
            </a:r>
            <a:r>
              <a:rPr lang="es-ES" sz="1400" dirty="0"/>
              <a:t>(</a:t>
            </a:r>
            <a:r>
              <a:rPr lang="es-ES" sz="1400" dirty="0" err="1"/>
              <a:t>string</a:t>
            </a:r>
            <a:r>
              <a:rPr lang="es-ES" sz="1400" dirty="0"/>
              <a:t> </a:t>
            </a:r>
            <a:r>
              <a:rPr lang="es-ES" sz="1400" dirty="0" err="1"/>
              <a:t>displacement</a:t>
            </a:r>
            <a:r>
              <a:rPr lang="es-ES" sz="1400" dirty="0"/>
              <a:t>, </a:t>
            </a:r>
            <a:r>
              <a:rPr lang="es-ES" sz="1400" dirty="0" err="1"/>
              <a:t>string</a:t>
            </a:r>
            <a:r>
              <a:rPr lang="es-ES" sz="1400" dirty="0"/>
              <a:t> </a:t>
            </a:r>
            <a:r>
              <a:rPr lang="es-ES" sz="1400" dirty="0" err="1"/>
              <a:t>horses</a:t>
            </a:r>
            <a:r>
              <a:rPr lang="es-ES" sz="1400" dirty="0"/>
              <a:t>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/>
              <a:t>   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/>
              <a:t>        </a:t>
            </a:r>
            <a:r>
              <a:rPr lang="es-ES" sz="1400" dirty="0" err="1"/>
              <a:t>Displacement</a:t>
            </a:r>
            <a:r>
              <a:rPr lang="es-ES" sz="1400" dirty="0"/>
              <a:t> = </a:t>
            </a:r>
            <a:r>
              <a:rPr lang="es-ES" sz="1400" dirty="0" err="1"/>
              <a:t>displacement</a:t>
            </a:r>
            <a:r>
              <a:rPr lang="es-ES" sz="1400" dirty="0"/>
              <a:t>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/>
              <a:t>        </a:t>
            </a:r>
            <a:r>
              <a:rPr lang="es-ES" sz="1400" dirty="0" err="1"/>
              <a:t>Horses</a:t>
            </a:r>
            <a:r>
              <a:rPr lang="es-ES" sz="1400" dirty="0"/>
              <a:t> = </a:t>
            </a:r>
            <a:r>
              <a:rPr lang="es-ES" sz="1400" dirty="0" err="1"/>
              <a:t>horses</a:t>
            </a:r>
            <a:r>
              <a:rPr lang="es-ES" sz="1400" dirty="0"/>
              <a:t>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/>
              <a:t>    }</a:t>
            </a:r>
          </a:p>
          <a:p>
            <a:pPr marL="0" indent="0" fontAlgn="base">
              <a:lnSpc>
                <a:spcPct val="100%"/>
              </a:lnSpc>
              <a:buNone/>
            </a:pPr>
            <a:endParaRPr lang="es-ES" sz="14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/>
              <a:t>    // ...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400" dirty="0"/>
              <a:t>}</a:t>
            </a:r>
          </a:p>
          <a:p>
            <a:pPr>
              <a:lnSpc>
                <a:spcPct val="100%"/>
              </a:lnSpc>
            </a:pP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2418310771"/>
      </p:ext>
    </p:extLst>
  </p:cSld>
  <p:clrMapOvr>
    <a:masterClrMapping/>
  </p:clrMapOvr>
</p:sld>
</file>

<file path=ppt/slides/slide19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263B4418-9F60-43D9-9944-573AF81B0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AD98CF-6BAB-4CCA-5F42-0BC0E6C3F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fontAlgn="base">
              <a:lnSpc>
                <a:spcPct val="100%"/>
              </a:lnSpc>
            </a:pPr>
            <a:endParaRPr lang="es-ES" sz="8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 err="1"/>
              <a:t>class</a:t>
            </a:r>
            <a:r>
              <a:rPr lang="es-ES" sz="800" dirty="0"/>
              <a:t> Car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</a:t>
            </a:r>
            <a:r>
              <a:rPr lang="es-ES" sz="800" dirty="0" err="1"/>
              <a:t>public</a:t>
            </a:r>
            <a:r>
              <a:rPr lang="es-ES" sz="800" dirty="0"/>
              <a:t> </a:t>
            </a:r>
            <a:r>
              <a:rPr lang="es-ES" sz="800" dirty="0" err="1"/>
              <a:t>string</a:t>
            </a:r>
            <a:r>
              <a:rPr lang="es-ES" sz="800" dirty="0"/>
              <a:t> </a:t>
            </a:r>
            <a:r>
              <a:rPr lang="es-ES" sz="800" dirty="0" err="1"/>
              <a:t>Model</a:t>
            </a:r>
            <a:r>
              <a:rPr lang="es-ES" sz="800" dirty="0"/>
              <a:t> { </a:t>
            </a:r>
            <a:r>
              <a:rPr lang="es-ES" sz="800" dirty="0" err="1"/>
              <a:t>get</a:t>
            </a:r>
            <a:r>
              <a:rPr lang="es-ES" sz="800" dirty="0"/>
              <a:t>; 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</a:t>
            </a:r>
            <a:r>
              <a:rPr lang="es-ES" sz="800" dirty="0" err="1"/>
              <a:t>public</a:t>
            </a:r>
            <a:r>
              <a:rPr lang="es-ES" sz="800" dirty="0"/>
              <a:t> </a:t>
            </a:r>
            <a:r>
              <a:rPr lang="es-ES" sz="800" dirty="0" err="1"/>
              <a:t>string</a:t>
            </a:r>
            <a:r>
              <a:rPr lang="es-ES" sz="800" dirty="0"/>
              <a:t> Brand { </a:t>
            </a:r>
            <a:r>
              <a:rPr lang="es-ES" sz="800" dirty="0" err="1"/>
              <a:t>get</a:t>
            </a:r>
            <a:r>
              <a:rPr lang="es-ES" sz="800" dirty="0"/>
              <a:t>; 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</a:t>
            </a:r>
            <a:r>
              <a:rPr lang="es-ES" sz="800" dirty="0" err="1"/>
              <a:t>public</a:t>
            </a:r>
            <a:r>
              <a:rPr lang="es-ES" sz="800" dirty="0"/>
              <a:t> </a:t>
            </a:r>
            <a:r>
              <a:rPr lang="es-ES" sz="800" dirty="0" err="1"/>
              <a:t>CarEngineData</a:t>
            </a:r>
            <a:r>
              <a:rPr lang="es-ES" sz="800" dirty="0"/>
              <a:t> </a:t>
            </a:r>
            <a:r>
              <a:rPr lang="es-ES" sz="800" dirty="0" err="1"/>
              <a:t>EngineData</a:t>
            </a:r>
            <a:r>
              <a:rPr lang="es-ES" sz="800" dirty="0"/>
              <a:t> { </a:t>
            </a:r>
            <a:r>
              <a:rPr lang="es-ES" sz="800" dirty="0" err="1"/>
              <a:t>get</a:t>
            </a:r>
            <a:r>
              <a:rPr lang="es-ES" sz="800" dirty="0"/>
              <a:t>; }</a:t>
            </a:r>
          </a:p>
          <a:p>
            <a:pPr marL="0" indent="0" fontAlgn="base">
              <a:lnSpc>
                <a:spcPct val="100%"/>
              </a:lnSpc>
              <a:buNone/>
            </a:pPr>
            <a:endParaRPr lang="es-ES" sz="8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</a:t>
            </a:r>
            <a:r>
              <a:rPr lang="es-ES" sz="800" dirty="0" err="1"/>
              <a:t>public</a:t>
            </a:r>
            <a:r>
              <a:rPr lang="es-ES" sz="800" dirty="0"/>
              <a:t> Car(</a:t>
            </a:r>
            <a:r>
              <a:rPr lang="es-ES" sz="800" dirty="0" err="1"/>
              <a:t>string</a:t>
            </a:r>
            <a:r>
              <a:rPr lang="es-ES" sz="800" dirty="0"/>
              <a:t> </a:t>
            </a:r>
            <a:r>
              <a:rPr lang="es-ES" sz="800" dirty="0" err="1"/>
              <a:t>model</a:t>
            </a:r>
            <a:r>
              <a:rPr lang="es-ES" sz="800" dirty="0"/>
              <a:t>, </a:t>
            </a:r>
            <a:r>
              <a:rPr lang="es-ES" sz="800" dirty="0" err="1"/>
              <a:t>string</a:t>
            </a:r>
            <a:r>
              <a:rPr lang="es-ES" sz="800" dirty="0"/>
              <a:t> </a:t>
            </a:r>
            <a:r>
              <a:rPr lang="es-ES" sz="800" dirty="0" err="1"/>
              <a:t>brand</a:t>
            </a:r>
            <a:r>
              <a:rPr lang="es-ES" sz="800" dirty="0"/>
              <a:t>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</a:t>
            </a:r>
            <a:r>
              <a:rPr lang="es-ES" sz="800" dirty="0" err="1"/>
              <a:t>Model</a:t>
            </a:r>
            <a:r>
              <a:rPr lang="es-ES" sz="800" dirty="0"/>
              <a:t> = </a:t>
            </a:r>
            <a:r>
              <a:rPr lang="es-ES" sz="800" dirty="0" err="1"/>
              <a:t>model</a:t>
            </a:r>
            <a:r>
              <a:rPr lang="es-ES" sz="800" dirty="0"/>
              <a:t>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Brand = </a:t>
            </a:r>
            <a:r>
              <a:rPr lang="es-ES" sz="800" dirty="0" err="1"/>
              <a:t>brand</a:t>
            </a:r>
            <a:r>
              <a:rPr lang="es-ES" sz="800" dirty="0"/>
              <a:t>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}</a:t>
            </a:r>
          </a:p>
          <a:p>
            <a:pPr marL="0" indent="0" fontAlgn="base">
              <a:lnSpc>
                <a:spcPct val="100%"/>
              </a:lnSpc>
              <a:buNone/>
            </a:pPr>
            <a:endParaRPr lang="es-ES" sz="8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</a:t>
            </a:r>
            <a:r>
              <a:rPr lang="es-ES" sz="800" dirty="0" err="1"/>
              <a:t>public</a:t>
            </a:r>
            <a:r>
              <a:rPr lang="es-ES" sz="800" dirty="0"/>
              <a:t> </a:t>
            </a:r>
            <a:r>
              <a:rPr lang="es-ES" sz="800" dirty="0" err="1"/>
              <a:t>void</a:t>
            </a:r>
            <a:r>
              <a:rPr lang="es-ES" sz="800" dirty="0"/>
              <a:t> </a:t>
            </a:r>
            <a:r>
              <a:rPr lang="es-ES" sz="800" dirty="0" err="1"/>
              <a:t>SetEngine</a:t>
            </a:r>
            <a:r>
              <a:rPr lang="es-ES" sz="800" dirty="0"/>
              <a:t>(</a:t>
            </a:r>
            <a:r>
              <a:rPr lang="es-ES" sz="800" dirty="0" err="1"/>
              <a:t>string</a:t>
            </a:r>
            <a:r>
              <a:rPr lang="es-ES" sz="800" dirty="0"/>
              <a:t> </a:t>
            </a:r>
            <a:r>
              <a:rPr lang="es-ES" sz="800" dirty="0" err="1"/>
              <a:t>displacement</a:t>
            </a:r>
            <a:r>
              <a:rPr lang="es-ES" sz="800" dirty="0"/>
              <a:t>, </a:t>
            </a:r>
            <a:r>
              <a:rPr lang="es-ES" sz="800" dirty="0" err="1"/>
              <a:t>double</a:t>
            </a:r>
            <a:r>
              <a:rPr lang="es-ES" sz="800" dirty="0"/>
              <a:t> </a:t>
            </a:r>
            <a:r>
              <a:rPr lang="es-ES" sz="800" dirty="0" err="1"/>
              <a:t>horses</a:t>
            </a:r>
            <a:r>
              <a:rPr lang="es-ES" sz="800" dirty="0"/>
              <a:t>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</a:t>
            </a:r>
            <a:r>
              <a:rPr lang="es-ES" sz="800" dirty="0" err="1"/>
              <a:t>EngineData</a:t>
            </a:r>
            <a:r>
              <a:rPr lang="es-ES" sz="800" dirty="0"/>
              <a:t> = new </a:t>
            </a:r>
            <a:r>
              <a:rPr lang="es-ES" sz="800" dirty="0" err="1"/>
              <a:t>CarEngineData</a:t>
            </a:r>
            <a:r>
              <a:rPr lang="es-ES" sz="800" dirty="0"/>
              <a:t>(</a:t>
            </a:r>
            <a:r>
              <a:rPr lang="es-ES" sz="800" dirty="0" err="1"/>
              <a:t>displacement</a:t>
            </a:r>
            <a:r>
              <a:rPr lang="es-ES" sz="800" dirty="0"/>
              <a:t>, </a:t>
            </a:r>
            <a:r>
              <a:rPr lang="es-ES" sz="800" dirty="0" err="1"/>
              <a:t>horses</a:t>
            </a:r>
            <a:r>
              <a:rPr lang="es-ES" sz="800" dirty="0"/>
              <a:t>);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}</a:t>
            </a:r>
          </a:p>
          <a:p>
            <a:pPr marL="0" indent="0" fontAlgn="base">
              <a:lnSpc>
                <a:spcPct val="100%"/>
              </a:lnSpc>
              <a:buNone/>
            </a:pPr>
            <a:endParaRPr lang="es-ES" sz="8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// ...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}</a:t>
            </a:r>
          </a:p>
          <a:p>
            <a:pPr>
              <a:lnSpc>
                <a:spcPct val="100%"/>
              </a:lnSpc>
            </a:pPr>
            <a:endParaRPr lang="es-ES" sz="800" dirty="0"/>
          </a:p>
        </p:txBody>
      </p:sp>
    </p:spTree>
    <p:extLst>
      <p:ext uri="{BB962C8B-B14F-4D97-AF65-F5344CB8AC3E}">
        <p14:creationId xmlns:p14="http://schemas.microsoft.com/office/powerpoint/2010/main" val="3297385506"/>
      </p:ext>
    </p:extLst>
  </p:cSld>
  <p:clrMapOvr>
    <a:masterClrMapping/>
  </p:clrMapOvr>
</p:sld>
</file>

<file path=ppt/slides/slide2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1F0C6-C73A-39C0-4E23-A2873E22D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%"/>
          </a:bodyPr>
          <a:lstStyle/>
          <a:p>
            <a:pPr fontAlgn="base"/>
            <a:r>
              <a:rPr lang="es-ES" dirty="0" err="1"/>
              <a:t>Don’t</a:t>
            </a:r>
            <a:r>
              <a:rPr lang="es-ES" dirty="0"/>
              <a:t> use </a:t>
            </a:r>
            <a:r>
              <a:rPr lang="es-ES" dirty="0" err="1"/>
              <a:t>magic</a:t>
            </a:r>
            <a:r>
              <a:rPr lang="es-ES" dirty="0"/>
              <a:t> </a:t>
            </a:r>
            <a:r>
              <a:rPr lang="es-ES" dirty="0" err="1"/>
              <a:t>chains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1C8957-9F64-CDA9-68F5-D9F274333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%" lnSpcReduction="20%"/>
          </a:bodyPr>
          <a:lstStyle/>
          <a:p>
            <a:pPr marL="0" indent="0" fontAlgn="base">
              <a:buNone/>
            </a:pPr>
            <a:r>
              <a:rPr lang="en-US" b="1" dirty="0"/>
              <a:t>Bad way: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if (</a:t>
            </a:r>
            <a:r>
              <a:rPr lang="en-US" dirty="0" err="1"/>
              <a:t>userRole</a:t>
            </a:r>
            <a:r>
              <a:rPr lang="en-US" dirty="0"/>
              <a:t> == "Admin")</a:t>
            </a:r>
          </a:p>
          <a:p>
            <a:pPr marL="0" indent="0" fontAlgn="base">
              <a:buNone/>
            </a:pPr>
            <a:r>
              <a:rPr lang="en-US" dirty="0"/>
              <a:t>{</a:t>
            </a:r>
          </a:p>
          <a:p>
            <a:pPr marL="0" indent="0" fontAlgn="base">
              <a:buNone/>
            </a:pPr>
            <a:r>
              <a:rPr lang="en-US" dirty="0"/>
              <a:t>    // logic in here</a:t>
            </a:r>
          </a:p>
          <a:p>
            <a:pPr marL="0" indent="0" fontAlgn="base">
              <a:buNone/>
            </a:pPr>
            <a:r>
              <a:rPr lang="en-US" dirty="0"/>
              <a:t>}</a:t>
            </a:r>
          </a:p>
          <a:p>
            <a:pPr marL="0" indent="0" fontAlgn="base">
              <a:buNone/>
            </a:pPr>
            <a:r>
              <a:rPr lang="en-US" b="1" dirty="0"/>
              <a:t>Good way: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const string ADMIN_ROLE = "Admin"</a:t>
            </a:r>
          </a:p>
          <a:p>
            <a:pPr marL="0" indent="0" fontAlgn="base">
              <a:buNone/>
            </a:pPr>
            <a:r>
              <a:rPr lang="en-US" dirty="0"/>
              <a:t>if (</a:t>
            </a:r>
            <a:r>
              <a:rPr lang="en-US" dirty="0" err="1"/>
              <a:t>userRole</a:t>
            </a:r>
            <a:r>
              <a:rPr lang="en-US" dirty="0"/>
              <a:t> == ADMIN_ROLE)</a:t>
            </a:r>
          </a:p>
          <a:p>
            <a:pPr marL="0" indent="0" fontAlgn="base">
              <a:buNone/>
            </a:pPr>
            <a:r>
              <a:rPr lang="en-US" dirty="0"/>
              <a:t>{</a:t>
            </a:r>
          </a:p>
          <a:p>
            <a:pPr marL="0" indent="0" fontAlgn="base">
              <a:buNone/>
            </a:pPr>
            <a:r>
              <a:rPr lang="en-US" dirty="0"/>
              <a:t>    // logic in here</a:t>
            </a:r>
          </a:p>
          <a:p>
            <a:pPr marL="0" indent="0" fontAlgn="base">
              <a:buNone/>
            </a:pPr>
            <a:r>
              <a:rPr lang="en-US" dirty="0"/>
              <a:t>}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52710281"/>
      </p:ext>
    </p:extLst>
  </p:cSld>
  <p:clrMapOvr>
    <a:masterClrMapping/>
  </p:clrMapOvr>
</p:sld>
</file>

<file path=ppt/slides/slide21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161EADB5-CFC9-675B-1438-486D6BD0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pPr fontAlgn="base"/>
            <a:r>
              <a:rPr lang="es-ES" sz="3600"/>
              <a:t>Limiting function arguments</a:t>
            </a:r>
            <a:br>
              <a:rPr lang="es-ES" sz="3600"/>
            </a:br>
            <a:br>
              <a:rPr lang="es-ES" sz="3600"/>
            </a:br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9E86A9-0FEE-E429-3826-CE058B60D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fontAlgn="base">
              <a:lnSpc>
                <a:spcPct val="100%"/>
              </a:lnSpc>
            </a:pPr>
            <a:r>
              <a:rPr lang="es-ES" sz="500" b="1" dirty="0" err="1"/>
              <a:t>Bad</a:t>
            </a:r>
            <a:r>
              <a:rPr lang="es-ES" sz="500" b="1" dirty="0"/>
              <a:t> </a:t>
            </a:r>
            <a:r>
              <a:rPr lang="es-ES" sz="500" b="1" dirty="0" err="1"/>
              <a:t>way</a:t>
            </a:r>
            <a:r>
              <a:rPr lang="es-ES" sz="500" b="1" dirty="0"/>
              <a:t>:</a:t>
            </a:r>
            <a:endParaRPr lang="es-ES" sz="500" dirty="0"/>
          </a:p>
          <a:p>
            <a:pPr fontAlgn="base">
              <a:lnSpc>
                <a:spcPct val="100%"/>
              </a:lnSpc>
            </a:pPr>
            <a:r>
              <a:rPr lang="es-ES" sz="500" dirty="0" err="1"/>
              <a:t>public</a:t>
            </a:r>
            <a:r>
              <a:rPr lang="es-ES" sz="500" dirty="0"/>
              <a:t> </a:t>
            </a:r>
            <a:r>
              <a:rPr lang="es-ES" sz="500" dirty="0" err="1"/>
              <a:t>void</a:t>
            </a:r>
            <a:r>
              <a:rPr lang="es-ES" sz="500" dirty="0"/>
              <a:t> </a:t>
            </a:r>
            <a:r>
              <a:rPr lang="es-ES" sz="500" dirty="0" err="1"/>
              <a:t>ProtectApplication</a:t>
            </a:r>
            <a:r>
              <a:rPr lang="es-ES" sz="500" dirty="0"/>
              <a:t>(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path</a:t>
            </a:r>
            <a:r>
              <a:rPr lang="es-ES" sz="500" dirty="0"/>
              <a:t>, 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configurationPath</a:t>
            </a:r>
            <a:r>
              <a:rPr lang="es-ES" sz="500" dirty="0"/>
              <a:t>, 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outPutPath</a:t>
            </a:r>
            <a:r>
              <a:rPr lang="es-ES" sz="500" dirty="0"/>
              <a:t>, </a:t>
            </a:r>
            <a:r>
              <a:rPr lang="es-ES" sz="500" dirty="0" err="1"/>
              <a:t>CancellationToken</a:t>
            </a:r>
            <a:r>
              <a:rPr lang="es-ES" sz="500" dirty="0"/>
              <a:t> </a:t>
            </a:r>
            <a:r>
              <a:rPr lang="es-ES" sz="500" dirty="0" err="1"/>
              <a:t>cancellationToken</a:t>
            </a:r>
            <a:r>
              <a:rPr lang="es-ES" sz="500" dirty="0"/>
              <a:t>)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// ...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}</a:t>
            </a:r>
          </a:p>
          <a:p>
            <a:pPr fontAlgn="base">
              <a:lnSpc>
                <a:spcPct val="100%"/>
              </a:lnSpc>
            </a:pPr>
            <a:r>
              <a:rPr lang="es-ES" sz="500" b="1" dirty="0"/>
              <a:t>Good </a:t>
            </a:r>
            <a:r>
              <a:rPr lang="es-ES" sz="500" b="1" dirty="0" err="1"/>
              <a:t>way</a:t>
            </a:r>
            <a:r>
              <a:rPr lang="es-ES" sz="500" b="1" dirty="0"/>
              <a:t>:</a:t>
            </a:r>
            <a:endParaRPr lang="es-ES" sz="500" dirty="0"/>
          </a:p>
          <a:p>
            <a:pPr fontAlgn="base">
              <a:lnSpc>
                <a:spcPct val="100%"/>
              </a:lnSpc>
            </a:pPr>
            <a:r>
              <a:rPr lang="es-ES" sz="500" dirty="0" err="1"/>
              <a:t>public</a:t>
            </a:r>
            <a:r>
              <a:rPr lang="es-ES" sz="500" dirty="0"/>
              <a:t> </a:t>
            </a:r>
            <a:r>
              <a:rPr lang="es-ES" sz="500" dirty="0" err="1"/>
              <a:t>class</a:t>
            </a:r>
            <a:r>
              <a:rPr lang="es-ES" sz="500" dirty="0"/>
              <a:t> </a:t>
            </a:r>
            <a:r>
              <a:rPr lang="es-ES" sz="500" dirty="0" err="1"/>
              <a:t>ProtectionConfig</a:t>
            </a:r>
            <a:endParaRPr lang="es-ES" sz="500" dirty="0"/>
          </a:p>
          <a:p>
            <a:pPr fontAlgn="base">
              <a:lnSpc>
                <a:spcPct val="100%"/>
              </a:lnSpc>
            </a:pPr>
            <a:r>
              <a:rPr lang="es-ES" sz="500" dirty="0"/>
              <a:t>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public</a:t>
            </a:r>
            <a:r>
              <a:rPr lang="es-ES" sz="500" dirty="0"/>
              <a:t> 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Path</a:t>
            </a:r>
            <a:r>
              <a:rPr lang="es-ES" sz="500" dirty="0"/>
              <a:t> { </a:t>
            </a:r>
            <a:r>
              <a:rPr lang="es-ES" sz="500" dirty="0" err="1"/>
              <a:t>get</a:t>
            </a:r>
            <a:r>
              <a:rPr lang="es-ES" sz="500" dirty="0"/>
              <a:t>; set;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public</a:t>
            </a:r>
            <a:r>
              <a:rPr lang="es-ES" sz="500" dirty="0"/>
              <a:t> 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ConfigurationPath</a:t>
            </a:r>
            <a:r>
              <a:rPr lang="es-ES" sz="500" dirty="0"/>
              <a:t> { </a:t>
            </a:r>
            <a:r>
              <a:rPr lang="es-ES" sz="500" dirty="0" err="1"/>
              <a:t>get</a:t>
            </a:r>
            <a:r>
              <a:rPr lang="es-ES" sz="500" dirty="0"/>
              <a:t>; set;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public</a:t>
            </a:r>
            <a:r>
              <a:rPr lang="es-ES" sz="500" dirty="0"/>
              <a:t> 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OutPutPath</a:t>
            </a:r>
            <a:r>
              <a:rPr lang="es-ES" sz="500" dirty="0"/>
              <a:t> { </a:t>
            </a:r>
            <a:r>
              <a:rPr lang="es-ES" sz="500" dirty="0" err="1"/>
              <a:t>get</a:t>
            </a:r>
            <a:r>
              <a:rPr lang="es-ES" sz="500" dirty="0"/>
              <a:t>; set;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public</a:t>
            </a:r>
            <a:r>
              <a:rPr lang="es-ES" sz="500" dirty="0"/>
              <a:t> </a:t>
            </a:r>
            <a:r>
              <a:rPr lang="es-ES" sz="500" dirty="0" err="1"/>
              <a:t>CancellationToken</a:t>
            </a:r>
            <a:r>
              <a:rPr lang="es-ES" sz="500" dirty="0"/>
              <a:t> </a:t>
            </a:r>
            <a:r>
              <a:rPr lang="es-ES" sz="500" dirty="0" err="1"/>
              <a:t>cancellationToken</a:t>
            </a:r>
            <a:r>
              <a:rPr lang="es-ES" sz="500" dirty="0"/>
              <a:t> { </a:t>
            </a:r>
            <a:r>
              <a:rPr lang="es-ES" sz="500" dirty="0" err="1"/>
              <a:t>get</a:t>
            </a:r>
            <a:r>
              <a:rPr lang="es-ES" sz="500" dirty="0"/>
              <a:t>; set;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}</a:t>
            </a:r>
          </a:p>
          <a:p>
            <a:pPr fontAlgn="base">
              <a:lnSpc>
                <a:spcPct val="100%"/>
              </a:lnSpc>
            </a:pPr>
            <a:r>
              <a:rPr lang="es-ES" sz="500" dirty="0" err="1"/>
              <a:t>var</a:t>
            </a:r>
            <a:r>
              <a:rPr lang="es-ES" sz="500" dirty="0"/>
              <a:t> </a:t>
            </a:r>
            <a:r>
              <a:rPr lang="es-ES" sz="500" dirty="0" err="1"/>
              <a:t>config</a:t>
            </a:r>
            <a:r>
              <a:rPr lang="es-ES" sz="500" dirty="0"/>
              <a:t> = new </a:t>
            </a:r>
            <a:r>
              <a:rPr lang="es-ES" sz="500" dirty="0" err="1"/>
              <a:t>ProtectionConfig</a:t>
            </a:r>
            <a:endParaRPr lang="es-ES" sz="500" dirty="0"/>
          </a:p>
          <a:p>
            <a:pPr fontAlgn="base">
              <a:lnSpc>
                <a:spcPct val="100%"/>
              </a:lnSpc>
            </a:pPr>
            <a:r>
              <a:rPr lang="es-ES" sz="500" dirty="0"/>
              <a:t>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Path</a:t>
            </a:r>
            <a:r>
              <a:rPr lang="es-ES" sz="500" dirty="0"/>
              <a:t> = "./app.exe",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ConfigurationPath</a:t>
            </a:r>
            <a:r>
              <a:rPr lang="es-ES" sz="500" dirty="0"/>
              <a:t> = "./</a:t>
            </a:r>
            <a:r>
              <a:rPr lang="es-ES" sz="500" dirty="0" err="1"/>
              <a:t>shield.config.json</a:t>
            </a:r>
            <a:r>
              <a:rPr lang="es-ES" sz="500" dirty="0"/>
              <a:t>",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OutPutPath</a:t>
            </a:r>
            <a:r>
              <a:rPr lang="es-ES" sz="500" dirty="0"/>
              <a:t> = "./app_protected.exe",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CancellationToken</a:t>
            </a:r>
            <a:r>
              <a:rPr lang="es-ES" sz="500" dirty="0"/>
              <a:t> = </a:t>
            </a:r>
            <a:r>
              <a:rPr lang="es-ES" sz="500" dirty="0" err="1"/>
              <a:t>source.Token</a:t>
            </a:r>
            <a:r>
              <a:rPr lang="es-ES" sz="500" dirty="0"/>
              <a:t>;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};</a:t>
            </a:r>
          </a:p>
          <a:p>
            <a:pPr fontAlgn="base">
              <a:lnSpc>
                <a:spcPct val="100%"/>
              </a:lnSpc>
            </a:pPr>
            <a:r>
              <a:rPr lang="es-ES" sz="500" dirty="0" err="1"/>
              <a:t>public</a:t>
            </a:r>
            <a:r>
              <a:rPr lang="es-ES" sz="500" dirty="0"/>
              <a:t> </a:t>
            </a:r>
            <a:r>
              <a:rPr lang="es-ES" sz="500" dirty="0" err="1"/>
              <a:t>void</a:t>
            </a:r>
            <a:r>
              <a:rPr lang="es-ES" sz="500" dirty="0"/>
              <a:t> </a:t>
            </a:r>
            <a:r>
              <a:rPr lang="es-ES" sz="500" dirty="0" err="1"/>
              <a:t>ProtectApplication</a:t>
            </a:r>
            <a:r>
              <a:rPr lang="es-ES" sz="500" dirty="0"/>
              <a:t>(</a:t>
            </a:r>
            <a:r>
              <a:rPr lang="es-ES" sz="500" dirty="0" err="1"/>
              <a:t>ProtectionConfig</a:t>
            </a:r>
            <a:r>
              <a:rPr lang="es-ES" sz="500" dirty="0"/>
              <a:t> </a:t>
            </a:r>
            <a:r>
              <a:rPr lang="es-ES" sz="500" dirty="0" err="1"/>
              <a:t>config</a:t>
            </a:r>
            <a:r>
              <a:rPr lang="es-ES" sz="500" dirty="0"/>
              <a:t>)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// ...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}</a:t>
            </a:r>
          </a:p>
          <a:p>
            <a:pPr>
              <a:lnSpc>
                <a:spcPct val="100%"/>
              </a:lnSpc>
            </a:pPr>
            <a:endParaRPr lang="es-ES" sz="500" dirty="0"/>
          </a:p>
        </p:txBody>
      </p:sp>
    </p:spTree>
    <p:extLst>
      <p:ext uri="{BB962C8B-B14F-4D97-AF65-F5344CB8AC3E}">
        <p14:creationId xmlns:p14="http://schemas.microsoft.com/office/powerpoint/2010/main" val="1754410830"/>
      </p:ext>
    </p:extLst>
  </p:cSld>
  <p:clrMapOvr>
    <a:masterClrMapping/>
  </p:clrMapOvr>
</p:sld>
</file>

<file path=ppt/slides/slide22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FDA98D85-A733-DCF5-A3F1-665011B2A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pPr fontAlgn="base"/>
            <a:r>
              <a:rPr lang="en-US" sz="3600"/>
              <a:t>Name the functions with what they do</a:t>
            </a:r>
            <a:br>
              <a:rPr lang="en-US" sz="3600"/>
            </a:br>
            <a:br>
              <a:rPr lang="en-US" sz="3600"/>
            </a:br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B982D7-681A-9C6C-EB81-877C52052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00%"/>
              </a:lnSpc>
              <a:buNone/>
            </a:pPr>
            <a:r>
              <a:rPr lang="en-US" sz="1700" b="1" dirty="0"/>
              <a:t>Bad way:</a:t>
            </a:r>
            <a:endParaRPr lang="en-US" sz="17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public class </a:t>
            </a:r>
            <a:r>
              <a:rPr lang="en-US" sz="1700" dirty="0" err="1"/>
              <a:t>SlackNotification</a:t>
            </a:r>
            <a:endParaRPr lang="en-US" sz="17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//...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public void Handle()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    </a:t>
            </a:r>
            <a:r>
              <a:rPr lang="en-US" sz="1700" dirty="0" err="1"/>
              <a:t>SendMessage</a:t>
            </a:r>
            <a:r>
              <a:rPr lang="en-US" sz="1700" dirty="0"/>
              <a:t>(</a:t>
            </a:r>
            <a:r>
              <a:rPr lang="en-US" sz="1700" dirty="0" err="1"/>
              <a:t>this._to</a:t>
            </a:r>
            <a:r>
              <a:rPr lang="en-US" sz="1700" dirty="0"/>
              <a:t>, </a:t>
            </a:r>
            <a:r>
              <a:rPr lang="en-US" sz="1700" dirty="0" err="1"/>
              <a:t>this._files</a:t>
            </a:r>
            <a:r>
              <a:rPr lang="en-US" sz="1700" dirty="0"/>
              <a:t>, </a:t>
            </a:r>
            <a:r>
              <a:rPr lang="en-US" sz="1700" dirty="0" err="1"/>
              <a:t>this._body</a:t>
            </a:r>
            <a:r>
              <a:rPr lang="en-US" sz="1700" dirty="0"/>
              <a:t>);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var message = new </a:t>
            </a:r>
            <a:r>
              <a:rPr lang="en-US" sz="1700" dirty="0" err="1"/>
              <a:t>SlackNotification</a:t>
            </a:r>
            <a:r>
              <a:rPr lang="en-US" sz="1700" dirty="0"/>
              <a:t>(...);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// What is this? A handle for the message? Are we writing to a file now?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 err="1"/>
              <a:t>message.Handle</a:t>
            </a:r>
            <a:r>
              <a:rPr lang="en-US" sz="1700" dirty="0"/>
              <a:t>();</a:t>
            </a:r>
          </a:p>
          <a:p>
            <a:pPr>
              <a:lnSpc>
                <a:spcPct val="100%"/>
              </a:lnSpc>
            </a:pPr>
            <a:endParaRPr lang="es-ES" sz="1700" dirty="0"/>
          </a:p>
        </p:txBody>
      </p:sp>
    </p:spTree>
    <p:extLst>
      <p:ext uri="{BB962C8B-B14F-4D97-AF65-F5344CB8AC3E}">
        <p14:creationId xmlns:p14="http://schemas.microsoft.com/office/powerpoint/2010/main" val="4032441118"/>
      </p:ext>
    </p:extLst>
  </p:cSld>
  <p:clrMapOvr>
    <a:masterClrMapping/>
  </p:clrMapOvr>
</p:sld>
</file>

<file path=ppt/slides/slide23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89C507-DCD1-C802-89A7-ACE160650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00%"/>
              </a:lnSpc>
              <a:buNone/>
            </a:pPr>
            <a:r>
              <a:rPr lang="en-US" sz="1900" b="1" dirty="0"/>
              <a:t>Good way:</a:t>
            </a:r>
            <a:endParaRPr lang="en-US" sz="19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900" dirty="0"/>
              <a:t>public class </a:t>
            </a:r>
            <a:r>
              <a:rPr lang="en-US" sz="1900" dirty="0" err="1"/>
              <a:t>SlackNotification</a:t>
            </a:r>
            <a:endParaRPr lang="en-US" sz="19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900" dirty="0"/>
              <a:t>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900" dirty="0"/>
              <a:t>    //...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900" dirty="0"/>
              <a:t>    public void Send()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900" dirty="0"/>
              <a:t>   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900" dirty="0"/>
              <a:t>        </a:t>
            </a:r>
            <a:r>
              <a:rPr lang="en-US" sz="1900" dirty="0" err="1"/>
              <a:t>SendMessage</a:t>
            </a:r>
            <a:r>
              <a:rPr lang="en-US" sz="1900" dirty="0"/>
              <a:t>(</a:t>
            </a:r>
            <a:r>
              <a:rPr lang="en-US" sz="1900" dirty="0" err="1"/>
              <a:t>this._to</a:t>
            </a:r>
            <a:r>
              <a:rPr lang="en-US" sz="1900" dirty="0"/>
              <a:t>, </a:t>
            </a:r>
            <a:r>
              <a:rPr lang="en-US" sz="1900" dirty="0" err="1"/>
              <a:t>this._files</a:t>
            </a:r>
            <a:r>
              <a:rPr lang="en-US" sz="1900" dirty="0"/>
              <a:t>, </a:t>
            </a:r>
            <a:r>
              <a:rPr lang="en-US" sz="1900" dirty="0" err="1"/>
              <a:t>this._body</a:t>
            </a:r>
            <a:r>
              <a:rPr lang="en-US" sz="1900" dirty="0"/>
              <a:t>);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900" dirty="0"/>
              <a:t>    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900" dirty="0"/>
              <a:t>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900" dirty="0"/>
              <a:t>var message = new </a:t>
            </a:r>
            <a:r>
              <a:rPr lang="en-US" sz="1900" dirty="0" err="1"/>
              <a:t>SlackNotification</a:t>
            </a:r>
            <a:r>
              <a:rPr lang="en-US" sz="1900" dirty="0"/>
              <a:t>(...);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900" dirty="0"/>
              <a:t>// Clear and obvious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900" dirty="0" err="1"/>
              <a:t>message.Send</a:t>
            </a:r>
            <a:r>
              <a:rPr lang="en-US" sz="1900" dirty="0"/>
              <a:t>();</a:t>
            </a:r>
          </a:p>
          <a:p>
            <a:pPr>
              <a:lnSpc>
                <a:spcPct val="100%"/>
              </a:lnSpc>
            </a:pPr>
            <a:endParaRPr lang="es-ES" sz="1900" dirty="0"/>
          </a:p>
        </p:txBody>
      </p:sp>
    </p:spTree>
    <p:extLst>
      <p:ext uri="{BB962C8B-B14F-4D97-AF65-F5344CB8AC3E}">
        <p14:creationId xmlns:p14="http://schemas.microsoft.com/office/powerpoint/2010/main" val="3925958098"/>
      </p:ext>
    </p:extLst>
  </p:cSld>
  <p:clrMapOvr>
    <a:masterClrMapping/>
  </p:clrMapOvr>
</p:sld>
</file>

<file path=ppt/slides/slide24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8026666C-FF76-3FB7-A324-DE2735F3C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pPr fontAlgn="base"/>
            <a:r>
              <a:rPr lang="es-ES" sz="3300"/>
              <a:t>Never save unused code</a:t>
            </a:r>
            <a:br>
              <a:rPr lang="es-ES" sz="3300"/>
            </a:br>
            <a:br>
              <a:rPr lang="es-ES" sz="3300"/>
            </a:br>
            <a:endParaRPr lang="es-ES" sz="33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D42AC3-6C8F-1D0B-5686-C1536143E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00%"/>
              </a:lnSpc>
              <a:buNone/>
            </a:pPr>
            <a:r>
              <a:rPr lang="es-ES" sz="1000" b="1" dirty="0" err="1"/>
              <a:t>Bad</a:t>
            </a:r>
            <a:r>
              <a:rPr lang="es-ES" sz="1000" b="1" dirty="0"/>
              <a:t> </a:t>
            </a:r>
            <a:r>
              <a:rPr lang="es-ES" sz="1000" b="1" dirty="0" err="1"/>
              <a:t>way</a:t>
            </a:r>
            <a:r>
              <a:rPr lang="es-ES" sz="1000" b="1" dirty="0"/>
              <a:t>:</a:t>
            </a:r>
            <a:endParaRPr lang="es-ES" sz="10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 err="1"/>
              <a:t>public</a:t>
            </a:r>
            <a:r>
              <a:rPr lang="es-ES" sz="1000" dirty="0"/>
              <a:t> </a:t>
            </a:r>
            <a:r>
              <a:rPr lang="es-ES" sz="1000" dirty="0" err="1"/>
              <a:t>void</a:t>
            </a:r>
            <a:r>
              <a:rPr lang="es-ES" sz="1000" dirty="0"/>
              <a:t> </a:t>
            </a:r>
            <a:r>
              <a:rPr lang="es-ES" sz="1000" dirty="0" err="1"/>
              <a:t>OldRequestMethod</a:t>
            </a:r>
            <a:r>
              <a:rPr lang="es-ES" sz="1000" dirty="0"/>
              <a:t>(</a:t>
            </a:r>
            <a:r>
              <a:rPr lang="es-ES" sz="1000" dirty="0" err="1"/>
              <a:t>string</a:t>
            </a:r>
            <a:r>
              <a:rPr lang="es-ES" sz="1000" dirty="0"/>
              <a:t> </a:t>
            </a:r>
            <a:r>
              <a:rPr lang="es-ES" sz="1000" dirty="0" err="1"/>
              <a:t>url</a:t>
            </a:r>
            <a:r>
              <a:rPr lang="es-ES" sz="1000" dirty="0"/>
              <a:t>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/>
              <a:t>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/>
              <a:t>    // ...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/>
              <a:t>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 err="1"/>
              <a:t>public</a:t>
            </a:r>
            <a:r>
              <a:rPr lang="es-ES" sz="1000" dirty="0"/>
              <a:t> </a:t>
            </a:r>
            <a:r>
              <a:rPr lang="es-ES" sz="1000" dirty="0" err="1"/>
              <a:t>void</a:t>
            </a:r>
            <a:r>
              <a:rPr lang="es-ES" sz="1000" dirty="0"/>
              <a:t> </a:t>
            </a:r>
            <a:r>
              <a:rPr lang="es-ES" sz="1000" dirty="0" err="1"/>
              <a:t>NewRequestMethod</a:t>
            </a:r>
            <a:r>
              <a:rPr lang="es-ES" sz="1000" dirty="0"/>
              <a:t>(</a:t>
            </a:r>
            <a:r>
              <a:rPr lang="es-ES" sz="1000" dirty="0" err="1"/>
              <a:t>string</a:t>
            </a:r>
            <a:r>
              <a:rPr lang="es-ES" sz="1000" dirty="0"/>
              <a:t> </a:t>
            </a:r>
            <a:r>
              <a:rPr lang="es-ES" sz="1000" dirty="0" err="1"/>
              <a:t>url</a:t>
            </a:r>
            <a:r>
              <a:rPr lang="es-ES" sz="1000" dirty="0"/>
              <a:t>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/>
              <a:t>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/>
              <a:t>    // ...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/>
              <a:t>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 err="1"/>
              <a:t>var</a:t>
            </a:r>
            <a:r>
              <a:rPr lang="es-ES" sz="1000" dirty="0"/>
              <a:t> </a:t>
            </a:r>
            <a:r>
              <a:rPr lang="es-ES" sz="1000" dirty="0" err="1"/>
              <a:t>request</a:t>
            </a:r>
            <a:r>
              <a:rPr lang="es-ES" sz="1000" dirty="0"/>
              <a:t> = </a:t>
            </a:r>
            <a:r>
              <a:rPr lang="es-ES" sz="1000" dirty="0" err="1"/>
              <a:t>NewRequestMethod</a:t>
            </a:r>
            <a:r>
              <a:rPr lang="es-ES" sz="1000" dirty="0"/>
              <a:t>(</a:t>
            </a:r>
            <a:r>
              <a:rPr lang="es-ES" sz="1000" dirty="0" err="1"/>
              <a:t>requestUrl</a:t>
            </a:r>
            <a:r>
              <a:rPr lang="es-ES" sz="1000" dirty="0"/>
              <a:t>);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 err="1"/>
              <a:t>SlackChannel</a:t>
            </a:r>
            <a:r>
              <a:rPr lang="es-ES" sz="1000" dirty="0"/>
              <a:t>("</a:t>
            </a:r>
            <a:r>
              <a:rPr lang="es-ES" sz="1000" dirty="0" err="1"/>
              <a:t>bytehide</a:t>
            </a:r>
            <a:r>
              <a:rPr lang="es-ES" sz="1000" dirty="0"/>
              <a:t>", </a:t>
            </a:r>
            <a:r>
              <a:rPr lang="es-ES" sz="1000" dirty="0" err="1"/>
              <a:t>request</a:t>
            </a:r>
            <a:r>
              <a:rPr lang="es-ES" sz="1000" dirty="0"/>
              <a:t>, "</a:t>
            </a:r>
            <a:r>
              <a:rPr lang="es-ES" sz="1000" dirty="0" err="1"/>
              <a:t>get</a:t>
            </a:r>
            <a:r>
              <a:rPr lang="es-ES" sz="1000" dirty="0"/>
              <a:t> </a:t>
            </a:r>
            <a:r>
              <a:rPr lang="es-ES" sz="1000" dirty="0" err="1"/>
              <a:t>users</a:t>
            </a:r>
            <a:r>
              <a:rPr lang="es-ES" sz="1000" dirty="0"/>
              <a:t>");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b="1" dirty="0"/>
              <a:t>Good </a:t>
            </a:r>
            <a:r>
              <a:rPr lang="es-ES" sz="1000" b="1" dirty="0" err="1"/>
              <a:t>way</a:t>
            </a:r>
            <a:r>
              <a:rPr lang="es-ES" sz="1000" b="1" dirty="0"/>
              <a:t>:</a:t>
            </a:r>
            <a:endParaRPr lang="es-ES" sz="10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 err="1"/>
              <a:t>public</a:t>
            </a:r>
            <a:r>
              <a:rPr lang="es-ES" sz="1000" dirty="0"/>
              <a:t> </a:t>
            </a:r>
            <a:r>
              <a:rPr lang="es-ES" sz="1000" dirty="0" err="1"/>
              <a:t>void</a:t>
            </a:r>
            <a:r>
              <a:rPr lang="es-ES" sz="1000" dirty="0"/>
              <a:t> </a:t>
            </a:r>
            <a:r>
              <a:rPr lang="es-ES" sz="1000" dirty="0" err="1"/>
              <a:t>RequestMethod</a:t>
            </a:r>
            <a:r>
              <a:rPr lang="es-ES" sz="1000" dirty="0"/>
              <a:t>(</a:t>
            </a:r>
            <a:r>
              <a:rPr lang="es-ES" sz="1000" dirty="0" err="1"/>
              <a:t>string</a:t>
            </a:r>
            <a:r>
              <a:rPr lang="es-ES" sz="1000" dirty="0"/>
              <a:t> </a:t>
            </a:r>
            <a:r>
              <a:rPr lang="es-ES" sz="1000" dirty="0" err="1"/>
              <a:t>url</a:t>
            </a:r>
            <a:r>
              <a:rPr lang="es-ES" sz="1000" dirty="0"/>
              <a:t>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/>
              <a:t>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/>
              <a:t>    // ...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/>
              <a:t>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 err="1"/>
              <a:t>var</a:t>
            </a:r>
            <a:r>
              <a:rPr lang="es-ES" sz="1000" dirty="0"/>
              <a:t> </a:t>
            </a:r>
            <a:r>
              <a:rPr lang="es-ES" sz="1000" dirty="0" err="1"/>
              <a:t>request</a:t>
            </a:r>
            <a:r>
              <a:rPr lang="es-ES" sz="1000" dirty="0"/>
              <a:t> = </a:t>
            </a:r>
            <a:r>
              <a:rPr lang="es-ES" sz="1000" dirty="0" err="1"/>
              <a:t>RequestMethod</a:t>
            </a:r>
            <a:r>
              <a:rPr lang="es-ES" sz="1000" dirty="0"/>
              <a:t>(</a:t>
            </a:r>
            <a:r>
              <a:rPr lang="es-ES" sz="1000" dirty="0" err="1"/>
              <a:t>requestUrl</a:t>
            </a:r>
            <a:r>
              <a:rPr lang="es-ES" sz="1000" dirty="0"/>
              <a:t>);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1000" dirty="0" err="1"/>
              <a:t>SlackChannel</a:t>
            </a:r>
            <a:r>
              <a:rPr lang="es-ES" sz="1000" dirty="0"/>
              <a:t>("</a:t>
            </a:r>
            <a:r>
              <a:rPr lang="es-ES" sz="1000" dirty="0" err="1"/>
              <a:t>bytehide</a:t>
            </a:r>
            <a:r>
              <a:rPr lang="es-ES" sz="1000" dirty="0"/>
              <a:t>", </a:t>
            </a:r>
            <a:r>
              <a:rPr lang="es-ES" sz="1000" dirty="0" err="1"/>
              <a:t>request</a:t>
            </a:r>
            <a:r>
              <a:rPr lang="es-ES" sz="1000" dirty="0"/>
              <a:t>, "</a:t>
            </a:r>
            <a:r>
              <a:rPr lang="es-ES" sz="1000" dirty="0" err="1"/>
              <a:t>get</a:t>
            </a:r>
            <a:r>
              <a:rPr lang="es-ES" sz="1000" dirty="0"/>
              <a:t> </a:t>
            </a:r>
            <a:r>
              <a:rPr lang="es-ES" sz="1000" dirty="0" err="1"/>
              <a:t>users</a:t>
            </a:r>
            <a:r>
              <a:rPr lang="es-ES" sz="1000" dirty="0"/>
              <a:t>");</a:t>
            </a:r>
          </a:p>
          <a:p>
            <a:pPr>
              <a:lnSpc>
                <a:spcPct val="100%"/>
              </a:lnSpc>
            </a:pP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4097647213"/>
      </p:ext>
    </p:extLst>
  </p:cSld>
  <p:clrMapOvr>
    <a:masterClrMapping/>
  </p:clrMapOvr>
</p:sld>
</file>

<file path=ppt/slides/slide25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E5F6B57B-3FFC-5944-D02A-F58964D27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pPr fontAlgn="base"/>
            <a:r>
              <a:rPr lang="en-US" sz="3100"/>
              <a:t>One level of abstraction per function</a:t>
            </a:r>
            <a:br>
              <a:rPr lang="en-US" sz="3100"/>
            </a:br>
            <a:br>
              <a:rPr lang="en-US" sz="3100"/>
            </a:br>
            <a:endParaRPr lang="es-ES" sz="31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C6534E-4C67-5CC6-688F-BEED181A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fontAlgn="base">
              <a:lnSpc>
                <a:spcPct val="100%"/>
              </a:lnSpc>
            </a:pPr>
            <a:r>
              <a:rPr lang="es-ES" sz="500" b="1" dirty="0" err="1"/>
              <a:t>Bad</a:t>
            </a:r>
            <a:r>
              <a:rPr lang="es-ES" sz="500" b="1" dirty="0"/>
              <a:t> </a:t>
            </a:r>
            <a:r>
              <a:rPr lang="es-ES" sz="500" b="1" dirty="0" err="1"/>
              <a:t>way</a:t>
            </a:r>
            <a:r>
              <a:rPr lang="es-ES" sz="500" b="1" dirty="0"/>
              <a:t>:</a:t>
            </a:r>
            <a:endParaRPr lang="es-ES" sz="500" dirty="0"/>
          </a:p>
          <a:p>
            <a:pPr fontAlgn="base">
              <a:lnSpc>
                <a:spcPct val="100%"/>
              </a:lnSpc>
            </a:pPr>
            <a:r>
              <a:rPr lang="es-ES" sz="500" dirty="0" err="1"/>
              <a:t>public</a:t>
            </a:r>
            <a:r>
              <a:rPr lang="es-ES" sz="500" dirty="0"/>
              <a:t> 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ParseBetterJSAlternative</a:t>
            </a:r>
            <a:r>
              <a:rPr lang="es-ES" sz="500" dirty="0"/>
              <a:t>(</a:t>
            </a:r>
            <a:r>
              <a:rPr lang="es-ES" sz="500" dirty="0" err="1"/>
              <a:t>string</a:t>
            </a:r>
            <a:r>
              <a:rPr lang="es-ES" sz="500" dirty="0"/>
              <a:t> </a:t>
            </a:r>
            <a:r>
              <a:rPr lang="es-ES" sz="500" dirty="0" err="1"/>
              <a:t>code</a:t>
            </a:r>
            <a:r>
              <a:rPr lang="es-ES" sz="500" dirty="0"/>
              <a:t>)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var</a:t>
            </a:r>
            <a:r>
              <a:rPr lang="es-ES" sz="500" dirty="0"/>
              <a:t> </a:t>
            </a:r>
            <a:r>
              <a:rPr lang="es-ES" sz="500" dirty="0" err="1"/>
              <a:t>regexes</a:t>
            </a:r>
            <a:r>
              <a:rPr lang="es-ES" sz="500" dirty="0"/>
              <a:t> = [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// ...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];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var</a:t>
            </a:r>
            <a:r>
              <a:rPr lang="es-ES" sz="500" dirty="0"/>
              <a:t> </a:t>
            </a:r>
            <a:r>
              <a:rPr lang="es-ES" sz="500" dirty="0" err="1"/>
              <a:t>statements</a:t>
            </a:r>
            <a:r>
              <a:rPr lang="es-ES" sz="500" dirty="0"/>
              <a:t> = </a:t>
            </a:r>
            <a:r>
              <a:rPr lang="es-ES" sz="500" dirty="0" err="1"/>
              <a:t>explode</a:t>
            </a:r>
            <a:r>
              <a:rPr lang="es-ES" sz="500" dirty="0"/>
              <a:t>(" ", </a:t>
            </a:r>
            <a:r>
              <a:rPr lang="es-ES" sz="500" dirty="0" err="1"/>
              <a:t>code</a:t>
            </a:r>
            <a:r>
              <a:rPr lang="es-ES" sz="500" dirty="0"/>
              <a:t>);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var</a:t>
            </a:r>
            <a:r>
              <a:rPr lang="es-ES" sz="500" dirty="0"/>
              <a:t> tokens = new </a:t>
            </a:r>
            <a:r>
              <a:rPr lang="es-ES" sz="500" dirty="0" err="1"/>
              <a:t>string</a:t>
            </a:r>
            <a:r>
              <a:rPr lang="es-ES" sz="500" dirty="0"/>
              <a:t>[] {};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foreach</a:t>
            </a:r>
            <a:r>
              <a:rPr lang="es-ES" sz="500" dirty="0"/>
              <a:t> (</a:t>
            </a:r>
            <a:r>
              <a:rPr lang="es-ES" sz="500" dirty="0" err="1"/>
              <a:t>var</a:t>
            </a:r>
            <a:r>
              <a:rPr lang="es-ES" sz="500" dirty="0"/>
              <a:t> </a:t>
            </a:r>
            <a:r>
              <a:rPr lang="es-ES" sz="500" dirty="0" err="1"/>
              <a:t>regex</a:t>
            </a:r>
            <a:r>
              <a:rPr lang="es-ES" sz="500" dirty="0"/>
              <a:t> in </a:t>
            </a:r>
            <a:r>
              <a:rPr lang="es-ES" sz="500" dirty="0" err="1"/>
              <a:t>regexes</a:t>
            </a:r>
            <a:r>
              <a:rPr lang="es-ES" sz="500" dirty="0"/>
              <a:t>)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</a:t>
            </a:r>
            <a:r>
              <a:rPr lang="es-ES" sz="500" dirty="0" err="1"/>
              <a:t>foreach</a:t>
            </a:r>
            <a:r>
              <a:rPr lang="es-ES" sz="500" dirty="0"/>
              <a:t> (</a:t>
            </a:r>
            <a:r>
              <a:rPr lang="es-ES" sz="500" dirty="0" err="1"/>
              <a:t>var</a:t>
            </a:r>
            <a:r>
              <a:rPr lang="es-ES" sz="500" dirty="0"/>
              <a:t> </a:t>
            </a:r>
            <a:r>
              <a:rPr lang="es-ES" sz="500" dirty="0" err="1"/>
              <a:t>statement</a:t>
            </a:r>
            <a:r>
              <a:rPr lang="es-ES" sz="500" dirty="0"/>
              <a:t> in </a:t>
            </a:r>
            <a:r>
              <a:rPr lang="es-ES" sz="500" dirty="0" err="1"/>
              <a:t>statements</a:t>
            </a:r>
            <a:r>
              <a:rPr lang="es-ES" sz="500" dirty="0"/>
              <a:t>)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    // ...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var</a:t>
            </a:r>
            <a:r>
              <a:rPr lang="es-ES" sz="500" dirty="0"/>
              <a:t> </a:t>
            </a:r>
            <a:r>
              <a:rPr lang="es-ES" sz="500" dirty="0" err="1"/>
              <a:t>ast</a:t>
            </a:r>
            <a:r>
              <a:rPr lang="es-ES" sz="500" dirty="0"/>
              <a:t> = new </a:t>
            </a:r>
            <a:r>
              <a:rPr lang="es-ES" sz="500" dirty="0" err="1"/>
              <a:t>string</a:t>
            </a:r>
            <a:r>
              <a:rPr lang="es-ES" sz="500" dirty="0"/>
              <a:t>[] {};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foreach</a:t>
            </a:r>
            <a:r>
              <a:rPr lang="es-ES" sz="500" dirty="0"/>
              <a:t> (</a:t>
            </a:r>
            <a:r>
              <a:rPr lang="es-ES" sz="500" dirty="0" err="1"/>
              <a:t>var</a:t>
            </a:r>
            <a:r>
              <a:rPr lang="es-ES" sz="500" dirty="0"/>
              <a:t> token in tokens)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// lex...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</a:t>
            </a:r>
            <a:r>
              <a:rPr lang="es-ES" sz="500" dirty="0" err="1"/>
              <a:t>foreach</a:t>
            </a:r>
            <a:r>
              <a:rPr lang="es-ES" sz="500" dirty="0"/>
              <a:t> (</a:t>
            </a:r>
            <a:r>
              <a:rPr lang="es-ES" sz="500" dirty="0" err="1"/>
              <a:t>var</a:t>
            </a:r>
            <a:r>
              <a:rPr lang="es-ES" sz="500" dirty="0"/>
              <a:t> </a:t>
            </a:r>
            <a:r>
              <a:rPr lang="es-ES" sz="500" dirty="0" err="1"/>
              <a:t>node</a:t>
            </a:r>
            <a:r>
              <a:rPr lang="es-ES" sz="500" dirty="0"/>
              <a:t> in </a:t>
            </a:r>
            <a:r>
              <a:rPr lang="es-ES" sz="500" dirty="0" err="1"/>
              <a:t>ast</a:t>
            </a:r>
            <a:r>
              <a:rPr lang="es-ES" sz="500" dirty="0"/>
              <a:t>)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{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    // </a:t>
            </a:r>
            <a:r>
              <a:rPr lang="es-ES" sz="500" dirty="0" err="1"/>
              <a:t>parse</a:t>
            </a:r>
            <a:r>
              <a:rPr lang="es-ES" sz="500" dirty="0"/>
              <a:t>...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    }</a:t>
            </a:r>
          </a:p>
          <a:p>
            <a:pPr fontAlgn="base">
              <a:lnSpc>
                <a:spcPct val="100%"/>
              </a:lnSpc>
            </a:pPr>
            <a:r>
              <a:rPr lang="es-ES" sz="500" dirty="0"/>
              <a:t>}</a:t>
            </a:r>
          </a:p>
          <a:p>
            <a:pPr>
              <a:lnSpc>
                <a:spcPct val="100%"/>
              </a:lnSpc>
            </a:pPr>
            <a:endParaRPr lang="es-ES" sz="500" dirty="0"/>
          </a:p>
        </p:txBody>
      </p:sp>
    </p:spTree>
    <p:extLst>
      <p:ext uri="{BB962C8B-B14F-4D97-AF65-F5344CB8AC3E}">
        <p14:creationId xmlns:p14="http://schemas.microsoft.com/office/powerpoint/2010/main" val="2522573251"/>
      </p:ext>
    </p:extLst>
  </p:cSld>
  <p:clrMapOvr>
    <a:masterClrMapping/>
  </p:clrMapOvr>
</p:sld>
</file>

<file path=ppt/slides/slide26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67080F-5129-5DF0-51A2-BCD35591E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00%"/>
              </a:lnSpc>
              <a:buNone/>
            </a:pPr>
            <a:r>
              <a:rPr lang="es-ES" sz="800" b="1" dirty="0"/>
              <a:t>Good </a:t>
            </a:r>
            <a:r>
              <a:rPr lang="es-ES" sz="800" b="1" dirty="0" err="1"/>
              <a:t>way</a:t>
            </a:r>
            <a:r>
              <a:rPr lang="es-ES" sz="800" b="1" dirty="0"/>
              <a:t>:</a:t>
            </a:r>
            <a:endParaRPr lang="es-ES" sz="8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 err="1"/>
              <a:t>class</a:t>
            </a:r>
            <a:r>
              <a:rPr lang="es-ES" sz="800" dirty="0"/>
              <a:t> </a:t>
            </a:r>
            <a:r>
              <a:rPr lang="es-ES" sz="800" dirty="0" err="1"/>
              <a:t>Tokenizer</a:t>
            </a:r>
            <a:endParaRPr lang="es-ES" sz="8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</a:t>
            </a:r>
            <a:r>
              <a:rPr lang="es-ES" sz="800" dirty="0" err="1"/>
              <a:t>public</a:t>
            </a:r>
            <a:r>
              <a:rPr lang="es-ES" sz="800" dirty="0"/>
              <a:t> </a:t>
            </a:r>
            <a:r>
              <a:rPr lang="es-ES" sz="800" dirty="0" err="1"/>
              <a:t>string</a:t>
            </a:r>
            <a:r>
              <a:rPr lang="es-ES" sz="800" dirty="0"/>
              <a:t> </a:t>
            </a:r>
            <a:r>
              <a:rPr lang="es-ES" sz="800" dirty="0" err="1"/>
              <a:t>Tokenize</a:t>
            </a:r>
            <a:r>
              <a:rPr lang="es-ES" sz="800" dirty="0"/>
              <a:t>(</a:t>
            </a:r>
            <a:r>
              <a:rPr lang="es-ES" sz="800" dirty="0" err="1"/>
              <a:t>string</a:t>
            </a:r>
            <a:r>
              <a:rPr lang="es-ES" sz="800" dirty="0"/>
              <a:t> </a:t>
            </a:r>
            <a:r>
              <a:rPr lang="es-ES" sz="800" dirty="0" err="1"/>
              <a:t>code</a:t>
            </a:r>
            <a:r>
              <a:rPr lang="es-ES" sz="800" dirty="0"/>
              <a:t>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</a:t>
            </a:r>
            <a:r>
              <a:rPr lang="es-ES" sz="800" dirty="0" err="1"/>
              <a:t>var</a:t>
            </a:r>
            <a:r>
              <a:rPr lang="es-ES" sz="800" dirty="0"/>
              <a:t> </a:t>
            </a:r>
            <a:r>
              <a:rPr lang="es-ES" sz="800" dirty="0" err="1"/>
              <a:t>regexes</a:t>
            </a:r>
            <a:r>
              <a:rPr lang="es-ES" sz="800" dirty="0"/>
              <a:t> = new </a:t>
            </a:r>
            <a:r>
              <a:rPr lang="es-ES" sz="800" dirty="0" err="1"/>
              <a:t>string</a:t>
            </a:r>
            <a:r>
              <a:rPr lang="es-ES" sz="800" dirty="0"/>
              <a:t>[]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    // ...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};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</a:t>
            </a:r>
            <a:r>
              <a:rPr lang="es-ES" sz="800" dirty="0" err="1"/>
              <a:t>var</a:t>
            </a:r>
            <a:r>
              <a:rPr lang="es-ES" sz="800" dirty="0"/>
              <a:t> </a:t>
            </a:r>
            <a:r>
              <a:rPr lang="es-ES" sz="800" dirty="0" err="1"/>
              <a:t>statements</a:t>
            </a:r>
            <a:r>
              <a:rPr lang="es-ES" sz="800" dirty="0"/>
              <a:t> = </a:t>
            </a:r>
            <a:r>
              <a:rPr lang="es-ES" sz="800" dirty="0" err="1"/>
              <a:t>explode</a:t>
            </a:r>
            <a:r>
              <a:rPr lang="es-ES" sz="800" dirty="0"/>
              <a:t>(" ", </a:t>
            </a:r>
            <a:r>
              <a:rPr lang="es-ES" sz="800" dirty="0" err="1"/>
              <a:t>code</a:t>
            </a:r>
            <a:r>
              <a:rPr lang="es-ES" sz="800" dirty="0"/>
              <a:t>);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</a:t>
            </a:r>
            <a:r>
              <a:rPr lang="es-ES" sz="800" dirty="0" err="1"/>
              <a:t>var</a:t>
            </a:r>
            <a:r>
              <a:rPr lang="es-ES" sz="800" dirty="0"/>
              <a:t> tokens = new </a:t>
            </a:r>
            <a:r>
              <a:rPr lang="es-ES" sz="800" dirty="0" err="1"/>
              <a:t>string</a:t>
            </a:r>
            <a:r>
              <a:rPr lang="es-ES" sz="800" dirty="0"/>
              <a:t>[] {};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</a:t>
            </a:r>
            <a:r>
              <a:rPr lang="es-ES" sz="800" dirty="0" err="1"/>
              <a:t>foreach</a:t>
            </a:r>
            <a:r>
              <a:rPr lang="es-ES" sz="800" dirty="0"/>
              <a:t> (</a:t>
            </a:r>
            <a:r>
              <a:rPr lang="es-ES" sz="800" dirty="0" err="1"/>
              <a:t>var</a:t>
            </a:r>
            <a:r>
              <a:rPr lang="es-ES" sz="800" dirty="0"/>
              <a:t> </a:t>
            </a:r>
            <a:r>
              <a:rPr lang="es-ES" sz="800" dirty="0" err="1"/>
              <a:t>regex</a:t>
            </a:r>
            <a:r>
              <a:rPr lang="es-ES" sz="800" dirty="0"/>
              <a:t> in </a:t>
            </a:r>
            <a:r>
              <a:rPr lang="es-ES" sz="800" dirty="0" err="1"/>
              <a:t>regexes</a:t>
            </a:r>
            <a:r>
              <a:rPr lang="es-ES" sz="800" dirty="0"/>
              <a:t>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    </a:t>
            </a:r>
            <a:r>
              <a:rPr lang="es-ES" sz="800" dirty="0" err="1"/>
              <a:t>foreach</a:t>
            </a:r>
            <a:r>
              <a:rPr lang="es-ES" sz="800" dirty="0"/>
              <a:t> (</a:t>
            </a:r>
            <a:r>
              <a:rPr lang="es-ES" sz="800" dirty="0" err="1"/>
              <a:t>var</a:t>
            </a:r>
            <a:r>
              <a:rPr lang="es-ES" sz="800" dirty="0"/>
              <a:t> </a:t>
            </a:r>
            <a:r>
              <a:rPr lang="es-ES" sz="800" dirty="0" err="1"/>
              <a:t>statement</a:t>
            </a:r>
            <a:r>
              <a:rPr lang="es-ES" sz="800" dirty="0"/>
              <a:t> in </a:t>
            </a:r>
            <a:r>
              <a:rPr lang="es-ES" sz="800" dirty="0" err="1"/>
              <a:t>statements</a:t>
            </a:r>
            <a:r>
              <a:rPr lang="es-ES" sz="800" dirty="0"/>
              <a:t>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   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        tokens[] = /* ... */;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    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    </a:t>
            </a:r>
            <a:r>
              <a:rPr lang="es-ES" sz="800" dirty="0" err="1"/>
              <a:t>return</a:t>
            </a:r>
            <a:r>
              <a:rPr lang="es-ES" sz="800" dirty="0"/>
              <a:t> tokens;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    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s-ES" sz="800" dirty="0"/>
              <a:t>}</a:t>
            </a:r>
          </a:p>
          <a:p>
            <a:pPr>
              <a:lnSpc>
                <a:spcPct val="100%"/>
              </a:lnSpc>
            </a:pPr>
            <a:endParaRPr lang="es-ES" sz="800" dirty="0"/>
          </a:p>
        </p:txBody>
      </p:sp>
    </p:spTree>
    <p:extLst>
      <p:ext uri="{BB962C8B-B14F-4D97-AF65-F5344CB8AC3E}">
        <p14:creationId xmlns:p14="http://schemas.microsoft.com/office/powerpoint/2010/main" val="3634194574"/>
      </p:ext>
    </p:extLst>
  </p:cSld>
  <p:clrMapOvr>
    <a:masterClrMapping/>
  </p:clrMapOvr>
</p:sld>
</file>

<file path=ppt/slides/slide27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16BC0F0C-DAEF-500E-BDBF-8A6DA770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pPr fontAlgn="base"/>
            <a:r>
              <a:rPr lang="en-US" sz="3600"/>
              <a:t>Never write in global functions</a:t>
            </a:r>
            <a:br>
              <a:rPr lang="en-US" sz="3600"/>
            </a:br>
            <a:br>
              <a:rPr lang="en-US" sz="3600"/>
            </a:br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4E8F8C-71E9-85F9-CEB6-CB75DF949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Bad way: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public Dictionary&lt;string, string&gt; Config()</a:t>
            </a:r>
          </a:p>
          <a:p>
            <a:pPr marL="0" indent="0" fontAlgn="base">
              <a:buNone/>
            </a:pPr>
            <a:r>
              <a:rPr lang="en-US" dirty="0"/>
              <a:t>{</a:t>
            </a:r>
          </a:p>
          <a:p>
            <a:pPr marL="0" indent="0" fontAlgn="base">
              <a:buNone/>
            </a:pPr>
            <a:r>
              <a:rPr lang="en-US" dirty="0"/>
              <a:t>    return new Dictionary&lt;</a:t>
            </a:r>
            <a:r>
              <a:rPr lang="en-US" dirty="0" err="1"/>
              <a:t>string,string</a:t>
            </a:r>
            <a:r>
              <a:rPr lang="en-US" dirty="0"/>
              <a:t>&gt;(){</a:t>
            </a:r>
          </a:p>
          <a:p>
            <a:pPr marL="0" indent="0" fontAlgn="base">
              <a:buNone/>
            </a:pPr>
            <a:r>
              <a:rPr lang="en-US" dirty="0"/>
              <a:t>        ["product"] = "shield"</a:t>
            </a:r>
          </a:p>
          <a:p>
            <a:pPr marL="0" indent="0" fontAlgn="base">
              <a:buNone/>
            </a:pPr>
            <a:r>
              <a:rPr lang="en-US" dirty="0"/>
              <a:t>    };</a:t>
            </a:r>
          </a:p>
          <a:p>
            <a:pPr marL="0" indent="0" fontAlgn="base">
              <a:buNone/>
            </a:pPr>
            <a:r>
              <a:rPr lang="en-US" dirty="0"/>
              <a:t>}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49292139"/>
      </p:ext>
    </p:extLst>
  </p:cSld>
  <p:clrMapOvr>
    <a:masterClrMapping/>
  </p:clrMapOvr>
</p:sld>
</file>

<file path=ppt/slides/slide28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6E95399-14DB-1BD7-349C-58681D4C1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6FA777-FA20-3D17-CAAA-BB50D7B46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00%"/>
              </a:lnSpc>
              <a:buNone/>
            </a:pPr>
            <a:r>
              <a:rPr lang="en-US" sz="1700" b="1" dirty="0"/>
              <a:t>Good way:</a:t>
            </a:r>
            <a:endParaRPr lang="en-US" sz="1700" dirty="0"/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class Configuration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private Dictionary&lt;string, string&gt; _configuration;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public Configuration(Dictionary&lt;string, string&gt; configuration)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    _configuration = configuration;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public string[] Get(string key)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{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    return _</a:t>
            </a:r>
            <a:r>
              <a:rPr lang="en-US" sz="1700" dirty="0" err="1"/>
              <a:t>configuration.ContainsKey</a:t>
            </a:r>
            <a:r>
              <a:rPr lang="en-US" sz="1700" dirty="0"/>
              <a:t>(key) ? _configuration[key] : null;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    }</a:t>
            </a:r>
          </a:p>
          <a:p>
            <a:pPr marL="0" indent="0" fontAlgn="base">
              <a:lnSpc>
                <a:spcPct val="100%"/>
              </a:lnSpc>
              <a:buNone/>
            </a:pPr>
            <a:r>
              <a:rPr lang="en-US" sz="1700" dirty="0"/>
              <a:t>}</a:t>
            </a:r>
          </a:p>
          <a:p>
            <a:pPr>
              <a:lnSpc>
                <a:spcPct val="100%"/>
              </a:lnSpc>
            </a:pPr>
            <a:endParaRPr lang="es-ES" sz="1700" dirty="0"/>
          </a:p>
        </p:txBody>
      </p:sp>
    </p:spTree>
    <p:extLst>
      <p:ext uri="{BB962C8B-B14F-4D97-AF65-F5344CB8AC3E}">
        <p14:creationId xmlns:p14="http://schemas.microsoft.com/office/powerpoint/2010/main" val="4168091241"/>
      </p:ext>
    </p:extLst>
  </p:cSld>
  <p:clrMapOvr>
    <a:masterClrMapping/>
  </p:clrMapOvr>
</p:sld>
</file>

<file path=ppt/slides/slide29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A19BE35C-7800-913C-794B-7647EFB08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r>
              <a:rPr lang="en-US" sz="3300" b="1"/>
              <a:t>Avoid magic numbers and strings</a:t>
            </a:r>
            <a:br>
              <a:rPr lang="en-US" sz="3300" b="1"/>
            </a:br>
            <a:br>
              <a:rPr lang="en-US" sz="3300"/>
            </a:br>
            <a:endParaRPr lang="es-ES" sz="33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F4653F1-5E74-E69E-3CF7-DF862DD41E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02149" y="978558"/>
            <a:ext cx="7591859" cy="509149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r>
              <a:rPr kumimoji="0" lang="es-ES" altLang="es-ES" sz="800" b="1" i="0" u="none" strike="noStrike" cap="none" normalizeH="0" baseline="0%" dirty="0" err="1">
                <a:ln>
                  <a:noFill/>
                </a:ln>
                <a:effectLst/>
                <a:latin typeface="OpenSans"/>
              </a:rPr>
              <a:t>Bad</a:t>
            </a:r>
            <a:r>
              <a:rPr kumimoji="0" lang="es-ES" altLang="es-ES" sz="800" b="1" i="0" u="none" strike="noStrike" cap="none" normalizeH="0" baseline="0%" dirty="0">
                <a:ln>
                  <a:noFill/>
                </a:ln>
                <a:effectLst/>
                <a:latin typeface="OpenSans"/>
              </a:rPr>
              <a:t> </a:t>
            </a:r>
            <a:r>
              <a:rPr kumimoji="0" lang="es-ES" altLang="es-ES" sz="800" b="1" i="0" u="none" strike="noStrike" cap="none" normalizeH="0" baseline="0%" dirty="0" err="1">
                <a:ln>
                  <a:noFill/>
                </a:ln>
                <a:effectLst/>
                <a:latin typeface="OpenSans"/>
              </a:rPr>
              <a:t>Example</a:t>
            </a:r>
            <a:r>
              <a:rPr kumimoji="0" lang="es-ES" altLang="es-ES" sz="800" b="1" i="0" u="none" strike="noStrike" cap="none" normalizeH="0" baseline="0%" dirty="0">
                <a:ln>
                  <a:noFill/>
                </a:ln>
                <a:effectLst/>
                <a:latin typeface="OpenSans"/>
              </a:rPr>
              <a:t>: </a:t>
            </a: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r>
              <a:rPr lang="en-US" altLang="es-ES" sz="800" b="1" dirty="0">
                <a:latin typeface="OpenSans"/>
              </a:rPr>
              <a:t>if (</a:t>
            </a:r>
            <a:r>
              <a:rPr lang="en-US" altLang="es-ES" sz="800" b="1" dirty="0" err="1">
                <a:latin typeface="OpenSans"/>
              </a:rPr>
              <a:t>order.Quantity</a:t>
            </a:r>
            <a:r>
              <a:rPr lang="en-US" altLang="es-ES" sz="800" b="1" dirty="0">
                <a:latin typeface="OpenSans"/>
              </a:rPr>
              <a:t> &gt; 10) </a:t>
            </a: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endParaRPr lang="en-US" altLang="es-ES" sz="800" b="1" dirty="0">
              <a:latin typeface="OpenSans"/>
            </a:endParaRP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r>
              <a:rPr lang="en-US" altLang="es-ES" sz="800" b="1" dirty="0">
                <a:latin typeface="OpenSans"/>
              </a:rPr>
              <a:t>{ </a:t>
            </a: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endParaRPr lang="en-US" altLang="es-ES" sz="800" b="1" dirty="0">
              <a:latin typeface="OpenSans"/>
            </a:endParaRP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r>
              <a:rPr lang="en-US" altLang="es-ES" sz="800" b="1" dirty="0">
                <a:latin typeface="OpenSans"/>
              </a:rPr>
              <a:t>    </a:t>
            </a:r>
            <a:r>
              <a:rPr lang="en-US" altLang="es-ES" sz="800" b="1" dirty="0" err="1">
                <a:latin typeface="OpenSans"/>
              </a:rPr>
              <a:t>totalPrice</a:t>
            </a:r>
            <a:r>
              <a:rPr lang="en-US" altLang="es-ES" sz="800" b="1" dirty="0">
                <a:latin typeface="OpenSans"/>
              </a:rPr>
              <a:t> *= 0.9; // 10% discount </a:t>
            </a: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endParaRPr lang="en-US" altLang="es-ES" sz="800" b="1" dirty="0">
              <a:latin typeface="OpenSans"/>
            </a:endParaRP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r>
              <a:rPr lang="en-US" altLang="es-ES" sz="800" b="1" dirty="0">
                <a:latin typeface="OpenSans"/>
              </a:rPr>
              <a:t>}</a:t>
            </a:r>
            <a:endParaRPr kumimoji="0" lang="es-ES" altLang="es-ES" sz="800" b="0" i="0" u="none" strike="noStrike" cap="none" normalizeH="0" baseline="0%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%"/>
              </a:lnSpc>
              <a:spcBef>
                <a:spcPct val="0%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order.Quantity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&gt; 10) { </a:t>
            </a: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totalPrice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*= 0.9; // 10% </a:t>
            </a: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discount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}</a:t>
            </a:r>
            <a:endParaRPr kumimoji="0" lang="es-ES" altLang="es-ES" sz="800" b="0" i="0" u="none" strike="noStrike" cap="none" normalizeH="0" baseline="0%" dirty="0">
              <a:ln>
                <a:noFill/>
              </a:ln>
              <a:effectLst/>
            </a:endParaRP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r>
              <a:rPr kumimoji="0" lang="es-ES" altLang="es-ES" sz="800" b="1" i="0" u="none" strike="noStrike" cap="none" normalizeH="0" baseline="0%" dirty="0">
                <a:ln>
                  <a:noFill/>
                </a:ln>
                <a:effectLst/>
                <a:latin typeface="OpenSans"/>
              </a:rPr>
              <a:t>Good </a:t>
            </a:r>
            <a:r>
              <a:rPr kumimoji="0" lang="es-ES" altLang="es-ES" sz="800" b="1" i="0" u="none" strike="noStrike" cap="none" normalizeH="0" baseline="0%" dirty="0" err="1">
                <a:ln>
                  <a:noFill/>
                </a:ln>
                <a:effectLst/>
                <a:latin typeface="OpenSans"/>
              </a:rPr>
              <a:t>Example</a:t>
            </a:r>
            <a:r>
              <a:rPr kumimoji="0" lang="es-ES" altLang="es-ES" sz="800" b="1" i="0" u="none" strike="noStrike" cap="none" normalizeH="0" baseline="0%" dirty="0">
                <a:ln>
                  <a:noFill/>
                </a:ln>
                <a:effectLst/>
                <a:latin typeface="OpenSans"/>
              </a:rPr>
              <a:t>:</a:t>
            </a: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r>
              <a:rPr lang="es-ES" altLang="es-ES" sz="800" b="1" dirty="0" err="1">
                <a:latin typeface="OpenSans"/>
              </a:rPr>
              <a:t>const</a:t>
            </a:r>
            <a:r>
              <a:rPr lang="es-ES" altLang="es-ES" sz="800" b="1" dirty="0">
                <a:latin typeface="OpenSans"/>
              </a:rPr>
              <a:t> </a:t>
            </a:r>
            <a:r>
              <a:rPr lang="es-ES" altLang="es-ES" sz="800" b="1" dirty="0" err="1">
                <a:latin typeface="OpenSans"/>
              </a:rPr>
              <a:t>int</a:t>
            </a:r>
            <a:r>
              <a:rPr lang="es-ES" altLang="es-ES" sz="800" b="1" dirty="0">
                <a:latin typeface="OpenSans"/>
              </a:rPr>
              <a:t> </a:t>
            </a:r>
            <a:r>
              <a:rPr lang="es-ES" altLang="es-ES" sz="800" b="1" dirty="0" err="1">
                <a:latin typeface="OpenSans"/>
              </a:rPr>
              <a:t>DiscountThreshold</a:t>
            </a:r>
            <a:r>
              <a:rPr lang="es-ES" altLang="es-ES" sz="800" b="1" dirty="0">
                <a:latin typeface="OpenSans"/>
              </a:rPr>
              <a:t> = 10; </a:t>
            </a: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endParaRPr lang="es-ES" altLang="es-ES" sz="800" b="1" dirty="0">
              <a:latin typeface="OpenSans"/>
            </a:endParaRP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r>
              <a:rPr lang="es-ES" altLang="es-ES" sz="800" b="1" dirty="0" err="1">
                <a:latin typeface="OpenSans"/>
              </a:rPr>
              <a:t>const</a:t>
            </a:r>
            <a:r>
              <a:rPr lang="es-ES" altLang="es-ES" sz="800" b="1" dirty="0">
                <a:latin typeface="OpenSans"/>
              </a:rPr>
              <a:t> decimal </a:t>
            </a:r>
            <a:r>
              <a:rPr lang="es-ES" altLang="es-ES" sz="800" b="1" dirty="0" err="1">
                <a:latin typeface="OpenSans"/>
              </a:rPr>
              <a:t>DiscountRate</a:t>
            </a:r>
            <a:r>
              <a:rPr lang="es-ES" altLang="es-ES" sz="800" b="1" dirty="0">
                <a:latin typeface="OpenSans"/>
              </a:rPr>
              <a:t> = 0.9m; </a:t>
            </a: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endParaRPr lang="es-ES" altLang="es-ES" sz="800" b="1" dirty="0">
              <a:latin typeface="OpenSans"/>
            </a:endParaRP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r>
              <a:rPr lang="es-ES" altLang="es-ES" sz="800" b="1" dirty="0" err="1">
                <a:latin typeface="OpenSans"/>
              </a:rPr>
              <a:t>if</a:t>
            </a:r>
            <a:r>
              <a:rPr lang="es-ES" altLang="es-ES" sz="800" b="1" dirty="0">
                <a:latin typeface="OpenSans"/>
              </a:rPr>
              <a:t> (</a:t>
            </a:r>
            <a:r>
              <a:rPr lang="es-ES" altLang="es-ES" sz="800" b="1" dirty="0" err="1">
                <a:latin typeface="OpenSans"/>
              </a:rPr>
              <a:t>order.Quantity</a:t>
            </a:r>
            <a:r>
              <a:rPr lang="es-ES" altLang="es-ES" sz="800" b="1" dirty="0">
                <a:latin typeface="OpenSans"/>
              </a:rPr>
              <a:t> &gt; </a:t>
            </a:r>
            <a:r>
              <a:rPr lang="es-ES" altLang="es-ES" sz="800" b="1" dirty="0" err="1">
                <a:latin typeface="OpenSans"/>
              </a:rPr>
              <a:t>DiscountThreshold</a:t>
            </a:r>
            <a:r>
              <a:rPr lang="es-ES" altLang="es-ES" sz="800" b="1" dirty="0">
                <a:latin typeface="OpenSans"/>
              </a:rPr>
              <a:t>) </a:t>
            </a: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endParaRPr lang="es-ES" altLang="es-ES" sz="800" b="1" dirty="0">
              <a:latin typeface="OpenSans"/>
            </a:endParaRP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r>
              <a:rPr lang="es-ES" altLang="es-ES" sz="800" b="1" dirty="0">
                <a:latin typeface="OpenSans"/>
              </a:rPr>
              <a:t>{ </a:t>
            </a: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endParaRPr lang="es-ES" altLang="es-ES" sz="800" b="1" dirty="0">
              <a:latin typeface="OpenSans"/>
            </a:endParaRP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r>
              <a:rPr lang="es-ES" altLang="es-ES" sz="800" b="1" dirty="0">
                <a:latin typeface="OpenSans"/>
              </a:rPr>
              <a:t>    </a:t>
            </a:r>
            <a:r>
              <a:rPr lang="es-ES" altLang="es-ES" sz="800" b="1" dirty="0" err="1">
                <a:latin typeface="OpenSans"/>
              </a:rPr>
              <a:t>totalPrice</a:t>
            </a:r>
            <a:r>
              <a:rPr lang="es-ES" altLang="es-ES" sz="800" b="1" dirty="0">
                <a:latin typeface="OpenSans"/>
              </a:rPr>
              <a:t> *= </a:t>
            </a:r>
            <a:r>
              <a:rPr lang="es-ES" altLang="es-ES" sz="800" b="1" dirty="0" err="1">
                <a:latin typeface="OpenSans"/>
              </a:rPr>
              <a:t>DiscountRate</a:t>
            </a:r>
            <a:r>
              <a:rPr lang="es-ES" altLang="es-ES" sz="800" b="1" dirty="0">
                <a:latin typeface="OpenSans"/>
              </a:rPr>
              <a:t>; </a:t>
            </a: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endParaRPr lang="es-ES" altLang="es-ES" sz="800" b="1" dirty="0">
              <a:latin typeface="OpenSans"/>
            </a:endParaRPr>
          </a:p>
          <a:p>
            <a:pPr marL="0" lvl="0" indent="0">
              <a:lnSpc>
                <a:spcPct val="100%"/>
              </a:lnSpc>
              <a:spcAft>
                <a:spcPts val="600"/>
              </a:spcAft>
              <a:buNone/>
            </a:pPr>
            <a:r>
              <a:rPr lang="es-ES" altLang="es-ES" sz="800" b="1" dirty="0">
                <a:latin typeface="OpenSans"/>
              </a:rPr>
              <a:t>}</a:t>
            </a:r>
            <a:endParaRPr kumimoji="0" lang="es-ES" altLang="es-ES" sz="800" b="0" i="0" u="none" strike="noStrike" cap="none" normalizeH="0" baseline="0%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%"/>
              </a:lnSpc>
              <a:spcBef>
                <a:spcPct val="0%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const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DiscountThreshold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= 10; </a:t>
            </a: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const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decimal </a:t>
            </a: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DiscountRate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= 0.9m; </a:t>
            </a: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order.Quantity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&gt; </a:t>
            </a: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DiscountThreshold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 { </a:t>
            </a: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totalPrice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*= </a:t>
            </a:r>
            <a:r>
              <a:rPr kumimoji="0" lang="es-ES" altLang="es-ES" sz="800" b="0" i="0" u="none" strike="noStrike" cap="none" normalizeH="0" baseline="0%" dirty="0" err="1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DiscountRate</a:t>
            </a:r>
            <a:r>
              <a:rPr kumimoji="0" lang="es-ES" altLang="es-ES" sz="800" b="0" i="0" u="none" strike="noStrike" cap="none" normalizeH="0" baseline="0%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 }</a:t>
            </a:r>
            <a:endParaRPr kumimoji="0" lang="es-ES" altLang="es-ES" sz="800" b="0" i="0" u="none" strike="noStrike" cap="none" normalizeH="0" baseline="0%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680248"/>
      </p:ext>
    </p:extLst>
  </p:cSld>
  <p:clrMapOvr>
    <a:masterClrMapping/>
  </p:clrMapOvr>
</p:sld>
</file>

<file path=ppt/slides/slide30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B1371349-A63E-3F89-CA68-D0F7B9CBB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r>
              <a:rPr lang="es-ES" sz="2500" b="1"/>
              <a:t>Comments and documentation</a:t>
            </a:r>
            <a:br>
              <a:rPr lang="es-ES" sz="2500" b="1"/>
            </a:br>
            <a:br>
              <a:rPr lang="es-ES" sz="2500"/>
            </a:br>
            <a:endParaRPr lang="es-ES" sz="25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FB8BE1-8414-BCFF-A3AD-6AADD5B62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>
              <a:lnSpc>
                <a:spcPct val="100%"/>
              </a:lnSpc>
              <a:buNone/>
            </a:pPr>
            <a:r>
              <a:rPr lang="es-ES" sz="1100" dirty="0" err="1"/>
              <a:t>public</a:t>
            </a:r>
            <a:r>
              <a:rPr lang="es-ES" sz="1100" dirty="0"/>
              <a:t> </a:t>
            </a:r>
            <a:r>
              <a:rPr lang="es-ES" sz="1100" dirty="0" err="1"/>
              <a:t>class</a:t>
            </a:r>
            <a:r>
              <a:rPr lang="es-ES" sz="1100" dirty="0"/>
              <a:t> </a:t>
            </a:r>
            <a:r>
              <a:rPr lang="es-ES" sz="1100" dirty="0" err="1"/>
              <a:t>TemperatureConverter</a:t>
            </a:r>
            <a:r>
              <a:rPr lang="es-ES" sz="1100" dirty="0"/>
              <a:t> </a:t>
            </a:r>
          </a:p>
          <a:p>
            <a:pPr marL="0" indent="0">
              <a:lnSpc>
                <a:spcPct val="100%"/>
              </a:lnSpc>
              <a:buNone/>
            </a:pPr>
            <a:endParaRPr lang="es-ES" sz="1100" dirty="0"/>
          </a:p>
          <a:p>
            <a:pPr marL="0" indent="0">
              <a:lnSpc>
                <a:spcPct val="100%"/>
              </a:lnSpc>
              <a:buNone/>
            </a:pPr>
            <a:r>
              <a:rPr lang="es-ES" sz="1100" dirty="0"/>
              <a:t>{ </a:t>
            </a:r>
          </a:p>
          <a:p>
            <a:pPr marL="0" indent="0">
              <a:lnSpc>
                <a:spcPct val="100%"/>
              </a:lnSpc>
              <a:buNone/>
            </a:pPr>
            <a:endParaRPr lang="es-ES" sz="1100" dirty="0"/>
          </a:p>
          <a:p>
            <a:pPr marL="0" indent="0">
              <a:lnSpc>
                <a:spcPct val="100%"/>
              </a:lnSpc>
              <a:buNone/>
            </a:pPr>
            <a:r>
              <a:rPr lang="es-ES" sz="1100" dirty="0" err="1"/>
              <a:t>public</a:t>
            </a:r>
            <a:r>
              <a:rPr lang="es-ES" sz="1100" dirty="0"/>
              <a:t> </a:t>
            </a:r>
            <a:r>
              <a:rPr lang="es-ES" sz="1100" dirty="0" err="1"/>
              <a:t>double</a:t>
            </a:r>
            <a:r>
              <a:rPr lang="es-ES" sz="1100" dirty="0"/>
              <a:t> </a:t>
            </a:r>
            <a:r>
              <a:rPr lang="es-ES" sz="1100" dirty="0" err="1"/>
              <a:t>ConvertToFahrenheit</a:t>
            </a:r>
            <a:r>
              <a:rPr lang="es-ES" sz="1100" dirty="0"/>
              <a:t>(</a:t>
            </a:r>
            <a:r>
              <a:rPr lang="es-ES" sz="1100" dirty="0" err="1"/>
              <a:t>double</a:t>
            </a:r>
            <a:r>
              <a:rPr lang="es-ES" sz="1100" dirty="0"/>
              <a:t> </a:t>
            </a:r>
            <a:r>
              <a:rPr lang="es-ES" sz="1100" dirty="0" err="1"/>
              <a:t>celsius</a:t>
            </a:r>
            <a:r>
              <a:rPr lang="es-ES" sz="1100" dirty="0"/>
              <a:t>) </a:t>
            </a:r>
          </a:p>
          <a:p>
            <a:pPr marL="0" indent="0">
              <a:lnSpc>
                <a:spcPct val="100%"/>
              </a:lnSpc>
              <a:buNone/>
            </a:pPr>
            <a:endParaRPr lang="es-ES" sz="1100" dirty="0"/>
          </a:p>
          <a:p>
            <a:pPr marL="0" indent="0">
              <a:lnSpc>
                <a:spcPct val="100%"/>
              </a:lnSpc>
              <a:buNone/>
            </a:pPr>
            <a:r>
              <a:rPr lang="es-ES" sz="1100" dirty="0"/>
              <a:t>{ </a:t>
            </a:r>
          </a:p>
          <a:p>
            <a:pPr marL="0" indent="0">
              <a:lnSpc>
                <a:spcPct val="100%"/>
              </a:lnSpc>
              <a:buNone/>
            </a:pPr>
            <a:endParaRPr lang="es-ES" sz="1100" dirty="0"/>
          </a:p>
          <a:p>
            <a:pPr marL="0" indent="0">
              <a:lnSpc>
                <a:spcPct val="100%"/>
              </a:lnSpc>
              <a:buNone/>
            </a:pPr>
            <a:r>
              <a:rPr lang="es-ES" sz="1100" dirty="0"/>
              <a:t>// </a:t>
            </a:r>
            <a:r>
              <a:rPr lang="es-ES" sz="1100" dirty="0" err="1"/>
              <a:t>The</a:t>
            </a:r>
            <a:r>
              <a:rPr lang="es-ES" sz="1100" dirty="0"/>
              <a:t> formula </a:t>
            </a:r>
            <a:r>
              <a:rPr lang="es-ES" sz="1100" dirty="0" err="1"/>
              <a:t>for</a:t>
            </a:r>
            <a:r>
              <a:rPr lang="es-ES" sz="1100" dirty="0"/>
              <a:t> </a:t>
            </a:r>
            <a:r>
              <a:rPr lang="es-ES" sz="1100" dirty="0" err="1"/>
              <a:t>converting</a:t>
            </a:r>
            <a:r>
              <a:rPr lang="es-ES" sz="1100" dirty="0"/>
              <a:t> Celsius to Fahrenheit (C * 9/5) + 32 </a:t>
            </a:r>
            <a:r>
              <a:rPr lang="es-ES" sz="1100" dirty="0" err="1"/>
              <a:t>is</a:t>
            </a:r>
            <a:r>
              <a:rPr lang="es-ES" sz="1100" dirty="0"/>
              <a:t> </a:t>
            </a:r>
            <a:r>
              <a:rPr lang="es-ES" sz="1100" dirty="0" err="1"/>
              <a:t>derived</a:t>
            </a:r>
            <a:r>
              <a:rPr lang="es-ES" sz="1100" dirty="0"/>
              <a:t> </a:t>
            </a:r>
          </a:p>
          <a:p>
            <a:pPr marL="0" indent="0">
              <a:lnSpc>
                <a:spcPct val="100%"/>
              </a:lnSpc>
              <a:buNone/>
            </a:pPr>
            <a:endParaRPr lang="es-ES" sz="1100" dirty="0"/>
          </a:p>
          <a:p>
            <a:pPr marL="0" indent="0">
              <a:lnSpc>
                <a:spcPct val="100%"/>
              </a:lnSpc>
              <a:buNone/>
            </a:pPr>
            <a:r>
              <a:rPr lang="es-ES" sz="1100" dirty="0"/>
              <a:t>// </a:t>
            </a:r>
            <a:r>
              <a:rPr lang="es-ES" sz="1100" dirty="0" err="1"/>
              <a:t>from</a:t>
            </a:r>
            <a:r>
              <a:rPr lang="es-ES" sz="1100" dirty="0"/>
              <a:t> </a:t>
            </a:r>
            <a:r>
              <a:rPr lang="es-ES" sz="1100" dirty="0" err="1"/>
              <a:t>the</a:t>
            </a:r>
            <a:r>
              <a:rPr lang="es-ES" sz="1100" dirty="0"/>
              <a:t> </a:t>
            </a:r>
            <a:r>
              <a:rPr lang="es-ES" sz="1100" dirty="0" err="1"/>
              <a:t>relation</a:t>
            </a:r>
            <a:r>
              <a:rPr lang="es-ES" sz="1100" dirty="0"/>
              <a:t> </a:t>
            </a:r>
            <a:r>
              <a:rPr lang="es-ES" sz="1100" dirty="0" err="1"/>
              <a:t>between</a:t>
            </a:r>
            <a:r>
              <a:rPr lang="es-ES" sz="1100" dirty="0"/>
              <a:t> </a:t>
            </a:r>
            <a:r>
              <a:rPr lang="es-ES" sz="1100" dirty="0" err="1"/>
              <a:t>the</a:t>
            </a:r>
            <a:r>
              <a:rPr lang="es-ES" sz="1100" dirty="0"/>
              <a:t> </a:t>
            </a:r>
            <a:r>
              <a:rPr lang="es-ES" sz="1100" dirty="0" err="1"/>
              <a:t>two</a:t>
            </a:r>
            <a:r>
              <a:rPr lang="es-ES" sz="1100" dirty="0"/>
              <a:t> </a:t>
            </a:r>
            <a:r>
              <a:rPr lang="es-ES" sz="1100" dirty="0" err="1"/>
              <a:t>temperature</a:t>
            </a:r>
            <a:r>
              <a:rPr lang="es-ES" sz="1100" dirty="0"/>
              <a:t> </a:t>
            </a:r>
            <a:r>
              <a:rPr lang="es-ES" sz="1100" dirty="0" err="1"/>
              <a:t>scales</a:t>
            </a:r>
            <a:r>
              <a:rPr lang="es-ES" sz="1100" dirty="0"/>
              <a:t>. </a:t>
            </a:r>
          </a:p>
          <a:p>
            <a:pPr marL="0" indent="0">
              <a:lnSpc>
                <a:spcPct val="100%"/>
              </a:lnSpc>
              <a:buNone/>
            </a:pPr>
            <a:endParaRPr lang="es-ES" sz="1100" dirty="0"/>
          </a:p>
          <a:p>
            <a:pPr marL="0" indent="0">
              <a:lnSpc>
                <a:spcPct val="100%"/>
              </a:lnSpc>
              <a:buNone/>
            </a:pPr>
            <a:r>
              <a:rPr lang="es-ES" sz="1100" dirty="0" err="1"/>
              <a:t>return</a:t>
            </a:r>
            <a:r>
              <a:rPr lang="es-ES" sz="1100" dirty="0"/>
              <a:t> (</a:t>
            </a:r>
            <a:r>
              <a:rPr lang="es-ES" sz="1100" dirty="0" err="1"/>
              <a:t>celsius</a:t>
            </a:r>
            <a:r>
              <a:rPr lang="es-ES" sz="1100" dirty="0"/>
              <a:t> * 9 / 5) + 32; </a:t>
            </a:r>
          </a:p>
          <a:p>
            <a:pPr marL="0" indent="0">
              <a:lnSpc>
                <a:spcPct val="100%"/>
              </a:lnSpc>
              <a:buNone/>
            </a:pPr>
            <a:endParaRPr lang="es-ES" sz="1100" dirty="0"/>
          </a:p>
          <a:p>
            <a:pPr marL="0" indent="0">
              <a:lnSpc>
                <a:spcPct val="100%"/>
              </a:lnSpc>
              <a:buNone/>
            </a:pPr>
            <a:r>
              <a:rPr lang="es-ES" sz="1100" dirty="0"/>
              <a:t>} </a:t>
            </a:r>
          </a:p>
          <a:p>
            <a:pPr marL="0" indent="0">
              <a:lnSpc>
                <a:spcPct val="100%"/>
              </a:lnSpc>
              <a:buNone/>
            </a:pPr>
            <a:endParaRPr lang="es-ES" sz="1100" dirty="0"/>
          </a:p>
          <a:p>
            <a:pPr marL="0" indent="0">
              <a:lnSpc>
                <a:spcPct val="100%"/>
              </a:lnSpc>
              <a:buNone/>
            </a:pPr>
            <a:r>
              <a:rPr lang="es-ES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10058064"/>
      </p:ext>
    </p:extLst>
  </p:cSld>
  <p:clrMapOvr>
    <a:masterClrMapping/>
  </p:clrMapOvr>
</p:sld>
</file>

<file path=ppt/slides/slide31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3E023702-FDE8-0CD8-2E9D-A5EF8D65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91D791-B049-CDD8-304B-8D6D72C97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/// &lt;</a:t>
            </a:r>
            <a:r>
              <a:rPr lang="es-ES" dirty="0" err="1"/>
              <a:t>summary</a:t>
            </a:r>
            <a:r>
              <a:rPr lang="es-ES" dirty="0"/>
              <a:t>&gt;</a:t>
            </a:r>
          </a:p>
          <a:p>
            <a:pPr marL="0" indent="0">
              <a:buNone/>
            </a:pPr>
            <a:r>
              <a:rPr lang="es-ES" dirty="0"/>
              <a:t>/// </a:t>
            </a:r>
            <a:r>
              <a:rPr lang="es-ES" dirty="0" err="1"/>
              <a:t>Calculates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total </a:t>
            </a:r>
            <a:r>
              <a:rPr lang="es-ES" dirty="0" err="1"/>
              <a:t>price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tax</a:t>
            </a:r>
            <a:r>
              <a:rPr lang="es-ES" dirty="0"/>
              <a:t> </a:t>
            </a:r>
            <a:r>
              <a:rPr lang="es-ES" dirty="0" err="1"/>
              <a:t>included</a:t>
            </a:r>
            <a:r>
              <a:rPr lang="es-ES" dirty="0"/>
              <a:t>. </a:t>
            </a:r>
          </a:p>
          <a:p>
            <a:pPr marL="0" indent="0">
              <a:buNone/>
            </a:pPr>
            <a:r>
              <a:rPr lang="es-ES" dirty="0"/>
              <a:t>/// &lt;/</a:t>
            </a:r>
            <a:r>
              <a:rPr lang="es-ES" dirty="0" err="1"/>
              <a:t>summary</a:t>
            </a:r>
            <a:r>
              <a:rPr lang="es-ES" dirty="0"/>
              <a:t>&gt;</a:t>
            </a:r>
          </a:p>
          <a:p>
            <a:pPr marL="0" indent="0">
              <a:buNone/>
            </a:pPr>
            <a:r>
              <a:rPr lang="es-ES" dirty="0"/>
              <a:t>/// &lt;</a:t>
            </a:r>
            <a:r>
              <a:rPr lang="es-ES" dirty="0" err="1"/>
              <a:t>param</a:t>
            </a:r>
            <a:r>
              <a:rPr lang="es-ES" dirty="0"/>
              <a:t> </a:t>
            </a:r>
            <a:r>
              <a:rPr lang="es-ES" dirty="0" err="1"/>
              <a:t>name</a:t>
            </a:r>
            <a:r>
              <a:rPr lang="es-ES" dirty="0"/>
              <a:t>="</a:t>
            </a:r>
            <a:r>
              <a:rPr lang="es-ES" dirty="0" err="1"/>
              <a:t>price</a:t>
            </a:r>
            <a:r>
              <a:rPr lang="es-ES" dirty="0"/>
              <a:t>"&gt;</a:t>
            </a:r>
            <a:r>
              <a:rPr lang="es-ES" dirty="0" err="1"/>
              <a:t>The</a:t>
            </a:r>
            <a:r>
              <a:rPr lang="es-ES" dirty="0"/>
              <a:t> base </a:t>
            </a:r>
            <a:r>
              <a:rPr lang="es-ES" dirty="0" err="1"/>
              <a:t>price</a:t>
            </a:r>
            <a:r>
              <a:rPr lang="es-ES" dirty="0"/>
              <a:t>.&lt;/</a:t>
            </a:r>
            <a:r>
              <a:rPr lang="es-ES" dirty="0" err="1"/>
              <a:t>param</a:t>
            </a:r>
            <a:r>
              <a:rPr lang="es-ES" dirty="0"/>
              <a:t>&gt;</a:t>
            </a:r>
          </a:p>
          <a:p>
            <a:pPr marL="0" indent="0">
              <a:buNone/>
            </a:pPr>
            <a:r>
              <a:rPr lang="es-ES" dirty="0"/>
              <a:t>/// &lt;</a:t>
            </a:r>
            <a:r>
              <a:rPr lang="es-ES" dirty="0" err="1"/>
              <a:t>param</a:t>
            </a:r>
            <a:r>
              <a:rPr lang="es-ES" dirty="0"/>
              <a:t> </a:t>
            </a:r>
            <a:r>
              <a:rPr lang="es-ES" dirty="0" err="1"/>
              <a:t>name</a:t>
            </a:r>
            <a:r>
              <a:rPr lang="es-ES" dirty="0"/>
              <a:t>="</a:t>
            </a:r>
            <a:r>
              <a:rPr lang="es-ES" dirty="0" err="1"/>
              <a:t>taxRate</a:t>
            </a:r>
            <a:r>
              <a:rPr lang="es-ES" dirty="0"/>
              <a:t>"&gt;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applicable</a:t>
            </a:r>
            <a:r>
              <a:rPr lang="es-ES" dirty="0"/>
              <a:t> </a:t>
            </a:r>
            <a:r>
              <a:rPr lang="es-ES" dirty="0" err="1"/>
              <a:t>tax</a:t>
            </a:r>
            <a:r>
              <a:rPr lang="es-ES" dirty="0"/>
              <a:t> </a:t>
            </a:r>
            <a:r>
              <a:rPr lang="es-ES" dirty="0" err="1"/>
              <a:t>rate</a:t>
            </a:r>
            <a:r>
              <a:rPr lang="es-ES" dirty="0"/>
              <a:t>.&lt;/</a:t>
            </a:r>
            <a:r>
              <a:rPr lang="es-ES" dirty="0" err="1"/>
              <a:t>param</a:t>
            </a:r>
            <a:r>
              <a:rPr lang="es-ES" dirty="0"/>
              <a:t>&gt;</a:t>
            </a:r>
          </a:p>
          <a:p>
            <a:pPr marL="0" indent="0">
              <a:buNone/>
            </a:pPr>
            <a:r>
              <a:rPr lang="es-ES" dirty="0"/>
              <a:t>/// &lt;</a:t>
            </a:r>
            <a:r>
              <a:rPr lang="es-ES" dirty="0" err="1"/>
              <a:t>returns</a:t>
            </a:r>
            <a:r>
              <a:rPr lang="es-ES" dirty="0"/>
              <a:t>&gt;</a:t>
            </a:r>
            <a:r>
              <a:rPr lang="es-ES" dirty="0" err="1"/>
              <a:t>The</a:t>
            </a:r>
            <a:r>
              <a:rPr lang="es-ES" dirty="0"/>
              <a:t> total </a:t>
            </a:r>
            <a:r>
              <a:rPr lang="es-ES" dirty="0" err="1"/>
              <a:t>price</a:t>
            </a:r>
            <a:r>
              <a:rPr lang="es-ES" dirty="0"/>
              <a:t> </a:t>
            </a:r>
            <a:r>
              <a:rPr lang="es-ES" dirty="0" err="1"/>
              <a:t>including</a:t>
            </a:r>
            <a:r>
              <a:rPr lang="es-ES" dirty="0"/>
              <a:t> </a:t>
            </a:r>
            <a:r>
              <a:rPr lang="es-ES" dirty="0" err="1"/>
              <a:t>tax</a:t>
            </a:r>
            <a:r>
              <a:rPr lang="es-ES" dirty="0"/>
              <a:t>.&lt;/</a:t>
            </a:r>
            <a:r>
              <a:rPr lang="es-ES" dirty="0" err="1"/>
              <a:t>returns</a:t>
            </a:r>
            <a:r>
              <a:rPr lang="es-ES" dirty="0"/>
              <a:t>&gt;</a:t>
            </a:r>
          </a:p>
          <a:p>
            <a:pPr marL="0" indent="0">
              <a:buNone/>
            </a:pPr>
            <a:r>
              <a:rPr lang="es-ES" dirty="0"/>
              <a:t>decimal </a:t>
            </a:r>
            <a:r>
              <a:rPr lang="es-ES" dirty="0" err="1"/>
              <a:t>CalculateTotalWithTax</a:t>
            </a:r>
            <a:r>
              <a:rPr lang="es-ES" dirty="0"/>
              <a:t>(decimal </a:t>
            </a:r>
            <a:r>
              <a:rPr lang="es-ES" dirty="0" err="1"/>
              <a:t>price</a:t>
            </a:r>
            <a:r>
              <a:rPr lang="es-ES" dirty="0"/>
              <a:t>, decimal </a:t>
            </a:r>
            <a:r>
              <a:rPr lang="es-ES" dirty="0" err="1"/>
              <a:t>taxRate</a:t>
            </a:r>
            <a:r>
              <a:rPr lang="es-ES" dirty="0"/>
              <a:t>) </a:t>
            </a:r>
          </a:p>
          <a:p>
            <a:pPr marL="0" indent="0">
              <a:buNone/>
            </a:pPr>
            <a:r>
              <a:rPr lang="es-ES" dirty="0"/>
              <a:t>{ </a:t>
            </a:r>
          </a:p>
          <a:p>
            <a:pPr marL="0" indent="0">
              <a:buNone/>
            </a:pPr>
            <a:r>
              <a:rPr lang="es-ES" dirty="0"/>
              <a:t>   </a:t>
            </a:r>
            <a:r>
              <a:rPr lang="es-ES" dirty="0" err="1"/>
              <a:t>return</a:t>
            </a:r>
            <a:r>
              <a:rPr lang="es-ES" dirty="0"/>
              <a:t> </a:t>
            </a:r>
            <a:r>
              <a:rPr lang="es-ES" dirty="0" err="1"/>
              <a:t>price</a:t>
            </a:r>
            <a:r>
              <a:rPr lang="es-ES" dirty="0"/>
              <a:t> + (</a:t>
            </a:r>
            <a:r>
              <a:rPr lang="es-ES" dirty="0" err="1"/>
              <a:t>price</a:t>
            </a:r>
            <a:r>
              <a:rPr lang="es-ES" dirty="0"/>
              <a:t> * </a:t>
            </a:r>
            <a:r>
              <a:rPr lang="es-ES" dirty="0" err="1"/>
              <a:t>taxRate</a:t>
            </a:r>
            <a:r>
              <a:rPr lang="es-ES" dirty="0"/>
              <a:t>); </a:t>
            </a:r>
          </a:p>
          <a:p>
            <a:pPr marL="0" indent="0">
              <a:buNone/>
            </a:pPr>
            <a:r>
              <a:rPr lang="es-E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2792367"/>
      </p:ext>
    </p:extLst>
  </p:cSld>
  <p:clrMapOvr>
    <a:masterClrMapping/>
  </p:clrMapOvr>
</p:sld>
</file>

<file path=ppt/slides/slide32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6A12D078-842B-8717-21E1-631220D68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r>
              <a:rPr lang="en-US" sz="3600"/>
              <a:t>Keep Functions and Methods Small</a:t>
            </a:r>
            <a:br>
              <a:rPr lang="en-US" sz="3600"/>
            </a:br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10D3D4-BCEE-6396-0626-052E00EE8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2149" y="978558"/>
            <a:ext cx="7591859" cy="5091495"/>
          </a:xfrm>
        </p:spPr>
        <p:txBody>
          <a:bodyPr>
            <a:normAutofit/>
          </a:bodyPr>
          <a:lstStyle/>
          <a:p>
            <a:pPr marL="0" indent="0">
              <a:lnSpc>
                <a:spcPct val="100%"/>
              </a:lnSpc>
              <a:buNone/>
            </a:pPr>
            <a:r>
              <a:rPr lang="en-US" sz="1600" dirty="0"/>
              <a:t>Small functions and methods are integral to clean code for several reasons:</a:t>
            </a:r>
          </a:p>
          <a:p>
            <a:pPr>
              <a:lnSpc>
                <a:spcPct val="100%"/>
              </a:lnSpc>
            </a:pPr>
            <a:r>
              <a:rPr lang="en-US" sz="1600" dirty="0"/>
              <a:t>1. </a:t>
            </a:r>
            <a:r>
              <a:rPr lang="en-US" sz="1600" b="1" dirty="0"/>
              <a:t>Readability </a:t>
            </a:r>
            <a:r>
              <a:rPr lang="en-US" sz="1600" dirty="0"/>
              <a:t>Small functions are more readable. When a function is concise and focused on a single task, it is easier for anyone reading the code to understand what it does.</a:t>
            </a:r>
          </a:p>
          <a:p>
            <a:pPr>
              <a:lnSpc>
                <a:spcPct val="100%"/>
              </a:lnSpc>
            </a:pPr>
            <a:r>
              <a:rPr lang="en-US" sz="1600" dirty="0"/>
              <a:t>2. </a:t>
            </a:r>
            <a:r>
              <a:rPr lang="en-US" sz="1600" b="1" dirty="0"/>
              <a:t>Maintainability </a:t>
            </a:r>
            <a:r>
              <a:rPr lang="en-US" sz="1600" dirty="0"/>
              <a:t>Smaller functions are easier to maintain. When a change is required, you don’t need to comprehend the entire function; you can focus on the specific part related to the change.</a:t>
            </a:r>
          </a:p>
          <a:p>
            <a:pPr>
              <a:lnSpc>
                <a:spcPct val="100%"/>
              </a:lnSpc>
            </a:pPr>
            <a:r>
              <a:rPr lang="en-US" sz="1600" dirty="0"/>
              <a:t>3. </a:t>
            </a:r>
            <a:r>
              <a:rPr lang="en-US" sz="1600" b="1" dirty="0"/>
              <a:t>Reusability </a:t>
            </a:r>
            <a:r>
              <a:rPr lang="en-US" sz="1600" dirty="0"/>
              <a:t>Smaller functions are more reusable. They can be used in different contexts because they perform specific, well-defined tasks.</a:t>
            </a:r>
          </a:p>
          <a:p>
            <a:pPr>
              <a:lnSpc>
                <a:spcPct val="100%"/>
              </a:lnSpc>
            </a:pPr>
            <a:r>
              <a:rPr lang="en-US" sz="1600" dirty="0"/>
              <a:t>4. </a:t>
            </a:r>
            <a:r>
              <a:rPr lang="en-US" sz="1600" b="1" dirty="0"/>
              <a:t>Testing </a:t>
            </a:r>
            <a:r>
              <a:rPr lang="en-US" sz="1600" dirty="0"/>
              <a:t>Small functions are more testable. When functions have a single responsibility, it’s easier to write unit tests that cover specific cases and behaviors.</a:t>
            </a:r>
          </a:p>
          <a:p>
            <a:pPr>
              <a:lnSpc>
                <a:spcPct val="100%"/>
              </a:lnSpc>
            </a:pPr>
            <a:r>
              <a:rPr lang="en-US" sz="1600" dirty="0"/>
              <a:t>5. </a:t>
            </a:r>
            <a:r>
              <a:rPr lang="en-US" sz="1600" b="1" dirty="0"/>
              <a:t>Debugging </a:t>
            </a:r>
            <a:r>
              <a:rPr lang="en-US" sz="1600" dirty="0" err="1"/>
              <a:t>Debugging</a:t>
            </a:r>
            <a:r>
              <a:rPr lang="en-US" sz="1600" dirty="0"/>
              <a:t> is simpler with smaller functions. When an issue arises, you can quickly pinpoint the function or method responsible, making debugging less time-consuming.</a:t>
            </a:r>
          </a:p>
          <a:p>
            <a:pPr>
              <a:lnSpc>
                <a:spcPct val="100%"/>
              </a:lnSpc>
            </a:pPr>
            <a:r>
              <a:rPr lang="en-US" sz="1600" dirty="0"/>
              <a:t>6. </a:t>
            </a:r>
            <a:r>
              <a:rPr lang="en-US" sz="1600" b="1" dirty="0"/>
              <a:t>Encapsulation </a:t>
            </a:r>
            <a:r>
              <a:rPr lang="en-US" sz="1600" dirty="0"/>
              <a:t>Smaller functions naturally follow the principle of encapsulation, isolating a specific piece of functionality. This can lead to better code organization.</a:t>
            </a:r>
          </a:p>
          <a:p>
            <a:pPr>
              <a:lnSpc>
                <a:spcPct val="100%"/>
              </a:lnSpc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098731848"/>
      </p:ext>
    </p:extLst>
  </p:cSld>
  <p:clrMapOvr>
    <a:masterClrMapping/>
  </p:clrMapOvr>
</p:sld>
</file>

<file path=ppt/slides/slide33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E96CAC-C929-982F-C2DB-F8BCBADE4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871758"/>
            <a:ext cx="10283452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/>
              <a:t>LAB 1</a:t>
            </a:r>
          </a:p>
        </p:txBody>
      </p:sp>
      <p:cxnSp>
        <p:nvCxnSpPr>
          <p:cNvPr id="19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850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%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9" name="Straight Connector 307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1A1FADC9-A0F4-4689-9608-959F3C23D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B2ACE34F-9671-A7DB-C01A-1B6BCEF2FD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0.002%" b="10.793%"/>
          <a:stretch>
            <a:fillRect/>
          </a:stretch>
        </p:blipFill>
        <p:spPr bwMode="auto">
          <a:xfrm>
            <a:off x="800100" y="1066799"/>
            <a:ext cx="10591800" cy="4724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7" name="Straight Connector 3086">
            <a:extLst>
              <a:ext uri="{FF2B5EF4-FFF2-40B4-BE49-F238E27FC236}">
                <a16:creationId xmlns:a16="http://schemas.microsoft.com/office/drawing/2014/main" id="{8ED41C16-52CF-47AA-A5C9-95D10CB80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860654"/>
      </p:ext>
    </p:extLst>
  </p:cSld>
  <p:clrMapOvr>
    <a:masterClrMapping/>
  </p:clrMapOvr>
</p:sld>
</file>

<file path=ppt/slides/slide35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5E2130-86F3-FD08-8D3A-1CA7186C6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s-ES" sz="3300" b="1"/>
              <a:t>The Single Responsibility Principle</a:t>
            </a:r>
            <a:br>
              <a:rPr lang="es-ES" sz="3300" b="1"/>
            </a:br>
            <a:br>
              <a:rPr lang="es-ES" sz="3300"/>
            </a:br>
            <a:endParaRPr lang="es-ES" sz="33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E057C1-3EED-22A8-A545-423F077E6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pPr>
              <a:lnSpc>
                <a:spcPct val="100%"/>
              </a:lnSpc>
            </a:pP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IList</a:t>
            </a:r>
            <a:r>
              <a:rPr lang="es-ES" dirty="0"/>
              <a:t>&lt;</a:t>
            </a:r>
            <a:r>
              <a:rPr lang="es-ES" dirty="0" err="1"/>
              <a:t>IList</a:t>
            </a:r>
            <a:r>
              <a:rPr lang="es-ES" dirty="0"/>
              <a:t>&lt;Nerd&gt;&gt; </a:t>
            </a:r>
            <a:r>
              <a:rPr lang="es-ES" dirty="0" err="1"/>
              <a:t>ComputeNerdClusters</a:t>
            </a:r>
            <a:r>
              <a:rPr lang="es-ES" dirty="0"/>
              <a:t>(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</a:t>
            </a:r>
            <a:r>
              <a:rPr lang="es-ES" dirty="0" err="1"/>
              <a:t>List</a:t>
            </a:r>
            <a:r>
              <a:rPr lang="es-ES" dirty="0"/>
              <a:t>&lt;Nerd&gt; nerds,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</a:t>
            </a:r>
            <a:r>
              <a:rPr lang="es-ES" dirty="0" err="1"/>
              <a:t>IPlotter</a:t>
            </a:r>
            <a:r>
              <a:rPr lang="es-ES" dirty="0"/>
              <a:t> plotter = </a:t>
            </a:r>
            <a:r>
              <a:rPr lang="es-ES" dirty="0" err="1"/>
              <a:t>null</a:t>
            </a:r>
            <a:r>
              <a:rPr lang="es-ES" dirty="0"/>
              <a:t>) {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...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</a:t>
            </a:r>
            <a:r>
              <a:rPr lang="es-ES" dirty="0" err="1"/>
              <a:t>foreach</a:t>
            </a:r>
            <a:r>
              <a:rPr lang="es-ES" dirty="0"/>
              <a:t> (</a:t>
            </a:r>
            <a:r>
              <a:rPr lang="es-ES" dirty="0" err="1"/>
              <a:t>var</a:t>
            </a:r>
            <a:r>
              <a:rPr lang="es-ES" dirty="0"/>
              <a:t> nerd in nerds) {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   ...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   </a:t>
            </a:r>
            <a:r>
              <a:rPr lang="es-ES" dirty="0" err="1"/>
              <a:t>if</a:t>
            </a:r>
            <a:r>
              <a:rPr lang="es-ES" dirty="0"/>
              <a:t> (plotter != </a:t>
            </a:r>
            <a:r>
              <a:rPr lang="es-ES" dirty="0" err="1"/>
              <a:t>null</a:t>
            </a:r>
            <a:r>
              <a:rPr lang="es-ES" dirty="0"/>
              <a:t>)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     </a:t>
            </a:r>
            <a:r>
              <a:rPr lang="es-ES" dirty="0" err="1"/>
              <a:t>plotter.Draw</a:t>
            </a:r>
            <a:r>
              <a:rPr lang="es-ES" dirty="0"/>
              <a:t>(</a:t>
            </a:r>
            <a:r>
              <a:rPr lang="es-ES" dirty="0" err="1"/>
              <a:t>nerd.Location</a:t>
            </a:r>
            <a:r>
              <a:rPr lang="es-ES" dirty="0"/>
              <a:t>, 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      </a:t>
            </a:r>
            <a:r>
              <a:rPr lang="es-ES" dirty="0" err="1"/>
              <a:t>Brushes.PeachPuff</a:t>
            </a:r>
            <a:r>
              <a:rPr lang="es-ES" dirty="0"/>
              <a:t>, </a:t>
            </a:r>
            <a:r>
              <a:rPr lang="es-ES" dirty="0" err="1"/>
              <a:t>radius</a:t>
            </a:r>
            <a:r>
              <a:rPr lang="es-ES" dirty="0"/>
              <a:t>: 10);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   ...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}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...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}</a:t>
            </a:r>
            <a:endParaRPr lang="es-E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030266"/>
      </p:ext>
    </p:extLst>
  </p:cSld>
  <p:clrMapOvr>
    <a:masterClrMapping/>
  </p:clrMapOvr>
</p:sld>
</file>

<file path=ppt/slides/slide36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E875E1-B0F5-7065-487B-4E1FB2AFD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31A0C9-9A13-0CFD-4443-90FFC56D4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pPr>
              <a:lnSpc>
                <a:spcPct val="100%"/>
              </a:lnSpc>
            </a:pPr>
            <a:r>
              <a:rPr lang="es-ES" sz="1700" err="1"/>
              <a:t>class</a:t>
            </a:r>
            <a:r>
              <a:rPr lang="es-ES" sz="1700"/>
              <a:t> Nerd {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public</a:t>
            </a:r>
            <a:r>
              <a:rPr lang="es-ES" sz="1700"/>
              <a:t> </a:t>
            </a:r>
            <a:r>
              <a:rPr lang="es-ES" sz="1700" err="1"/>
              <a:t>int</a:t>
            </a:r>
            <a:r>
              <a:rPr lang="es-ES" sz="1700"/>
              <a:t> IQ { </a:t>
            </a:r>
            <a:r>
              <a:rPr lang="es-ES" sz="1700" err="1"/>
              <a:t>get</a:t>
            </a:r>
            <a:r>
              <a:rPr lang="es-ES" sz="1700"/>
              <a:t>; </a:t>
            </a:r>
            <a:r>
              <a:rPr lang="es-ES" sz="1700" err="1"/>
              <a:t>protected</a:t>
            </a:r>
            <a:r>
              <a:rPr lang="es-ES" sz="1700"/>
              <a:t> set; }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public</a:t>
            </a:r>
            <a:r>
              <a:rPr lang="es-ES" sz="1700"/>
              <a:t> </a:t>
            </a:r>
            <a:r>
              <a:rPr lang="es-ES" sz="1700" err="1"/>
              <a:t>double</a:t>
            </a:r>
            <a:r>
              <a:rPr lang="es-ES" sz="1700"/>
              <a:t> </a:t>
            </a:r>
            <a:r>
              <a:rPr lang="es-ES" sz="1700" err="1"/>
              <a:t>SuspenderTension</a:t>
            </a:r>
            <a:r>
              <a:rPr lang="es-ES" sz="1700"/>
              <a:t> { </a:t>
            </a:r>
            <a:r>
              <a:rPr lang="es-ES" sz="1700" err="1"/>
              <a:t>get</a:t>
            </a:r>
            <a:r>
              <a:rPr lang="es-ES" sz="1700"/>
              <a:t>; set; }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public</a:t>
            </a:r>
            <a:r>
              <a:rPr lang="es-ES" sz="1700"/>
              <a:t> </a:t>
            </a:r>
            <a:r>
              <a:rPr lang="es-ES" sz="1700" err="1"/>
              <a:t>double</a:t>
            </a:r>
            <a:r>
              <a:rPr lang="es-ES" sz="1700"/>
              <a:t> </a:t>
            </a:r>
            <a:r>
              <a:rPr lang="es-ES" sz="1700" err="1"/>
              <a:t>Radius</a:t>
            </a:r>
            <a:r>
              <a:rPr lang="es-ES" sz="1700"/>
              <a:t> { </a:t>
            </a:r>
            <a:r>
              <a:rPr lang="es-ES" sz="1700" err="1"/>
              <a:t>get</a:t>
            </a:r>
            <a:r>
              <a:rPr lang="es-ES" sz="1700"/>
              <a:t>; </a:t>
            </a:r>
            <a:r>
              <a:rPr lang="es-ES" sz="1700" err="1"/>
              <a:t>protected</a:t>
            </a:r>
            <a:r>
              <a:rPr lang="es-ES" sz="1700"/>
              <a:t> set; }</a:t>
            </a:r>
          </a:p>
          <a:p>
            <a:pPr>
              <a:lnSpc>
                <a:spcPct val="100%"/>
              </a:lnSpc>
            </a:pPr>
            <a:r>
              <a:rPr lang="es-ES" sz="1700"/>
              <a:t>  /// &lt;</a:t>
            </a:r>
            <a:r>
              <a:rPr lang="es-ES" sz="1700" err="1"/>
              <a:t>summary</a:t>
            </a:r>
            <a:r>
              <a:rPr lang="es-ES" sz="1700"/>
              <a:t>&gt;</a:t>
            </a:r>
            <a:r>
              <a:rPr lang="es-ES" sz="1700" err="1"/>
              <a:t>Get</a:t>
            </a:r>
            <a:r>
              <a:rPr lang="es-ES" sz="1700"/>
              <a:t> </a:t>
            </a:r>
            <a:r>
              <a:rPr lang="es-ES" sz="1700" err="1"/>
              <a:t>books</a:t>
            </a:r>
            <a:r>
              <a:rPr lang="es-ES" sz="1700"/>
              <a:t> </a:t>
            </a:r>
            <a:r>
              <a:rPr lang="es-ES" sz="1700" err="1"/>
              <a:t>for</a:t>
            </a:r>
            <a:r>
              <a:rPr lang="es-ES" sz="1700"/>
              <a:t> </a:t>
            </a:r>
            <a:r>
              <a:rPr lang="es-ES" sz="1700" err="1"/>
              <a:t>growing</a:t>
            </a:r>
            <a:r>
              <a:rPr lang="es-ES" sz="1700"/>
              <a:t> IQ&lt;/</a:t>
            </a:r>
            <a:r>
              <a:rPr lang="es-ES" sz="1700" err="1"/>
              <a:t>summary</a:t>
            </a:r>
            <a:r>
              <a:rPr lang="es-ES" sz="1700"/>
              <a:t>&gt;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public</a:t>
            </a:r>
            <a:r>
              <a:rPr lang="es-ES" sz="1700"/>
              <a:t> </a:t>
            </a:r>
            <a:r>
              <a:rPr lang="es-ES" sz="1700" err="1"/>
              <a:t>event</a:t>
            </a:r>
            <a:r>
              <a:rPr lang="es-ES" sz="1700"/>
              <a:t> </a:t>
            </a:r>
            <a:r>
              <a:rPr lang="es-ES" sz="1700" err="1"/>
              <a:t>Func</a:t>
            </a:r>
            <a:r>
              <a:rPr lang="es-ES" sz="1700"/>
              <a:t>&lt;Nerd, </a:t>
            </a:r>
            <a:r>
              <a:rPr lang="es-ES" sz="1700" err="1"/>
              <a:t>IBook</a:t>
            </a:r>
            <a:r>
              <a:rPr lang="es-ES" sz="1700"/>
              <a:t>&gt; </a:t>
            </a:r>
            <a:r>
              <a:rPr lang="es-ES" sz="1700" err="1"/>
              <a:t>InTheMoodForBook</a:t>
            </a:r>
            <a:r>
              <a:rPr lang="es-ES" sz="1700"/>
              <a:t>;</a:t>
            </a:r>
          </a:p>
          <a:p>
            <a:pPr>
              <a:lnSpc>
                <a:spcPct val="100%"/>
              </a:lnSpc>
            </a:pPr>
            <a:r>
              <a:rPr lang="es-ES" sz="1700"/>
              <a:t>  /// &lt;</a:t>
            </a:r>
            <a:r>
              <a:rPr lang="es-ES" sz="1700" err="1"/>
              <a:t>summary</a:t>
            </a:r>
            <a:r>
              <a:rPr lang="es-ES" sz="1700"/>
              <a:t>&gt;</a:t>
            </a:r>
            <a:r>
              <a:rPr lang="es-ES" sz="1700" err="1"/>
              <a:t>Get</a:t>
            </a:r>
            <a:r>
              <a:rPr lang="es-ES" sz="1700"/>
              <a:t> </a:t>
            </a:r>
            <a:r>
              <a:rPr lang="es-ES" sz="1700" err="1"/>
              <a:t>recommendations</a:t>
            </a:r>
            <a:r>
              <a:rPr lang="es-ES" sz="1700"/>
              <a:t> </a:t>
            </a:r>
            <a:r>
              <a:rPr lang="es-ES" sz="1700" err="1"/>
              <a:t>for</a:t>
            </a:r>
            <a:r>
              <a:rPr lang="es-ES" sz="1700"/>
              <a:t> </a:t>
            </a:r>
            <a:r>
              <a:rPr lang="es-ES" sz="1700" err="1"/>
              <a:t>growing</a:t>
            </a:r>
            <a:r>
              <a:rPr lang="es-ES" sz="1700"/>
              <a:t> </a:t>
            </a:r>
            <a:r>
              <a:rPr lang="es-ES" sz="1700" err="1"/>
              <a:t>Radius</a:t>
            </a:r>
            <a:r>
              <a:rPr lang="es-ES" sz="1700"/>
              <a:t>&lt;/</a:t>
            </a:r>
            <a:r>
              <a:rPr lang="es-ES" sz="1700" err="1"/>
              <a:t>summary</a:t>
            </a:r>
            <a:r>
              <a:rPr lang="es-ES" sz="1700"/>
              <a:t>&gt;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public</a:t>
            </a:r>
            <a:r>
              <a:rPr lang="es-ES" sz="1700"/>
              <a:t> </a:t>
            </a:r>
            <a:r>
              <a:rPr lang="es-ES" sz="1700" err="1"/>
              <a:t>event</a:t>
            </a:r>
            <a:r>
              <a:rPr lang="es-ES" sz="1700"/>
              <a:t> </a:t>
            </a:r>
            <a:r>
              <a:rPr lang="es-ES" sz="1700" err="1"/>
              <a:t>Func</a:t>
            </a:r>
            <a:r>
              <a:rPr lang="es-ES" sz="1700"/>
              <a:t>&lt;Nerd, </a:t>
            </a:r>
            <a:r>
              <a:rPr lang="es-ES" sz="1700" err="1"/>
              <a:t>ISweet</a:t>
            </a:r>
            <a:r>
              <a:rPr lang="es-ES" sz="1700"/>
              <a:t>&gt; </a:t>
            </a:r>
            <a:r>
              <a:rPr lang="es-ES" sz="1700" err="1"/>
              <a:t>InTheMoodForTwink</a:t>
            </a:r>
            <a:r>
              <a:rPr lang="es-ES" sz="1700"/>
              <a:t>;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public</a:t>
            </a:r>
            <a:r>
              <a:rPr lang="es-ES" sz="1700"/>
              <a:t> </a:t>
            </a:r>
            <a:r>
              <a:rPr lang="es-ES" sz="1700" err="1"/>
              <a:t>IList</a:t>
            </a:r>
            <a:r>
              <a:rPr lang="es-ES" sz="1700"/>
              <a:t>&lt;Nerd&gt; </a:t>
            </a:r>
            <a:r>
              <a:rPr lang="es-ES" sz="1700" err="1"/>
              <a:t>FitNerdsIntoPaddedRoom</a:t>
            </a:r>
            <a:r>
              <a:rPr lang="es-ES" sz="1700"/>
              <a:t>(</a:t>
            </a:r>
          </a:p>
          <a:p>
            <a:pPr>
              <a:lnSpc>
                <a:spcPct val="100%"/>
              </a:lnSpc>
            </a:pPr>
            <a:r>
              <a:rPr lang="es-ES" sz="1700"/>
              <a:t>    </a:t>
            </a:r>
            <a:r>
              <a:rPr lang="es-ES" sz="1700" err="1"/>
              <a:t>IList</a:t>
            </a:r>
            <a:r>
              <a:rPr lang="es-ES" sz="1700"/>
              <a:t>&lt;Nerd&gt; nerds, </a:t>
            </a:r>
            <a:r>
              <a:rPr lang="es-ES" sz="1700" err="1"/>
              <a:t>IList</a:t>
            </a:r>
            <a:r>
              <a:rPr lang="es-ES" sz="1700"/>
              <a:t>&lt;Point&gt; </a:t>
            </a:r>
            <a:r>
              <a:rPr lang="es-ES" sz="1700" err="1"/>
              <a:t>boundary</a:t>
            </a:r>
            <a:r>
              <a:rPr lang="es-ES" sz="1700"/>
              <a:t>)</a:t>
            </a:r>
          </a:p>
          <a:p>
            <a:pPr>
              <a:lnSpc>
                <a:spcPct val="100%"/>
              </a:lnSpc>
            </a:pPr>
            <a:r>
              <a:rPr lang="es-ES" sz="1700"/>
              <a:t>  {</a:t>
            </a:r>
          </a:p>
          <a:p>
            <a:pPr>
              <a:lnSpc>
                <a:spcPct val="100%"/>
              </a:lnSpc>
            </a:pPr>
            <a:r>
              <a:rPr lang="es-ES" sz="1700"/>
              <a:t>    ...</a:t>
            </a:r>
          </a:p>
          <a:p>
            <a:pPr>
              <a:lnSpc>
                <a:spcPct val="100%"/>
              </a:lnSpc>
            </a:pPr>
            <a:r>
              <a:rPr lang="es-ES" sz="1700"/>
              <a:t>  }</a:t>
            </a:r>
          </a:p>
          <a:p>
            <a:pPr>
              <a:lnSpc>
                <a:spcPct val="100%"/>
              </a:lnSpc>
            </a:pPr>
            <a:r>
              <a:rPr lang="es-ES" sz="170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037182"/>
      </p:ext>
    </p:extLst>
  </p:cSld>
  <p:clrMapOvr>
    <a:masterClrMapping/>
  </p:clrMapOvr>
</p:sld>
</file>

<file path=ppt/slides/slide37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9CD239-85E8-DB49-A329-F40E6FC8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E50B82-6C69-4614-47BF-500B6096E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pPr>
              <a:lnSpc>
                <a:spcPct val="100%"/>
              </a:lnSpc>
            </a:pPr>
            <a:r>
              <a:rPr lang="es-ES" sz="1700" err="1"/>
              <a:t>class</a:t>
            </a:r>
            <a:r>
              <a:rPr lang="es-ES" sz="1700"/>
              <a:t> </a:t>
            </a:r>
            <a:r>
              <a:rPr lang="es-ES" sz="1700" err="1"/>
              <a:t>AvatarBotPath</a:t>
            </a:r>
            <a:endParaRPr lang="es-ES" sz="1700"/>
          </a:p>
          <a:p>
            <a:pPr>
              <a:lnSpc>
                <a:spcPct val="100%"/>
              </a:lnSpc>
            </a:pPr>
            <a:r>
              <a:rPr lang="es-ES" sz="1700"/>
              <a:t>{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public</a:t>
            </a:r>
            <a:r>
              <a:rPr lang="es-ES" sz="1700"/>
              <a:t> </a:t>
            </a:r>
            <a:r>
              <a:rPr lang="es-ES" sz="1700" err="1"/>
              <a:t>IReadOnlyList</a:t>
            </a:r>
            <a:r>
              <a:rPr lang="es-ES" sz="1700"/>
              <a:t>&lt;</a:t>
            </a:r>
            <a:r>
              <a:rPr lang="es-ES" sz="1700" err="1"/>
              <a:t>ISegment</a:t>
            </a:r>
            <a:r>
              <a:rPr lang="es-ES" sz="1700"/>
              <a:t>&gt; </a:t>
            </a:r>
            <a:r>
              <a:rPr lang="es-ES" sz="1700" err="1"/>
              <a:t>Segments</a:t>
            </a:r>
            <a:r>
              <a:rPr lang="es-ES" sz="1700"/>
              <a:t> { </a:t>
            </a:r>
            <a:r>
              <a:rPr lang="es-ES" sz="1700" err="1"/>
              <a:t>get</a:t>
            </a:r>
            <a:r>
              <a:rPr lang="es-ES" sz="1700"/>
              <a:t>; </a:t>
            </a:r>
            <a:r>
              <a:rPr lang="es-ES" sz="1700" err="1"/>
              <a:t>private</a:t>
            </a:r>
            <a:r>
              <a:rPr lang="es-ES" sz="1700"/>
              <a:t> set; }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public</a:t>
            </a:r>
            <a:r>
              <a:rPr lang="es-ES" sz="1700"/>
              <a:t> </a:t>
            </a:r>
            <a:r>
              <a:rPr lang="es-ES" sz="1700" err="1"/>
              <a:t>double</a:t>
            </a:r>
            <a:r>
              <a:rPr lang="es-ES" sz="1700"/>
              <a:t> </a:t>
            </a:r>
            <a:r>
              <a:rPr lang="es-ES" sz="1700" err="1"/>
              <a:t>TargetVelocity</a:t>
            </a:r>
            <a:r>
              <a:rPr lang="es-ES" sz="1700"/>
              <a:t> { </a:t>
            </a:r>
            <a:r>
              <a:rPr lang="es-ES" sz="1700" err="1"/>
              <a:t>get</a:t>
            </a:r>
            <a:r>
              <a:rPr lang="es-ES" sz="1700"/>
              <a:t>; set; }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public</a:t>
            </a:r>
            <a:r>
              <a:rPr lang="es-ES" sz="1700"/>
              <a:t> </a:t>
            </a:r>
            <a:r>
              <a:rPr lang="es-ES" sz="1700" err="1"/>
              <a:t>bool</a:t>
            </a:r>
            <a:r>
              <a:rPr lang="es-ES" sz="1700"/>
              <a:t> </a:t>
            </a:r>
            <a:r>
              <a:rPr lang="es-ES" sz="1700" err="1"/>
              <a:t>IsReverse</a:t>
            </a:r>
            <a:r>
              <a:rPr lang="es-ES" sz="1700"/>
              <a:t> { </a:t>
            </a:r>
            <a:r>
              <a:rPr lang="es-ES" sz="1700" err="1"/>
              <a:t>get</a:t>
            </a:r>
            <a:r>
              <a:rPr lang="es-ES" sz="1700"/>
              <a:t> { </a:t>
            </a:r>
            <a:r>
              <a:rPr lang="es-ES" sz="1700" err="1"/>
              <a:t>return</a:t>
            </a:r>
            <a:r>
              <a:rPr lang="es-ES" sz="1700"/>
              <a:t> </a:t>
            </a:r>
            <a:r>
              <a:rPr lang="es-ES" sz="1700" err="1"/>
              <a:t>TargetVelocity</a:t>
            </a:r>
            <a:r>
              <a:rPr lang="es-ES" sz="1700"/>
              <a:t> &lt; 0; } }</a:t>
            </a:r>
          </a:p>
          <a:p>
            <a:pPr>
              <a:lnSpc>
                <a:spcPct val="100%"/>
              </a:lnSpc>
            </a:pPr>
            <a:r>
              <a:rPr lang="es-ES" sz="1700"/>
              <a:t>  ...</a:t>
            </a:r>
          </a:p>
          <a:p>
            <a:pPr>
              <a:lnSpc>
                <a:spcPct val="100%"/>
              </a:lnSpc>
            </a:pPr>
            <a:r>
              <a:rPr lang="es-ES" sz="1700"/>
              <a:t>}</a:t>
            </a:r>
          </a:p>
          <a:p>
            <a:pPr>
              <a:lnSpc>
                <a:spcPct val="100%"/>
              </a:lnSpc>
            </a:pPr>
            <a:r>
              <a:rPr lang="es-ES" sz="1700" err="1"/>
              <a:t>public</a:t>
            </a:r>
            <a:r>
              <a:rPr lang="es-ES" sz="1700"/>
              <a:t> interface </a:t>
            </a:r>
            <a:r>
              <a:rPr lang="es-ES" sz="1700" err="1"/>
              <a:t>ISegment</a:t>
            </a:r>
            <a:r>
              <a:rPr lang="es-ES" sz="1700"/>
              <a:t> // </a:t>
            </a:r>
            <a:r>
              <a:rPr lang="es-ES" sz="1700" err="1"/>
              <a:t>Elsewhere</a:t>
            </a:r>
            <a:endParaRPr lang="es-ES" sz="1700"/>
          </a:p>
          <a:p>
            <a:pPr>
              <a:lnSpc>
                <a:spcPct val="100%"/>
              </a:lnSpc>
            </a:pPr>
            <a:r>
              <a:rPr lang="es-ES" sz="1700"/>
              <a:t>{</a:t>
            </a:r>
          </a:p>
          <a:p>
            <a:pPr>
              <a:lnSpc>
                <a:spcPct val="100%"/>
              </a:lnSpc>
            </a:pPr>
            <a:r>
              <a:rPr lang="es-ES" sz="1700"/>
              <a:t>  Point </a:t>
            </a:r>
            <a:r>
              <a:rPr lang="es-ES" sz="1700" err="1"/>
              <a:t>Start</a:t>
            </a:r>
            <a:r>
              <a:rPr lang="es-ES" sz="1700"/>
              <a:t> { </a:t>
            </a:r>
            <a:r>
              <a:rPr lang="es-ES" sz="1700" err="1"/>
              <a:t>get</a:t>
            </a:r>
            <a:r>
              <a:rPr lang="es-ES" sz="1700"/>
              <a:t>; }</a:t>
            </a:r>
          </a:p>
          <a:p>
            <a:pPr>
              <a:lnSpc>
                <a:spcPct val="100%"/>
              </a:lnSpc>
            </a:pPr>
            <a:r>
              <a:rPr lang="es-ES" sz="1700"/>
              <a:t>  Point </a:t>
            </a:r>
            <a:r>
              <a:rPr lang="es-ES" sz="1700" err="1"/>
              <a:t>End</a:t>
            </a:r>
            <a:r>
              <a:rPr lang="es-ES" sz="1700"/>
              <a:t> { </a:t>
            </a:r>
            <a:r>
              <a:rPr lang="es-ES" sz="1700" err="1"/>
              <a:t>get</a:t>
            </a:r>
            <a:r>
              <a:rPr lang="es-ES" sz="1700"/>
              <a:t>; }</a:t>
            </a:r>
          </a:p>
          <a:p>
            <a:pPr>
              <a:lnSpc>
                <a:spcPct val="100%"/>
              </a:lnSpc>
            </a:pPr>
            <a:r>
              <a:rPr lang="es-ES" sz="1700"/>
              <a:t>  ...</a:t>
            </a:r>
          </a:p>
          <a:p>
            <a:pPr>
              <a:lnSpc>
                <a:spcPct val="100%"/>
              </a:lnSpc>
            </a:pPr>
            <a:r>
              <a:rPr lang="es-ES" sz="170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261900"/>
      </p:ext>
    </p:extLst>
  </p:cSld>
  <p:clrMapOvr>
    <a:masterClrMapping/>
  </p:clrMapOvr>
</p:sld>
</file>

<file path=ppt/slides/slide38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4EC832-D8D9-4023-5271-2BDA72F0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s-ES" sz="3600" b="1"/>
              <a:t>The Open Closed Principle</a:t>
            </a:r>
            <a:br>
              <a:rPr lang="es-ES" sz="3600" b="1"/>
            </a:br>
            <a:br>
              <a:rPr lang="es-ES" sz="3600"/>
            </a:br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ED3B89-865F-2397-3FE8-A01FDFAEB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DrawNerd</a:t>
            </a:r>
            <a:r>
              <a:rPr lang="es-ES" dirty="0"/>
              <a:t>(Nerd nerd) {</a:t>
            </a:r>
          </a:p>
          <a:p>
            <a:r>
              <a:rPr lang="es-ES" dirty="0"/>
              <a:t>  </a:t>
            </a:r>
            <a:r>
              <a:rPr lang="es-ES" dirty="0" err="1"/>
              <a:t>if</a:t>
            </a:r>
            <a:r>
              <a:rPr lang="es-ES" dirty="0"/>
              <a:t> (</a:t>
            </a:r>
            <a:r>
              <a:rPr lang="es-ES" dirty="0" err="1"/>
              <a:t>nerd.IsSelected</a:t>
            </a:r>
            <a:r>
              <a:rPr lang="es-ES" dirty="0"/>
              <a:t>)</a:t>
            </a:r>
          </a:p>
          <a:p>
            <a:r>
              <a:rPr lang="es-ES" dirty="0"/>
              <a:t>    </a:t>
            </a:r>
            <a:r>
              <a:rPr lang="es-ES" dirty="0" err="1"/>
              <a:t>DrawEllipseAroundNerd</a:t>
            </a:r>
            <a:r>
              <a:rPr lang="es-ES" dirty="0"/>
              <a:t>(</a:t>
            </a:r>
            <a:r>
              <a:rPr lang="es-ES" dirty="0" err="1"/>
              <a:t>nerd.Position</a:t>
            </a:r>
            <a:r>
              <a:rPr lang="es-ES" dirty="0"/>
              <a:t>, </a:t>
            </a:r>
            <a:r>
              <a:rPr lang="es-ES" dirty="0" err="1"/>
              <a:t>nerd.Radius</a:t>
            </a:r>
            <a:r>
              <a:rPr lang="es-ES" dirty="0"/>
              <a:t>);</a:t>
            </a:r>
          </a:p>
          <a:p>
            <a:r>
              <a:rPr lang="es-ES" dirty="0"/>
              <a:t>  </a:t>
            </a:r>
            <a:r>
              <a:rPr lang="es-ES" dirty="0" err="1"/>
              <a:t>if</a:t>
            </a:r>
            <a:r>
              <a:rPr lang="es-ES" dirty="0"/>
              <a:t> (</a:t>
            </a:r>
            <a:r>
              <a:rPr lang="es-ES" dirty="0" err="1"/>
              <a:t>nerd.Image</a:t>
            </a:r>
            <a:r>
              <a:rPr lang="es-ES" dirty="0"/>
              <a:t> != </a:t>
            </a:r>
            <a:r>
              <a:rPr lang="es-ES" dirty="0" err="1"/>
              <a:t>null</a:t>
            </a:r>
            <a:r>
              <a:rPr lang="es-ES" dirty="0"/>
              <a:t>)</a:t>
            </a:r>
          </a:p>
          <a:p>
            <a:r>
              <a:rPr lang="es-ES" dirty="0"/>
              <a:t>    </a:t>
            </a:r>
            <a:r>
              <a:rPr lang="es-ES" dirty="0" err="1"/>
              <a:t>DrawImageOfNerd</a:t>
            </a:r>
            <a:r>
              <a:rPr lang="es-ES" dirty="0"/>
              <a:t>(</a:t>
            </a:r>
            <a:r>
              <a:rPr lang="es-ES" dirty="0" err="1"/>
              <a:t>nerd.Image</a:t>
            </a:r>
            <a:r>
              <a:rPr lang="es-ES" dirty="0"/>
              <a:t>, </a:t>
            </a:r>
            <a:r>
              <a:rPr lang="es-ES" dirty="0" err="1"/>
              <a:t>nerd.Position</a:t>
            </a:r>
            <a:r>
              <a:rPr lang="es-ES" dirty="0"/>
              <a:t>, </a:t>
            </a:r>
            <a:r>
              <a:rPr lang="es-ES" dirty="0" err="1"/>
              <a:t>nerd.Heading</a:t>
            </a:r>
            <a:r>
              <a:rPr lang="es-ES" dirty="0"/>
              <a:t>);</a:t>
            </a:r>
          </a:p>
          <a:p>
            <a:r>
              <a:rPr lang="es-ES" dirty="0"/>
              <a:t>  </a:t>
            </a:r>
            <a:r>
              <a:rPr lang="es-ES" dirty="0" err="1"/>
              <a:t>if</a:t>
            </a:r>
            <a:r>
              <a:rPr lang="es-ES" dirty="0"/>
              <a:t> (nerd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IHasBelt</a:t>
            </a:r>
            <a:r>
              <a:rPr lang="es-ES" dirty="0"/>
              <a:t>) // a rare </a:t>
            </a:r>
            <a:r>
              <a:rPr lang="es-ES" dirty="0" err="1"/>
              <a:t>occurrence</a:t>
            </a:r>
            <a:endParaRPr lang="es-ES" dirty="0"/>
          </a:p>
          <a:p>
            <a:r>
              <a:rPr lang="es-ES" dirty="0"/>
              <a:t>    </a:t>
            </a:r>
            <a:r>
              <a:rPr lang="es-ES" dirty="0" err="1"/>
              <a:t>DrawBelt</a:t>
            </a:r>
            <a:r>
              <a:rPr lang="es-ES" dirty="0"/>
              <a:t>(((</a:t>
            </a:r>
            <a:r>
              <a:rPr lang="es-ES" dirty="0" err="1"/>
              <a:t>IHasBelt</a:t>
            </a:r>
            <a:r>
              <a:rPr lang="es-ES" dirty="0"/>
              <a:t>)nerd).</a:t>
            </a:r>
            <a:r>
              <a:rPr lang="es-ES" dirty="0" err="1"/>
              <a:t>Belt</a:t>
            </a:r>
            <a:r>
              <a:rPr lang="es-ES" dirty="0"/>
              <a:t>);</a:t>
            </a:r>
          </a:p>
          <a:p>
            <a:r>
              <a:rPr lang="es-ES" dirty="0"/>
              <a:t>  // Etc.</a:t>
            </a:r>
          </a:p>
          <a:p>
            <a:r>
              <a:rPr lang="es-ES" dirty="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407755"/>
      </p:ext>
    </p:extLst>
  </p:cSld>
  <p:clrMapOvr>
    <a:masterClrMapping/>
  </p:clrMapOvr>
</p:sld>
</file>

<file path=ppt/slides/slide39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4D2BC4-5138-777B-8225-CD7CCA075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785421-F32F-89D4-AA91-F3F144CB2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r>
              <a:rPr lang="es-ES" dirty="0" err="1"/>
              <a:t>readonly</a:t>
            </a:r>
            <a:r>
              <a:rPr lang="es-ES" dirty="0"/>
              <a:t> </a:t>
            </a:r>
            <a:r>
              <a:rPr lang="es-ES" dirty="0" err="1"/>
              <a:t>IList</a:t>
            </a:r>
            <a:r>
              <a:rPr lang="es-ES" dirty="0"/>
              <a:t>&lt;</a:t>
            </a:r>
            <a:r>
              <a:rPr lang="es-ES" dirty="0" err="1"/>
              <a:t>IRenderer</a:t>
            </a:r>
            <a:r>
              <a:rPr lang="es-ES" dirty="0"/>
              <a:t>&gt; _</a:t>
            </a:r>
            <a:r>
              <a:rPr lang="es-ES" dirty="0" err="1"/>
              <a:t>renderers</a:t>
            </a:r>
            <a:r>
              <a:rPr lang="es-ES" dirty="0"/>
              <a:t> = new </a:t>
            </a:r>
            <a:r>
              <a:rPr lang="es-ES" dirty="0" err="1"/>
              <a:t>List</a:t>
            </a:r>
            <a:r>
              <a:rPr lang="es-ES" dirty="0"/>
              <a:t>&lt;</a:t>
            </a:r>
            <a:r>
              <a:rPr lang="es-ES" dirty="0" err="1"/>
              <a:t>IRenderer</a:t>
            </a:r>
            <a:r>
              <a:rPr lang="es-ES" dirty="0"/>
              <a:t>&gt;();</a:t>
            </a:r>
          </a:p>
          <a:p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Draw</a:t>
            </a:r>
            <a:r>
              <a:rPr lang="es-ES" dirty="0"/>
              <a:t>(Nerd nerd)</a:t>
            </a:r>
          </a:p>
          <a:p>
            <a:r>
              <a:rPr lang="es-ES" dirty="0"/>
              <a:t>{</a:t>
            </a:r>
          </a:p>
          <a:p>
            <a:r>
              <a:rPr lang="es-ES" dirty="0"/>
              <a:t>  </a:t>
            </a:r>
            <a:r>
              <a:rPr lang="es-ES" dirty="0" err="1"/>
              <a:t>foreach</a:t>
            </a:r>
            <a:r>
              <a:rPr lang="es-ES" dirty="0"/>
              <a:t> (</a:t>
            </a:r>
            <a:r>
              <a:rPr lang="es-ES" dirty="0" err="1"/>
              <a:t>var</a:t>
            </a:r>
            <a:r>
              <a:rPr lang="es-ES" dirty="0"/>
              <a:t> </a:t>
            </a:r>
            <a:r>
              <a:rPr lang="es-ES" dirty="0" err="1"/>
              <a:t>renderer</a:t>
            </a:r>
            <a:r>
              <a:rPr lang="es-ES" dirty="0"/>
              <a:t> in _</a:t>
            </a:r>
            <a:r>
              <a:rPr lang="es-ES" dirty="0" err="1"/>
              <a:t>renderers</a:t>
            </a:r>
            <a:r>
              <a:rPr lang="es-ES" dirty="0"/>
              <a:t>)</a:t>
            </a:r>
          </a:p>
          <a:p>
            <a:r>
              <a:rPr lang="es-ES" dirty="0"/>
              <a:t>    </a:t>
            </a:r>
            <a:r>
              <a:rPr lang="es-ES" dirty="0" err="1"/>
              <a:t>renderer.DrawIfPossible</a:t>
            </a:r>
            <a:r>
              <a:rPr lang="es-ES" dirty="0"/>
              <a:t>(_</a:t>
            </a:r>
            <a:r>
              <a:rPr lang="es-ES" dirty="0" err="1"/>
              <a:t>context</a:t>
            </a:r>
            <a:r>
              <a:rPr lang="es-ES" dirty="0"/>
              <a:t>, nerd);</a:t>
            </a:r>
          </a:p>
          <a:p>
            <a:r>
              <a:rPr lang="es-ES" dirty="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35338"/>
      </p:ext>
    </p:extLst>
  </p:cSld>
  <p:clrMapOvr>
    <a:masterClrMapping/>
  </p:clrMapOvr>
</p:sld>
</file>

<file path=ppt/slides/slide40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639423-8F8A-E067-042E-957E2CB2B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A4FB10-C88E-F59E-3340-6EADAD7EB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pPr>
              <a:lnSpc>
                <a:spcPct val="100%"/>
              </a:lnSpc>
            </a:pPr>
            <a:r>
              <a:rPr lang="es-ES" sz="700" err="1"/>
              <a:t>public</a:t>
            </a:r>
            <a:r>
              <a:rPr lang="es-ES" sz="700"/>
              <a:t> </a:t>
            </a:r>
            <a:r>
              <a:rPr lang="es-ES" sz="700" err="1"/>
              <a:t>abstract</a:t>
            </a:r>
            <a:r>
              <a:rPr lang="es-ES" sz="700"/>
              <a:t> </a:t>
            </a:r>
            <a:r>
              <a:rPr lang="es-ES" sz="700" err="1"/>
              <a:t>class</a:t>
            </a:r>
            <a:r>
              <a:rPr lang="es-ES" sz="700"/>
              <a:t> </a:t>
            </a:r>
            <a:r>
              <a:rPr lang="es-ES" sz="700" err="1"/>
              <a:t>RenderDefinition</a:t>
            </a:r>
            <a:r>
              <a:rPr lang="es-ES" sz="700"/>
              <a:t> : </a:t>
            </a:r>
            <a:r>
              <a:rPr lang="es-ES" sz="700" err="1"/>
              <a:t>ViewModelBase</a:t>
            </a:r>
            <a:endParaRPr lang="es-ES" sz="700"/>
          </a:p>
          <a:p>
            <a:pPr>
              <a:lnSpc>
                <a:spcPct val="100%"/>
              </a:lnSpc>
            </a:pPr>
            <a:r>
              <a:rPr lang="es-ES" sz="700"/>
              <a:t>{</a:t>
            </a:r>
          </a:p>
          <a:p>
            <a:pPr>
              <a:lnSpc>
                <a:spcPct val="100%"/>
              </a:lnSpc>
            </a:pPr>
            <a:r>
              <a:rPr lang="es-ES" sz="700"/>
              <a:t>  </a:t>
            </a:r>
            <a:r>
              <a:rPr lang="es-ES" sz="700" err="1"/>
              <a:t>public</a:t>
            </a:r>
            <a:r>
              <a:rPr lang="es-ES" sz="700"/>
              <a:t> </a:t>
            </a:r>
            <a:r>
              <a:rPr lang="es-ES" sz="700" err="1"/>
              <a:t>abstract</a:t>
            </a:r>
            <a:r>
              <a:rPr lang="es-ES" sz="700"/>
              <a:t> </a:t>
            </a:r>
            <a:r>
              <a:rPr lang="es-ES" sz="700" err="1"/>
              <a:t>DataTemplate</a:t>
            </a:r>
            <a:r>
              <a:rPr lang="es-ES" sz="700"/>
              <a:t> </a:t>
            </a:r>
            <a:r>
              <a:rPr lang="es-ES" sz="700" err="1"/>
              <a:t>Template</a:t>
            </a:r>
            <a:r>
              <a:rPr lang="es-ES" sz="700"/>
              <a:t> { </a:t>
            </a:r>
            <a:r>
              <a:rPr lang="es-ES" sz="700" err="1"/>
              <a:t>get</a:t>
            </a:r>
            <a:r>
              <a:rPr lang="es-ES" sz="700"/>
              <a:t>; }</a:t>
            </a:r>
          </a:p>
          <a:p>
            <a:pPr>
              <a:lnSpc>
                <a:spcPct val="100%"/>
              </a:lnSpc>
            </a:pPr>
            <a:r>
              <a:rPr lang="es-ES" sz="700"/>
              <a:t>  </a:t>
            </a:r>
            <a:r>
              <a:rPr lang="es-ES" sz="700" err="1"/>
              <a:t>public</a:t>
            </a:r>
            <a:r>
              <a:rPr lang="es-ES" sz="700"/>
              <a:t> </a:t>
            </a:r>
            <a:r>
              <a:rPr lang="es-ES" sz="700" err="1"/>
              <a:t>abstract</a:t>
            </a:r>
            <a:r>
              <a:rPr lang="es-ES" sz="700"/>
              <a:t> Style </a:t>
            </a:r>
            <a:r>
              <a:rPr lang="es-ES" sz="700" err="1"/>
              <a:t>TemplateStyle</a:t>
            </a:r>
            <a:r>
              <a:rPr lang="es-ES" sz="700"/>
              <a:t> { </a:t>
            </a:r>
            <a:r>
              <a:rPr lang="es-ES" sz="700" err="1"/>
              <a:t>get</a:t>
            </a:r>
            <a:r>
              <a:rPr lang="es-ES" sz="700"/>
              <a:t>; }</a:t>
            </a:r>
          </a:p>
          <a:p>
            <a:pPr>
              <a:lnSpc>
                <a:spcPct val="100%"/>
              </a:lnSpc>
            </a:pPr>
            <a:r>
              <a:rPr lang="es-ES" sz="700"/>
              <a:t>  </a:t>
            </a:r>
            <a:r>
              <a:rPr lang="es-ES" sz="700" err="1"/>
              <a:t>public</a:t>
            </a:r>
            <a:r>
              <a:rPr lang="es-ES" sz="700"/>
              <a:t> </a:t>
            </a:r>
            <a:r>
              <a:rPr lang="es-ES" sz="700" err="1"/>
              <a:t>abstract</a:t>
            </a:r>
            <a:r>
              <a:rPr lang="es-ES" sz="700"/>
              <a:t> </a:t>
            </a:r>
            <a:r>
              <a:rPr lang="es-ES" sz="700" err="1"/>
              <a:t>bool</a:t>
            </a:r>
            <a:r>
              <a:rPr lang="es-ES" sz="700"/>
              <a:t> </a:t>
            </a:r>
            <a:r>
              <a:rPr lang="es-ES" sz="700" err="1"/>
              <a:t>SourceContains</a:t>
            </a:r>
            <a:r>
              <a:rPr lang="es-ES" sz="700"/>
              <a:t>(</a:t>
            </a:r>
            <a:r>
              <a:rPr lang="es-ES" sz="700" err="1"/>
              <a:t>object</a:t>
            </a:r>
            <a:r>
              <a:rPr lang="es-ES" sz="700"/>
              <a:t> o); // </a:t>
            </a:r>
            <a:r>
              <a:rPr lang="es-ES" sz="700" err="1"/>
              <a:t>For</a:t>
            </a:r>
            <a:r>
              <a:rPr lang="es-ES" sz="700"/>
              <a:t> </a:t>
            </a:r>
            <a:r>
              <a:rPr lang="es-ES" sz="700" err="1"/>
              <a:t>selectors</a:t>
            </a:r>
            <a:endParaRPr lang="es-ES" sz="700"/>
          </a:p>
          <a:p>
            <a:pPr>
              <a:lnSpc>
                <a:spcPct val="100%"/>
              </a:lnSpc>
            </a:pPr>
            <a:r>
              <a:rPr lang="es-ES" sz="700"/>
              <a:t>  </a:t>
            </a:r>
            <a:r>
              <a:rPr lang="es-ES" sz="700" err="1"/>
              <a:t>public</a:t>
            </a:r>
            <a:r>
              <a:rPr lang="es-ES" sz="700"/>
              <a:t> </a:t>
            </a:r>
            <a:r>
              <a:rPr lang="es-ES" sz="700" err="1"/>
              <a:t>abstract</a:t>
            </a:r>
            <a:r>
              <a:rPr lang="es-ES" sz="700"/>
              <a:t> </a:t>
            </a:r>
            <a:r>
              <a:rPr lang="es-ES" sz="700" err="1"/>
              <a:t>IEnumerable</a:t>
            </a:r>
            <a:r>
              <a:rPr lang="es-ES" sz="700"/>
              <a:t> </a:t>
            </a:r>
            <a:r>
              <a:rPr lang="es-ES" sz="700" err="1"/>
              <a:t>Source</a:t>
            </a:r>
            <a:r>
              <a:rPr lang="es-ES" sz="700"/>
              <a:t> { </a:t>
            </a:r>
            <a:r>
              <a:rPr lang="es-ES" sz="700" err="1"/>
              <a:t>get</a:t>
            </a:r>
            <a:r>
              <a:rPr lang="es-ES" sz="700"/>
              <a:t>; }</a:t>
            </a:r>
          </a:p>
          <a:p>
            <a:pPr>
              <a:lnSpc>
                <a:spcPct val="100%"/>
              </a:lnSpc>
            </a:pPr>
            <a:r>
              <a:rPr lang="es-ES" sz="700"/>
              <a:t>}</a:t>
            </a:r>
          </a:p>
          <a:p>
            <a:pPr>
              <a:lnSpc>
                <a:spcPct val="100%"/>
              </a:lnSpc>
            </a:pPr>
            <a:r>
              <a:rPr lang="es-ES" sz="700" err="1"/>
              <a:t>public</a:t>
            </a:r>
            <a:r>
              <a:rPr lang="es-ES" sz="700"/>
              <a:t> </a:t>
            </a:r>
            <a:r>
              <a:rPr lang="es-ES" sz="700" err="1"/>
              <a:t>void</a:t>
            </a:r>
            <a:r>
              <a:rPr lang="es-ES" sz="700"/>
              <a:t> </a:t>
            </a:r>
            <a:r>
              <a:rPr lang="es-ES" sz="700" err="1"/>
              <a:t>LoadItemsControlFromRenderers</a:t>
            </a:r>
            <a:r>
              <a:rPr lang="es-ES" sz="700"/>
              <a:t>(</a:t>
            </a:r>
          </a:p>
          <a:p>
            <a:pPr>
              <a:lnSpc>
                <a:spcPct val="100%"/>
              </a:lnSpc>
            </a:pPr>
            <a:r>
              <a:rPr lang="es-ES" sz="700"/>
              <a:t>    </a:t>
            </a:r>
            <a:r>
              <a:rPr lang="es-ES" sz="700" err="1"/>
              <a:t>ItemsControl</a:t>
            </a:r>
            <a:r>
              <a:rPr lang="es-ES" sz="700"/>
              <a:t> control,</a:t>
            </a:r>
          </a:p>
          <a:p>
            <a:pPr>
              <a:lnSpc>
                <a:spcPct val="100%"/>
              </a:lnSpc>
            </a:pPr>
            <a:r>
              <a:rPr lang="es-ES" sz="700"/>
              <a:t>    </a:t>
            </a:r>
            <a:r>
              <a:rPr lang="es-ES" sz="700" err="1"/>
              <a:t>IEnumerable</a:t>
            </a:r>
            <a:r>
              <a:rPr lang="es-ES" sz="700"/>
              <a:t>&lt;</a:t>
            </a:r>
            <a:r>
              <a:rPr lang="es-ES" sz="700" err="1"/>
              <a:t>RenderDefinition</a:t>
            </a:r>
            <a:r>
              <a:rPr lang="es-ES" sz="700"/>
              <a:t>&gt; </a:t>
            </a:r>
            <a:r>
              <a:rPr lang="es-ES" sz="700" err="1"/>
              <a:t>defs</a:t>
            </a:r>
            <a:r>
              <a:rPr lang="es-ES" sz="700"/>
              <a:t>) {</a:t>
            </a:r>
          </a:p>
          <a:p>
            <a:pPr>
              <a:lnSpc>
                <a:spcPct val="100%"/>
              </a:lnSpc>
            </a:pPr>
            <a:r>
              <a:rPr lang="es-ES" sz="700"/>
              <a:t>  </a:t>
            </a:r>
            <a:r>
              <a:rPr lang="es-ES" sz="700" err="1"/>
              <a:t>control.ItemTemplateSelector</a:t>
            </a:r>
            <a:r>
              <a:rPr lang="es-ES" sz="700"/>
              <a:t> = new </a:t>
            </a:r>
            <a:r>
              <a:rPr lang="es-ES" sz="700" err="1"/>
              <a:t>DefTemplateSelector</a:t>
            </a:r>
            <a:r>
              <a:rPr lang="es-ES" sz="700"/>
              <a:t>(</a:t>
            </a:r>
            <a:r>
              <a:rPr lang="es-ES" sz="700" err="1"/>
              <a:t>defs</a:t>
            </a:r>
            <a:r>
              <a:rPr lang="es-ES" sz="700"/>
              <a:t>);</a:t>
            </a:r>
          </a:p>
          <a:p>
            <a:pPr>
              <a:lnSpc>
                <a:spcPct val="100%"/>
              </a:lnSpc>
            </a:pPr>
            <a:r>
              <a:rPr lang="es-ES" sz="700"/>
              <a:t>  </a:t>
            </a:r>
            <a:r>
              <a:rPr lang="es-ES" sz="700" err="1"/>
              <a:t>control.ItemContainerStyleSelector</a:t>
            </a:r>
            <a:r>
              <a:rPr lang="es-ES" sz="700"/>
              <a:t> = new </a:t>
            </a:r>
            <a:r>
              <a:rPr lang="es-ES" sz="700" err="1"/>
              <a:t>DefStyleSelector</a:t>
            </a:r>
            <a:r>
              <a:rPr lang="es-ES" sz="700"/>
              <a:t>(</a:t>
            </a:r>
            <a:r>
              <a:rPr lang="es-ES" sz="700" err="1"/>
              <a:t>defs</a:t>
            </a:r>
            <a:r>
              <a:rPr lang="es-ES" sz="700"/>
              <a:t>);</a:t>
            </a:r>
          </a:p>
          <a:p>
            <a:pPr>
              <a:lnSpc>
                <a:spcPct val="100%"/>
              </a:lnSpc>
            </a:pPr>
            <a:r>
              <a:rPr lang="es-ES" sz="700"/>
              <a:t>  </a:t>
            </a:r>
            <a:r>
              <a:rPr lang="es-ES" sz="700" err="1"/>
              <a:t>var</a:t>
            </a:r>
            <a:r>
              <a:rPr lang="es-ES" sz="700"/>
              <a:t> </a:t>
            </a:r>
            <a:r>
              <a:rPr lang="es-ES" sz="700" err="1"/>
              <a:t>compositeCollection</a:t>
            </a:r>
            <a:r>
              <a:rPr lang="es-ES" sz="700"/>
              <a:t> = new </a:t>
            </a:r>
            <a:r>
              <a:rPr lang="es-ES" sz="700" err="1"/>
              <a:t>CompositeCollection</a:t>
            </a:r>
            <a:r>
              <a:rPr lang="es-ES" sz="700"/>
              <a:t>();</a:t>
            </a:r>
          </a:p>
          <a:p>
            <a:pPr>
              <a:lnSpc>
                <a:spcPct val="100%"/>
              </a:lnSpc>
            </a:pPr>
            <a:r>
              <a:rPr lang="es-ES" sz="700"/>
              <a:t>  </a:t>
            </a:r>
            <a:r>
              <a:rPr lang="es-ES" sz="700" err="1"/>
              <a:t>foreach</a:t>
            </a:r>
            <a:r>
              <a:rPr lang="es-ES" sz="700"/>
              <a:t> (</a:t>
            </a:r>
            <a:r>
              <a:rPr lang="es-ES" sz="700" err="1"/>
              <a:t>var</a:t>
            </a:r>
            <a:r>
              <a:rPr lang="es-ES" sz="700"/>
              <a:t> </a:t>
            </a:r>
            <a:r>
              <a:rPr lang="es-ES" sz="700" err="1"/>
              <a:t>renderDefinition</a:t>
            </a:r>
            <a:r>
              <a:rPr lang="es-ES" sz="700"/>
              <a:t> in </a:t>
            </a:r>
            <a:r>
              <a:rPr lang="es-ES" sz="700" err="1"/>
              <a:t>defs</a:t>
            </a:r>
            <a:r>
              <a:rPr lang="es-ES" sz="700"/>
              <a:t>)</a:t>
            </a:r>
          </a:p>
          <a:p>
            <a:pPr>
              <a:lnSpc>
                <a:spcPct val="100%"/>
              </a:lnSpc>
            </a:pPr>
            <a:r>
              <a:rPr lang="es-ES" sz="700"/>
              <a:t>  {</a:t>
            </a:r>
          </a:p>
          <a:p>
            <a:pPr>
              <a:lnSpc>
                <a:spcPct val="100%"/>
              </a:lnSpc>
            </a:pPr>
            <a:r>
              <a:rPr lang="es-ES" sz="700"/>
              <a:t>    </a:t>
            </a:r>
            <a:r>
              <a:rPr lang="es-ES" sz="700" err="1"/>
              <a:t>var</a:t>
            </a:r>
            <a:r>
              <a:rPr lang="es-ES" sz="700"/>
              <a:t> container = new </a:t>
            </a:r>
            <a:r>
              <a:rPr lang="es-ES" sz="700" err="1"/>
              <a:t>CollectionContainer</a:t>
            </a:r>
            <a:endParaRPr lang="es-ES" sz="700"/>
          </a:p>
          <a:p>
            <a:pPr>
              <a:lnSpc>
                <a:spcPct val="100%"/>
              </a:lnSpc>
            </a:pPr>
            <a:r>
              <a:rPr lang="es-ES" sz="700"/>
              <a:t>    {</a:t>
            </a:r>
          </a:p>
          <a:p>
            <a:pPr>
              <a:lnSpc>
                <a:spcPct val="100%"/>
              </a:lnSpc>
            </a:pPr>
            <a:r>
              <a:rPr lang="es-ES" sz="700"/>
              <a:t>      </a:t>
            </a:r>
            <a:r>
              <a:rPr lang="es-ES" sz="700" err="1"/>
              <a:t>Collection</a:t>
            </a:r>
            <a:r>
              <a:rPr lang="es-ES" sz="700"/>
              <a:t> = </a:t>
            </a:r>
            <a:r>
              <a:rPr lang="es-ES" sz="700" err="1"/>
              <a:t>renderDefinition.Source</a:t>
            </a:r>
            <a:endParaRPr lang="es-ES" sz="700"/>
          </a:p>
          <a:p>
            <a:pPr>
              <a:lnSpc>
                <a:spcPct val="100%"/>
              </a:lnSpc>
            </a:pPr>
            <a:r>
              <a:rPr lang="es-ES" sz="700"/>
              <a:t>    };</a:t>
            </a:r>
          </a:p>
          <a:p>
            <a:pPr>
              <a:lnSpc>
                <a:spcPct val="100%"/>
              </a:lnSpc>
            </a:pPr>
            <a:r>
              <a:rPr lang="es-ES" sz="700"/>
              <a:t>    </a:t>
            </a:r>
            <a:r>
              <a:rPr lang="es-ES" sz="700" err="1"/>
              <a:t>compositeCollection.Add</a:t>
            </a:r>
            <a:r>
              <a:rPr lang="es-ES" sz="700"/>
              <a:t>(container);</a:t>
            </a:r>
          </a:p>
          <a:p>
            <a:pPr>
              <a:lnSpc>
                <a:spcPct val="100%"/>
              </a:lnSpc>
            </a:pPr>
            <a:r>
              <a:rPr lang="es-ES" sz="700"/>
              <a:t>  }</a:t>
            </a:r>
          </a:p>
          <a:p>
            <a:pPr>
              <a:lnSpc>
                <a:spcPct val="100%"/>
              </a:lnSpc>
            </a:pPr>
            <a:r>
              <a:rPr lang="es-ES" sz="700"/>
              <a:t>  </a:t>
            </a:r>
            <a:r>
              <a:rPr lang="es-ES" sz="700" err="1"/>
              <a:t>control.ItemsSource</a:t>
            </a:r>
            <a:r>
              <a:rPr lang="es-ES" sz="700"/>
              <a:t> = </a:t>
            </a:r>
            <a:r>
              <a:rPr lang="es-ES" sz="700" err="1"/>
              <a:t>compositeCollection</a:t>
            </a:r>
            <a:r>
              <a:rPr lang="es-ES" sz="700"/>
              <a:t>;</a:t>
            </a:r>
          </a:p>
          <a:p>
            <a:pPr>
              <a:lnSpc>
                <a:spcPct val="100%"/>
              </a:lnSpc>
            </a:pPr>
            <a:r>
              <a:rPr lang="es-ES" sz="70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095361"/>
      </p:ext>
    </p:extLst>
  </p:cSld>
  <p:clrMapOvr>
    <a:masterClrMapping/>
  </p:clrMapOvr>
</p:sld>
</file>

<file path=ppt/slides/slide41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FC4BB5-2D7E-BB55-45BE-B85199A9F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791017-874F-CABA-788E-F9E7CC2CA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r>
              <a:rPr lang="es-ES" dirty="0" err="1"/>
              <a:t>class</a:t>
            </a:r>
            <a:r>
              <a:rPr lang="es-ES" dirty="0"/>
              <a:t> Nerd</a:t>
            </a:r>
          </a:p>
          <a:p>
            <a:r>
              <a:rPr lang="es-ES" dirty="0"/>
              <a:t>{</a:t>
            </a:r>
          </a:p>
          <a:p>
            <a:r>
              <a:rPr lang="es-ES" dirty="0"/>
              <a:t> 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WriteName</a:t>
            </a:r>
            <a:r>
              <a:rPr lang="es-ES" dirty="0"/>
              <a:t>(</a:t>
            </a:r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name</a:t>
            </a:r>
            <a:r>
              <a:rPr lang="es-ES" dirty="0"/>
              <a:t>)</a:t>
            </a:r>
          </a:p>
          <a:p>
            <a:r>
              <a:rPr lang="es-ES" dirty="0"/>
              <a:t>  {</a:t>
            </a:r>
          </a:p>
          <a:p>
            <a:r>
              <a:rPr lang="es-ES" dirty="0"/>
              <a:t>    </a:t>
            </a:r>
            <a:r>
              <a:rPr lang="es-ES" dirty="0" err="1"/>
              <a:t>var</a:t>
            </a:r>
            <a:r>
              <a:rPr lang="es-ES" dirty="0"/>
              <a:t> </a:t>
            </a:r>
            <a:r>
              <a:rPr lang="es-ES" dirty="0" err="1"/>
              <a:t>pocketProtector</a:t>
            </a:r>
            <a:r>
              <a:rPr lang="es-ES" dirty="0"/>
              <a:t> = new </a:t>
            </a:r>
            <a:r>
              <a:rPr lang="es-ES" dirty="0" err="1"/>
              <a:t>PocketProtector</a:t>
            </a:r>
            <a:r>
              <a:rPr lang="es-ES" dirty="0"/>
              <a:t>();</a:t>
            </a:r>
          </a:p>
          <a:p>
            <a:r>
              <a:rPr lang="es-ES" dirty="0"/>
              <a:t>    </a:t>
            </a:r>
            <a:r>
              <a:rPr lang="es-ES" dirty="0" err="1"/>
              <a:t>WriteNameOnPaper</a:t>
            </a:r>
            <a:r>
              <a:rPr lang="es-ES" dirty="0"/>
              <a:t>(</a:t>
            </a:r>
            <a:r>
              <a:rPr lang="es-ES" dirty="0" err="1"/>
              <a:t>pocketProtector.Pen</a:t>
            </a:r>
            <a:r>
              <a:rPr lang="es-ES" dirty="0"/>
              <a:t>, </a:t>
            </a:r>
            <a:r>
              <a:rPr lang="es-ES" dirty="0" err="1"/>
              <a:t>name</a:t>
            </a:r>
            <a:r>
              <a:rPr lang="es-ES" dirty="0"/>
              <a:t>);</a:t>
            </a:r>
          </a:p>
          <a:p>
            <a:r>
              <a:rPr lang="es-ES" dirty="0"/>
              <a:t>  }</a:t>
            </a:r>
          </a:p>
          <a:p>
            <a:r>
              <a:rPr lang="es-ES" dirty="0"/>
              <a:t>  </a:t>
            </a:r>
            <a:r>
              <a:rPr lang="es-ES" dirty="0" err="1"/>
              <a:t>private</a:t>
            </a:r>
            <a:r>
              <a:rPr lang="es-ES" dirty="0"/>
              <a:t> </a:t>
            </a: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WriteNameOnPaper</a:t>
            </a:r>
            <a:r>
              <a:rPr lang="es-ES" dirty="0"/>
              <a:t>(Pen </a:t>
            </a:r>
            <a:r>
              <a:rPr lang="es-ES" dirty="0" err="1"/>
              <a:t>pen</a:t>
            </a:r>
            <a:r>
              <a:rPr lang="es-ES" dirty="0"/>
              <a:t>, </a:t>
            </a:r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)</a:t>
            </a:r>
          </a:p>
          <a:p>
            <a:r>
              <a:rPr lang="es-ES" dirty="0"/>
              <a:t>  {</a:t>
            </a:r>
          </a:p>
          <a:p>
            <a:r>
              <a:rPr lang="es-ES" dirty="0"/>
              <a:t>    ...</a:t>
            </a:r>
          </a:p>
          <a:p>
            <a:r>
              <a:rPr lang="es-ES" dirty="0"/>
              <a:t>  }</a:t>
            </a:r>
          </a:p>
          <a:p>
            <a:r>
              <a:rPr lang="es-ES" dirty="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193600"/>
      </p:ext>
    </p:extLst>
  </p:cSld>
  <p:clrMapOvr>
    <a:masterClrMapping/>
  </p:clrMapOvr>
</p:sld>
</file>

<file path=ppt/slides/slide42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EF04E2-2D9C-2AFF-37D3-753D76D1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993B4B-AE2A-B687-B013-FAEB60015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r>
              <a:rPr lang="en-US" dirty="0"/>
              <a:t>class Nerd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  public void </a:t>
            </a:r>
            <a:r>
              <a:rPr lang="en-US" dirty="0" err="1"/>
              <a:t>DanceTheDisco</a:t>
            </a:r>
            <a:r>
              <a:rPr lang="en-US" dirty="0"/>
              <a:t>()</a:t>
            </a:r>
          </a:p>
          <a:p>
            <a:r>
              <a:rPr lang="en-US" dirty="0"/>
              <a:t>  {</a:t>
            </a:r>
          </a:p>
          <a:p>
            <a:r>
              <a:rPr lang="en-US" dirty="0"/>
              <a:t>    if (this is </a:t>
            </a:r>
            <a:r>
              <a:rPr lang="en-US" dirty="0" err="1"/>
              <a:t>ChildOfNerd</a:t>
            </a:r>
            <a:r>
              <a:rPr lang="en-US" dirty="0"/>
              <a:t>)</a:t>
            </a:r>
          </a:p>
          <a:p>
            <a:r>
              <a:rPr lang="en-US" dirty="0"/>
              <a:t>            throw new </a:t>
            </a:r>
            <a:r>
              <a:rPr lang="en-US" dirty="0" err="1"/>
              <a:t>CoordinationException</a:t>
            </a:r>
            <a:r>
              <a:rPr lang="en-US" dirty="0"/>
              <a:t>("Can't");</a:t>
            </a:r>
          </a:p>
          <a:p>
            <a:r>
              <a:rPr lang="en-US" dirty="0"/>
              <a:t>    ...</a:t>
            </a:r>
          </a:p>
          <a:p>
            <a:r>
              <a:rPr lang="en-US" dirty="0"/>
              <a:t> 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class </a:t>
            </a:r>
            <a:r>
              <a:rPr lang="en-US" dirty="0" err="1"/>
              <a:t>ChildOfNerd</a:t>
            </a:r>
            <a:r>
              <a:rPr lang="en-US" dirty="0"/>
              <a:t> : Nerd { ... }</a:t>
            </a:r>
            <a:endParaRPr lang="es-E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970272"/>
      </p:ext>
    </p:extLst>
  </p:cSld>
  <p:clrMapOvr>
    <a:masterClrMapping/>
  </p:clrMapOvr>
</p:sld>
</file>

<file path=ppt/slides/slide43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A5C71D-4DAB-543F-89E0-B086E76D3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B3E478-111F-6A14-0BB0-271DB9204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NerdsInAnArc</a:t>
            </a:r>
            <a:endParaRPr lang="es-ES" dirty="0"/>
          </a:p>
          <a:p>
            <a:r>
              <a:rPr lang="es-ES" dirty="0"/>
              <a:t>{</a:t>
            </a:r>
          </a:p>
          <a:p>
            <a:r>
              <a:rPr lang="es-ES" dirty="0"/>
              <a:t> 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bool</a:t>
            </a:r>
            <a:r>
              <a:rPr lang="es-ES" dirty="0"/>
              <a:t> </a:t>
            </a:r>
            <a:r>
              <a:rPr lang="es-ES" dirty="0" err="1"/>
              <a:t>Intersects</a:t>
            </a:r>
            <a:r>
              <a:rPr lang="es-ES" dirty="0"/>
              <a:t>(</a:t>
            </a:r>
            <a:r>
              <a:rPr lang="es-ES" dirty="0" err="1"/>
              <a:t>NerdsInAnLine</a:t>
            </a:r>
            <a:r>
              <a:rPr lang="es-ES" dirty="0"/>
              <a:t> line)</a:t>
            </a:r>
          </a:p>
          <a:p>
            <a:r>
              <a:rPr lang="es-ES" dirty="0"/>
              <a:t>  {</a:t>
            </a:r>
          </a:p>
          <a:p>
            <a:r>
              <a:rPr lang="es-ES" dirty="0"/>
              <a:t>    ...</a:t>
            </a:r>
          </a:p>
          <a:p>
            <a:r>
              <a:rPr lang="es-ES" dirty="0"/>
              <a:t>  }</a:t>
            </a:r>
          </a:p>
          <a:p>
            <a:r>
              <a:rPr lang="es-ES" dirty="0"/>
              <a:t>  ...</a:t>
            </a:r>
          </a:p>
          <a:p>
            <a:r>
              <a:rPr lang="es-ES" dirty="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191308"/>
      </p:ext>
    </p:extLst>
  </p:cSld>
  <p:clrMapOvr>
    <a:masterClrMapping/>
  </p:clrMapOvr>
</p:sld>
</file>

<file path=ppt/slides/slide44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2F0080-7226-D3D9-6CE6-2AA368CB1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6">
            <a:extLst>
              <a:ext uri="{FF2B5EF4-FFF2-40B4-BE49-F238E27FC236}">
                <a16:creationId xmlns:a16="http://schemas.microsoft.com/office/drawing/2014/main" id="{FFA1F596-E649-0474-BAD2-CC36DAAE6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8">
            <a:extLst>
              <a:ext uri="{FF2B5EF4-FFF2-40B4-BE49-F238E27FC236}">
                <a16:creationId xmlns:a16="http://schemas.microsoft.com/office/drawing/2014/main" id="{B4547DFD-818E-971D-EB0C-0796652D8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BAAEF496-7C44-7B53-92C1-5CA7CC1E7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998465-1E2F-0B67-8791-44E9DCB4C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871758"/>
            <a:ext cx="10283452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dirty="0"/>
              <a:t>LAB 2 – PART 1</a:t>
            </a:r>
          </a:p>
        </p:txBody>
      </p:sp>
      <p:cxnSp>
        <p:nvCxnSpPr>
          <p:cNvPr id="19" name="Straight Connector 12">
            <a:extLst>
              <a:ext uri="{FF2B5EF4-FFF2-40B4-BE49-F238E27FC236}">
                <a16:creationId xmlns:a16="http://schemas.microsoft.com/office/drawing/2014/main" id="{8A88B92A-F84E-3295-A63F-04436DC0A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F60BC1-5FA3-CD62-5C98-4B4A76FE5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935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%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1DC11-CB46-450A-4548-DC6D8795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%"/>
          </a:bodyPr>
          <a:lstStyle/>
          <a:p>
            <a:r>
              <a:rPr lang="en-US" b="1" dirty="0"/>
              <a:t>How to Keep Functions and Methods Small</a:t>
            </a:r>
            <a:br>
              <a:rPr lang="en-US" dirty="0"/>
            </a:br>
            <a:br>
              <a:rPr lang="en-US" dirty="0"/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896DCE-E9C7-84D8-940F-21EEF886C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.5%" lnSpcReduction="20%"/>
          </a:bodyPr>
          <a:lstStyle/>
          <a:p>
            <a:pPr marL="0" indent="0">
              <a:buNone/>
            </a:pPr>
            <a:r>
              <a:rPr lang="en-US" dirty="0"/>
              <a:t>To keep functions and methods small, consider the following practices:</a:t>
            </a:r>
          </a:p>
          <a:p>
            <a:r>
              <a:rPr lang="en-US" dirty="0"/>
              <a:t>1. </a:t>
            </a:r>
            <a:r>
              <a:rPr lang="en-US" b="1" dirty="0"/>
              <a:t>Single Responsibility </a:t>
            </a:r>
            <a:r>
              <a:rPr lang="en-US" dirty="0"/>
              <a:t>Each function or method should have a single responsibility. If you find a function doing too much, break it into smaller functions that handle specific tasks.</a:t>
            </a:r>
          </a:p>
          <a:p>
            <a:r>
              <a:rPr lang="en-US" dirty="0"/>
              <a:t>2. </a:t>
            </a:r>
            <a:r>
              <a:rPr lang="en-US" b="1" dirty="0"/>
              <a:t>Descriptive Names </a:t>
            </a:r>
            <a:r>
              <a:rPr lang="en-US" dirty="0"/>
              <a:t>Give your functions and methods descriptive names that clearly indicate their purpose. A well-named function often obviates the need for comments.</a:t>
            </a:r>
          </a:p>
          <a:p>
            <a:r>
              <a:rPr lang="en-US" dirty="0"/>
              <a:t>3. </a:t>
            </a:r>
            <a:r>
              <a:rPr lang="en-US" b="1" dirty="0"/>
              <a:t>Limit Line Count </a:t>
            </a:r>
            <a:r>
              <a:rPr lang="en-US" dirty="0"/>
              <a:t>A rule of thumb is to keep functions and methods around 10-20 lines of code. If a function is significantly longer, consider whether it can be broken down.</a:t>
            </a:r>
          </a:p>
          <a:p>
            <a:r>
              <a:rPr lang="en-US" dirty="0"/>
              <a:t>4. </a:t>
            </a:r>
            <a:r>
              <a:rPr lang="en-US" b="1" dirty="0"/>
              <a:t>Nested Functions </a:t>
            </a:r>
            <a:r>
              <a:rPr lang="en-US" dirty="0"/>
              <a:t>Consider using nested functions when it makes sense. This can help organize code and keep related functionality together.</a:t>
            </a:r>
          </a:p>
          <a:p>
            <a:r>
              <a:rPr lang="en-US" dirty="0"/>
              <a:t>5. </a:t>
            </a:r>
            <a:r>
              <a:rPr lang="en-US" b="1" dirty="0"/>
              <a:t>Use Helper Functions </a:t>
            </a:r>
            <a:r>
              <a:rPr lang="en-US" dirty="0"/>
              <a:t>Create small helper functions to encapsulate common or repeated logic. This promotes code reuse and reduces duplication.</a:t>
            </a:r>
          </a:p>
          <a:p>
            <a:r>
              <a:rPr lang="en-US" dirty="0"/>
              <a:t>6. </a:t>
            </a:r>
            <a:r>
              <a:rPr lang="en-US" b="1" dirty="0"/>
              <a:t>Review and Refactor </a:t>
            </a:r>
            <a:r>
              <a:rPr lang="en-US" dirty="0"/>
              <a:t>Regularly review your code and refactor functions that have grown too large. Refactoring is an essential part of maintaining clean code.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7988111"/>
      </p:ext>
    </p:extLst>
  </p:cSld>
  <p:clrMapOvr>
    <a:masterClrMapping/>
  </p:clrMapOvr>
</p:sld>
</file>

<file path=ppt/slides/slide4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4B26C-5B2D-0824-4DCA-FFE855CDA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7467600" cy="39137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/>
              <a:t>Repo extra info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8906AF-1AA2-8531-0043-422F5397B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4785543"/>
            <a:ext cx="7419975" cy="10056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/>
              <a:t>https://github.com/thangchung/clean-code-dotnet</a:t>
            </a:r>
          </a:p>
        </p:txBody>
      </p:sp>
    </p:spTree>
    <p:extLst>
      <p:ext uri="{BB962C8B-B14F-4D97-AF65-F5344CB8AC3E}">
        <p14:creationId xmlns:p14="http://schemas.microsoft.com/office/powerpoint/2010/main" val="657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%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2C59BB-489B-0E80-F778-F333CC868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s-ES" sz="3600" b="1"/>
              <a:t>The Liskov Substitution Principle</a:t>
            </a:r>
            <a:br>
              <a:rPr lang="es-ES" sz="3600" b="1"/>
            </a:br>
            <a:br>
              <a:rPr lang="es-ES" sz="3600"/>
            </a:br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427DCF-1B06-F495-C32D-453C60BF7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r>
              <a:rPr lang="es-ES" dirty="0" err="1"/>
              <a:t>class</a:t>
            </a:r>
            <a:r>
              <a:rPr lang="es-ES" dirty="0"/>
              <a:t> Nerd : </a:t>
            </a:r>
            <a:r>
              <a:rPr lang="es-ES" dirty="0" err="1"/>
              <a:t>Mammal</a:t>
            </a:r>
            <a:r>
              <a:rPr lang="es-ES" dirty="0"/>
              <a:t> {</a:t>
            </a:r>
          </a:p>
          <a:p>
            <a:r>
              <a:rPr lang="es-ES" dirty="0"/>
              <a:t> 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double</a:t>
            </a:r>
            <a:r>
              <a:rPr lang="es-ES" dirty="0"/>
              <a:t> </a:t>
            </a:r>
            <a:r>
              <a:rPr lang="es-ES" dirty="0" err="1"/>
              <a:t>Diopter</a:t>
            </a:r>
            <a:r>
              <a:rPr lang="es-ES" dirty="0"/>
              <a:t> { </a:t>
            </a:r>
            <a:r>
              <a:rPr lang="es-ES" dirty="0" err="1"/>
              <a:t>get</a:t>
            </a:r>
            <a:r>
              <a:rPr lang="es-ES" dirty="0"/>
              <a:t>; </a:t>
            </a:r>
            <a:r>
              <a:rPr lang="es-ES" dirty="0" err="1"/>
              <a:t>protected</a:t>
            </a:r>
            <a:r>
              <a:rPr lang="es-ES" dirty="0"/>
              <a:t> set; }</a:t>
            </a:r>
          </a:p>
          <a:p>
            <a:r>
              <a:rPr lang="es-ES" dirty="0"/>
              <a:t>  </a:t>
            </a:r>
            <a:r>
              <a:rPr lang="es-ES" dirty="0" err="1"/>
              <a:t>public</a:t>
            </a:r>
            <a:r>
              <a:rPr lang="es-ES" dirty="0"/>
              <a:t> Nerd(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vertebrae</a:t>
            </a:r>
            <a:r>
              <a:rPr lang="es-ES" dirty="0"/>
              <a:t>, </a:t>
            </a:r>
            <a:r>
              <a:rPr lang="es-ES" dirty="0" err="1"/>
              <a:t>double</a:t>
            </a:r>
            <a:r>
              <a:rPr lang="es-ES" dirty="0"/>
              <a:t> </a:t>
            </a:r>
            <a:r>
              <a:rPr lang="es-ES" dirty="0" err="1"/>
              <a:t>diopter</a:t>
            </a:r>
            <a:r>
              <a:rPr lang="es-ES" dirty="0"/>
              <a:t>)</a:t>
            </a:r>
          </a:p>
          <a:p>
            <a:r>
              <a:rPr lang="es-ES" dirty="0"/>
              <a:t>    : base(</a:t>
            </a:r>
            <a:r>
              <a:rPr lang="es-ES" dirty="0" err="1"/>
              <a:t>vertebrae</a:t>
            </a:r>
            <a:r>
              <a:rPr lang="es-ES" dirty="0"/>
              <a:t>) { </a:t>
            </a:r>
            <a:r>
              <a:rPr lang="es-ES" dirty="0" err="1"/>
              <a:t>Diopter</a:t>
            </a:r>
            <a:r>
              <a:rPr lang="es-ES" dirty="0"/>
              <a:t> = </a:t>
            </a:r>
            <a:r>
              <a:rPr lang="es-ES" dirty="0" err="1"/>
              <a:t>diopter</a:t>
            </a:r>
            <a:r>
              <a:rPr lang="es-ES" dirty="0"/>
              <a:t>; }</a:t>
            </a:r>
          </a:p>
          <a:p>
            <a:r>
              <a:rPr lang="es-ES" dirty="0"/>
              <a:t>  </a:t>
            </a:r>
            <a:r>
              <a:rPr lang="es-ES" dirty="0" err="1"/>
              <a:t>protected</a:t>
            </a:r>
            <a:r>
              <a:rPr lang="es-ES" dirty="0"/>
              <a:t> Nerd(Nerd </a:t>
            </a:r>
            <a:r>
              <a:rPr lang="es-ES" dirty="0" err="1"/>
              <a:t>toBeCloned</a:t>
            </a:r>
            <a:r>
              <a:rPr lang="es-ES" dirty="0"/>
              <a:t>)</a:t>
            </a:r>
          </a:p>
          <a:p>
            <a:r>
              <a:rPr lang="es-ES" dirty="0"/>
              <a:t>    : base (</a:t>
            </a:r>
            <a:r>
              <a:rPr lang="es-ES" dirty="0" err="1"/>
              <a:t>toBeCloned</a:t>
            </a:r>
            <a:r>
              <a:rPr lang="es-ES" dirty="0"/>
              <a:t>) { </a:t>
            </a:r>
            <a:r>
              <a:rPr lang="es-ES" dirty="0" err="1"/>
              <a:t>Diopter</a:t>
            </a:r>
            <a:r>
              <a:rPr lang="es-ES" dirty="0"/>
              <a:t> = </a:t>
            </a:r>
            <a:r>
              <a:rPr lang="es-ES" dirty="0" err="1"/>
              <a:t>toBeCloned.Diopter</a:t>
            </a:r>
            <a:r>
              <a:rPr lang="es-ES" dirty="0"/>
              <a:t>; }</a:t>
            </a:r>
          </a:p>
          <a:p>
            <a:r>
              <a:rPr lang="es-ES" dirty="0"/>
              <a:t>  // </a:t>
            </a:r>
            <a:r>
              <a:rPr lang="es-ES" dirty="0" err="1"/>
              <a:t>Would</a:t>
            </a:r>
            <a:r>
              <a:rPr lang="es-ES" dirty="0"/>
              <a:t> </a:t>
            </a:r>
            <a:r>
              <a:rPr lang="es-ES" dirty="0" err="1"/>
              <a:t>prefer</a:t>
            </a:r>
            <a:r>
              <a:rPr lang="es-ES" dirty="0"/>
              <a:t> to </a:t>
            </a:r>
            <a:r>
              <a:rPr lang="es-ES" dirty="0" err="1"/>
              <a:t>return</a:t>
            </a:r>
            <a:r>
              <a:rPr lang="es-ES" dirty="0"/>
              <a:t> Nerd </a:t>
            </a:r>
            <a:r>
              <a:rPr lang="es-ES" dirty="0" err="1"/>
              <a:t>instead</a:t>
            </a:r>
            <a:r>
              <a:rPr lang="es-ES" dirty="0"/>
              <a:t>:</a:t>
            </a:r>
          </a:p>
          <a:p>
            <a:r>
              <a:rPr lang="es-ES" dirty="0"/>
              <a:t>  //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override</a:t>
            </a:r>
            <a:r>
              <a:rPr lang="es-ES" dirty="0"/>
              <a:t> </a:t>
            </a:r>
            <a:r>
              <a:rPr lang="es-ES" dirty="0" err="1"/>
              <a:t>Mammal</a:t>
            </a:r>
            <a:r>
              <a:rPr lang="es-ES" dirty="0"/>
              <a:t> Clone() { </a:t>
            </a:r>
            <a:r>
              <a:rPr lang="es-ES" dirty="0" err="1"/>
              <a:t>return</a:t>
            </a:r>
            <a:r>
              <a:rPr lang="es-ES" dirty="0"/>
              <a:t> new Nerd(this); }</a:t>
            </a:r>
          </a:p>
          <a:p>
            <a:r>
              <a:rPr lang="es-ES" dirty="0"/>
              <a:t>  </a:t>
            </a:r>
            <a:r>
              <a:rPr lang="es-ES" dirty="0" err="1"/>
              <a:t>public</a:t>
            </a:r>
            <a:r>
              <a:rPr lang="es-ES" dirty="0"/>
              <a:t> new Nerd Clone() { </a:t>
            </a:r>
            <a:r>
              <a:rPr lang="es-ES" dirty="0" err="1"/>
              <a:t>return</a:t>
            </a:r>
            <a:r>
              <a:rPr lang="es-ES" dirty="0"/>
              <a:t> new Nerd(this); }</a:t>
            </a:r>
          </a:p>
          <a:p>
            <a:r>
              <a:rPr lang="es-ES" dirty="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705528"/>
      </p:ext>
    </p:extLst>
  </p:cSld>
  <p:clrMapOvr>
    <a:masterClrMapping/>
  </p:clrMapOvr>
</p:sld>
</file>

<file path=ppt/slides/slide48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9A0CDD-0F0A-7A7F-412A-36E9EB45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7398C9-4B20-E530-8FA8-90E88D51E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pPr>
              <a:lnSpc>
                <a:spcPct val="100%"/>
              </a:lnSpc>
            </a:pPr>
            <a:r>
              <a:rPr lang="es-ES" sz="700"/>
              <a:t>interface </a:t>
            </a:r>
            <a:r>
              <a:rPr lang="es-ES" sz="700" err="1"/>
              <a:t>INerd</a:t>
            </a:r>
            <a:r>
              <a:rPr lang="es-ES" sz="700"/>
              <a:t> {</a:t>
            </a:r>
          </a:p>
          <a:p>
            <a:pPr>
              <a:lnSpc>
                <a:spcPct val="100%"/>
              </a:lnSpc>
            </a:pPr>
            <a:r>
              <a:rPr lang="es-ES" sz="700"/>
              <a:t>  </a:t>
            </a:r>
            <a:r>
              <a:rPr lang="es-ES" sz="700" err="1"/>
              <a:t>public</a:t>
            </a:r>
            <a:r>
              <a:rPr lang="es-ES" sz="700"/>
              <a:t> </a:t>
            </a:r>
            <a:r>
              <a:rPr lang="es-ES" sz="700" err="1"/>
              <a:t>int</a:t>
            </a:r>
            <a:r>
              <a:rPr lang="es-ES" sz="700"/>
              <a:t> </a:t>
            </a:r>
            <a:r>
              <a:rPr lang="es-ES" sz="700" err="1"/>
              <a:t>Smartness</a:t>
            </a:r>
            <a:r>
              <a:rPr lang="es-ES" sz="700"/>
              <a:t> { </a:t>
            </a:r>
            <a:r>
              <a:rPr lang="es-ES" sz="700" err="1"/>
              <a:t>get</a:t>
            </a:r>
            <a:r>
              <a:rPr lang="es-ES" sz="700"/>
              <a:t>; set; }</a:t>
            </a:r>
          </a:p>
          <a:p>
            <a:pPr>
              <a:lnSpc>
                <a:spcPct val="100%"/>
              </a:lnSpc>
            </a:pPr>
            <a:r>
              <a:rPr lang="es-ES" sz="700"/>
              <a:t>}</a:t>
            </a:r>
          </a:p>
          <a:p>
            <a:pPr>
              <a:lnSpc>
                <a:spcPct val="100%"/>
              </a:lnSpc>
            </a:pPr>
            <a:r>
              <a:rPr lang="es-ES" sz="700" err="1"/>
              <a:t>static</a:t>
            </a:r>
            <a:r>
              <a:rPr lang="es-ES" sz="700"/>
              <a:t> </a:t>
            </a:r>
            <a:r>
              <a:rPr lang="es-ES" sz="700" err="1"/>
              <a:t>class</a:t>
            </a:r>
            <a:r>
              <a:rPr lang="es-ES" sz="700"/>
              <a:t> </a:t>
            </a:r>
            <a:r>
              <a:rPr lang="es-ES" sz="700" err="1"/>
              <a:t>Program</a:t>
            </a:r>
            <a:endParaRPr lang="es-ES" sz="700"/>
          </a:p>
          <a:p>
            <a:pPr>
              <a:lnSpc>
                <a:spcPct val="100%"/>
              </a:lnSpc>
            </a:pPr>
            <a:r>
              <a:rPr lang="es-ES" sz="700"/>
              <a:t>{</a:t>
            </a:r>
          </a:p>
          <a:p>
            <a:pPr>
              <a:lnSpc>
                <a:spcPct val="100%"/>
              </a:lnSpc>
            </a:pPr>
            <a:r>
              <a:rPr lang="es-ES" sz="700"/>
              <a:t>  </a:t>
            </a:r>
            <a:r>
              <a:rPr lang="es-ES" sz="700" err="1"/>
              <a:t>public</a:t>
            </a:r>
            <a:r>
              <a:rPr lang="es-ES" sz="700"/>
              <a:t> </a:t>
            </a:r>
            <a:r>
              <a:rPr lang="es-ES" sz="700" err="1"/>
              <a:t>static</a:t>
            </a:r>
            <a:r>
              <a:rPr lang="es-ES" sz="700"/>
              <a:t> </a:t>
            </a:r>
            <a:r>
              <a:rPr lang="es-ES" sz="700" err="1"/>
              <a:t>string</a:t>
            </a:r>
            <a:r>
              <a:rPr lang="es-ES" sz="700"/>
              <a:t> </a:t>
            </a:r>
            <a:r>
              <a:rPr lang="es-ES" sz="700" err="1"/>
              <a:t>RecallSomeDigitsOfPi</a:t>
            </a:r>
            <a:r>
              <a:rPr lang="es-ES" sz="700"/>
              <a:t>&lt;T&gt;(</a:t>
            </a:r>
          </a:p>
          <a:p>
            <a:pPr>
              <a:lnSpc>
                <a:spcPct val="100%"/>
              </a:lnSpc>
            </a:pPr>
            <a:r>
              <a:rPr lang="es-ES" sz="700"/>
              <a:t>    this </a:t>
            </a:r>
            <a:r>
              <a:rPr lang="es-ES" sz="700" err="1"/>
              <a:t>IList</a:t>
            </a:r>
            <a:r>
              <a:rPr lang="es-ES" sz="700"/>
              <a:t>&lt;T&gt; </a:t>
            </a:r>
            <a:r>
              <a:rPr lang="es-ES" sz="700" err="1"/>
              <a:t>nerdSmartnesses</a:t>
            </a:r>
            <a:r>
              <a:rPr lang="es-ES" sz="700"/>
              <a:t>) </a:t>
            </a:r>
            <a:r>
              <a:rPr lang="es-ES" sz="700" err="1"/>
              <a:t>where</a:t>
            </a:r>
            <a:r>
              <a:rPr lang="es-ES" sz="700"/>
              <a:t> T : </a:t>
            </a:r>
            <a:r>
              <a:rPr lang="es-ES" sz="700" err="1"/>
              <a:t>int</a:t>
            </a:r>
            <a:endParaRPr lang="es-ES" sz="700"/>
          </a:p>
          <a:p>
            <a:pPr>
              <a:lnSpc>
                <a:spcPct val="100%"/>
              </a:lnSpc>
            </a:pPr>
            <a:r>
              <a:rPr lang="es-ES" sz="700"/>
              <a:t>  {</a:t>
            </a:r>
          </a:p>
          <a:p>
            <a:pPr>
              <a:lnSpc>
                <a:spcPct val="100%"/>
              </a:lnSpc>
            </a:pPr>
            <a:r>
              <a:rPr lang="es-ES" sz="700"/>
              <a:t>    </a:t>
            </a:r>
            <a:r>
              <a:rPr lang="es-ES" sz="700" err="1"/>
              <a:t>var</a:t>
            </a:r>
            <a:r>
              <a:rPr lang="es-ES" sz="700"/>
              <a:t> </a:t>
            </a:r>
            <a:r>
              <a:rPr lang="es-ES" sz="700" err="1"/>
              <a:t>smartest</a:t>
            </a:r>
            <a:r>
              <a:rPr lang="es-ES" sz="700"/>
              <a:t> = </a:t>
            </a:r>
            <a:r>
              <a:rPr lang="es-ES" sz="700" err="1"/>
              <a:t>nerdSmartnesses.Max</a:t>
            </a:r>
            <a:r>
              <a:rPr lang="es-ES" sz="700"/>
              <a:t>();</a:t>
            </a:r>
          </a:p>
          <a:p>
            <a:pPr>
              <a:lnSpc>
                <a:spcPct val="100%"/>
              </a:lnSpc>
            </a:pPr>
            <a:r>
              <a:rPr lang="es-ES" sz="700"/>
              <a:t>    </a:t>
            </a:r>
            <a:r>
              <a:rPr lang="es-ES" sz="700" err="1"/>
              <a:t>return</a:t>
            </a:r>
            <a:r>
              <a:rPr lang="es-ES" sz="700"/>
              <a:t> </a:t>
            </a:r>
            <a:r>
              <a:rPr lang="es-ES" sz="700" err="1"/>
              <a:t>Math.PI.ToString</a:t>
            </a:r>
            <a:r>
              <a:rPr lang="es-ES" sz="700"/>
              <a:t>("F" + </a:t>
            </a:r>
            <a:r>
              <a:rPr lang="es-ES" sz="700" err="1"/>
              <a:t>Math.Min</a:t>
            </a:r>
            <a:r>
              <a:rPr lang="es-ES" sz="700"/>
              <a:t>(14, </a:t>
            </a:r>
            <a:r>
              <a:rPr lang="es-ES" sz="700" err="1"/>
              <a:t>smartest</a:t>
            </a:r>
            <a:r>
              <a:rPr lang="es-ES" sz="700"/>
              <a:t>));</a:t>
            </a:r>
          </a:p>
          <a:p>
            <a:pPr>
              <a:lnSpc>
                <a:spcPct val="100%"/>
              </a:lnSpc>
            </a:pPr>
            <a:r>
              <a:rPr lang="es-ES" sz="700"/>
              <a:t>  }</a:t>
            </a:r>
          </a:p>
          <a:p>
            <a:pPr>
              <a:lnSpc>
                <a:spcPct val="100%"/>
              </a:lnSpc>
            </a:pPr>
            <a:r>
              <a:rPr lang="es-ES" sz="700"/>
              <a:t>  </a:t>
            </a:r>
            <a:r>
              <a:rPr lang="es-ES" sz="700" err="1"/>
              <a:t>public</a:t>
            </a:r>
            <a:r>
              <a:rPr lang="es-ES" sz="700"/>
              <a:t> </a:t>
            </a:r>
            <a:r>
              <a:rPr lang="es-ES" sz="700" err="1"/>
              <a:t>static</a:t>
            </a:r>
            <a:r>
              <a:rPr lang="es-ES" sz="700"/>
              <a:t> </a:t>
            </a:r>
            <a:r>
              <a:rPr lang="es-ES" sz="700" err="1"/>
              <a:t>string</a:t>
            </a:r>
            <a:r>
              <a:rPr lang="es-ES" sz="700"/>
              <a:t> </a:t>
            </a:r>
            <a:r>
              <a:rPr lang="es-ES" sz="700" err="1"/>
              <a:t>RecallSomeDigitsOfPi</a:t>
            </a:r>
            <a:r>
              <a:rPr lang="es-ES" sz="700"/>
              <a:t>&lt;T&gt;(</a:t>
            </a:r>
          </a:p>
          <a:p>
            <a:pPr>
              <a:lnSpc>
                <a:spcPct val="100%"/>
              </a:lnSpc>
            </a:pPr>
            <a:r>
              <a:rPr lang="es-ES" sz="700"/>
              <a:t>    this </a:t>
            </a:r>
            <a:r>
              <a:rPr lang="es-ES" sz="700" err="1"/>
              <a:t>IList</a:t>
            </a:r>
            <a:r>
              <a:rPr lang="es-ES" sz="700"/>
              <a:t>&lt;T&gt; nerds) </a:t>
            </a:r>
            <a:r>
              <a:rPr lang="es-ES" sz="700" err="1"/>
              <a:t>where</a:t>
            </a:r>
            <a:r>
              <a:rPr lang="es-ES" sz="700"/>
              <a:t> T : </a:t>
            </a:r>
            <a:r>
              <a:rPr lang="es-ES" sz="700" err="1"/>
              <a:t>INerd</a:t>
            </a:r>
            <a:endParaRPr lang="es-ES" sz="700"/>
          </a:p>
          <a:p>
            <a:pPr>
              <a:lnSpc>
                <a:spcPct val="100%"/>
              </a:lnSpc>
            </a:pPr>
            <a:r>
              <a:rPr lang="es-ES" sz="700"/>
              <a:t>  {</a:t>
            </a:r>
          </a:p>
          <a:p>
            <a:pPr>
              <a:lnSpc>
                <a:spcPct val="100%"/>
              </a:lnSpc>
            </a:pPr>
            <a:r>
              <a:rPr lang="es-ES" sz="700"/>
              <a:t>    </a:t>
            </a:r>
            <a:r>
              <a:rPr lang="es-ES" sz="700" err="1"/>
              <a:t>var</a:t>
            </a:r>
            <a:r>
              <a:rPr lang="es-ES" sz="700"/>
              <a:t> </a:t>
            </a:r>
            <a:r>
              <a:rPr lang="es-ES" sz="700" err="1"/>
              <a:t>smartest</a:t>
            </a:r>
            <a:r>
              <a:rPr lang="es-ES" sz="700"/>
              <a:t> = </a:t>
            </a:r>
            <a:r>
              <a:rPr lang="es-ES" sz="700" err="1"/>
              <a:t>nerds.OrderByDescending</a:t>
            </a:r>
            <a:r>
              <a:rPr lang="es-ES" sz="700"/>
              <a:t>(n =&gt; </a:t>
            </a:r>
            <a:r>
              <a:rPr lang="es-ES" sz="700" err="1"/>
              <a:t>n.Smartness</a:t>
            </a:r>
            <a:r>
              <a:rPr lang="es-ES" sz="700"/>
              <a:t>).</a:t>
            </a:r>
            <a:r>
              <a:rPr lang="es-ES" sz="700" err="1"/>
              <a:t>First</a:t>
            </a:r>
            <a:r>
              <a:rPr lang="es-ES" sz="700"/>
              <a:t>();</a:t>
            </a:r>
          </a:p>
          <a:p>
            <a:pPr>
              <a:lnSpc>
                <a:spcPct val="100%"/>
              </a:lnSpc>
            </a:pPr>
            <a:r>
              <a:rPr lang="es-ES" sz="700"/>
              <a:t>    </a:t>
            </a:r>
            <a:r>
              <a:rPr lang="es-ES" sz="700" err="1"/>
              <a:t>return</a:t>
            </a:r>
            <a:r>
              <a:rPr lang="es-ES" sz="700"/>
              <a:t> </a:t>
            </a:r>
            <a:r>
              <a:rPr lang="es-ES" sz="700" err="1"/>
              <a:t>Math.PI.ToString</a:t>
            </a:r>
            <a:r>
              <a:rPr lang="es-ES" sz="700"/>
              <a:t>("F" + </a:t>
            </a:r>
            <a:r>
              <a:rPr lang="es-ES" sz="700" err="1"/>
              <a:t>Math.Min</a:t>
            </a:r>
            <a:r>
              <a:rPr lang="es-ES" sz="700"/>
              <a:t>(14, </a:t>
            </a:r>
            <a:r>
              <a:rPr lang="es-ES" sz="700" err="1"/>
              <a:t>smartest.Smartness</a:t>
            </a:r>
            <a:r>
              <a:rPr lang="es-ES" sz="700"/>
              <a:t>));</a:t>
            </a:r>
          </a:p>
          <a:p>
            <a:pPr>
              <a:lnSpc>
                <a:spcPct val="100%"/>
              </a:lnSpc>
            </a:pPr>
            <a:r>
              <a:rPr lang="es-ES" sz="700"/>
              <a:t>  }</a:t>
            </a:r>
          </a:p>
          <a:p>
            <a:pPr>
              <a:lnSpc>
                <a:spcPct val="100%"/>
              </a:lnSpc>
            </a:pPr>
            <a:r>
              <a:rPr lang="es-ES" sz="700"/>
              <a:t>  </a:t>
            </a:r>
            <a:r>
              <a:rPr lang="es-ES" sz="700" err="1"/>
              <a:t>static</a:t>
            </a:r>
            <a:r>
              <a:rPr lang="es-ES" sz="700"/>
              <a:t> </a:t>
            </a:r>
            <a:r>
              <a:rPr lang="es-ES" sz="700" err="1"/>
              <a:t>void</a:t>
            </a:r>
            <a:r>
              <a:rPr lang="es-ES" sz="700"/>
              <a:t> </a:t>
            </a:r>
            <a:r>
              <a:rPr lang="es-ES" sz="700" err="1"/>
              <a:t>Main</a:t>
            </a:r>
            <a:r>
              <a:rPr lang="es-ES" sz="700"/>
              <a:t>(</a:t>
            </a:r>
            <a:r>
              <a:rPr lang="es-ES" sz="700" err="1"/>
              <a:t>string</a:t>
            </a:r>
            <a:r>
              <a:rPr lang="es-ES" sz="700"/>
              <a:t>[] </a:t>
            </a:r>
            <a:r>
              <a:rPr lang="es-ES" sz="700" err="1"/>
              <a:t>args</a:t>
            </a:r>
            <a:r>
              <a:rPr lang="es-ES" sz="700"/>
              <a:t>)</a:t>
            </a:r>
          </a:p>
          <a:p>
            <a:pPr>
              <a:lnSpc>
                <a:spcPct val="100%"/>
              </a:lnSpc>
            </a:pPr>
            <a:r>
              <a:rPr lang="es-ES" sz="700"/>
              <a:t>  {</a:t>
            </a:r>
          </a:p>
          <a:p>
            <a:pPr>
              <a:lnSpc>
                <a:spcPct val="100%"/>
              </a:lnSpc>
            </a:pPr>
            <a:r>
              <a:rPr lang="es-ES" sz="700"/>
              <a:t>    </a:t>
            </a:r>
            <a:r>
              <a:rPr lang="es-ES" sz="700" err="1"/>
              <a:t>IList</a:t>
            </a:r>
            <a:r>
              <a:rPr lang="es-ES" sz="700"/>
              <a:t>&lt;</a:t>
            </a:r>
            <a:r>
              <a:rPr lang="es-ES" sz="700" err="1"/>
              <a:t>int</a:t>
            </a:r>
            <a:r>
              <a:rPr lang="es-ES" sz="700"/>
              <a:t>&gt; </a:t>
            </a:r>
            <a:r>
              <a:rPr lang="es-ES" sz="700" err="1"/>
              <a:t>list</a:t>
            </a:r>
            <a:r>
              <a:rPr lang="es-ES" sz="700"/>
              <a:t> = new </a:t>
            </a:r>
            <a:r>
              <a:rPr lang="es-ES" sz="700" err="1"/>
              <a:t>List</a:t>
            </a:r>
            <a:r>
              <a:rPr lang="es-ES" sz="700"/>
              <a:t>&lt;</a:t>
            </a:r>
            <a:r>
              <a:rPr lang="es-ES" sz="700" err="1"/>
              <a:t>int</a:t>
            </a:r>
            <a:r>
              <a:rPr lang="es-ES" sz="700"/>
              <a:t>&gt; { 2, 3, 4 };</a:t>
            </a:r>
          </a:p>
          <a:p>
            <a:pPr>
              <a:lnSpc>
                <a:spcPct val="100%"/>
              </a:lnSpc>
            </a:pPr>
            <a:r>
              <a:rPr lang="es-ES" sz="700"/>
              <a:t>    </a:t>
            </a:r>
            <a:r>
              <a:rPr lang="es-ES" sz="700" err="1"/>
              <a:t>var</a:t>
            </a:r>
            <a:r>
              <a:rPr lang="es-ES" sz="700"/>
              <a:t> </a:t>
            </a:r>
            <a:r>
              <a:rPr lang="es-ES" sz="700" err="1"/>
              <a:t>digits</a:t>
            </a:r>
            <a:r>
              <a:rPr lang="es-ES" sz="700"/>
              <a:t> = </a:t>
            </a:r>
            <a:r>
              <a:rPr lang="es-ES" sz="700" err="1"/>
              <a:t>list.RecallSomeDigitsOfPi</a:t>
            </a:r>
            <a:r>
              <a:rPr lang="es-ES" sz="700"/>
              <a:t>();</a:t>
            </a:r>
          </a:p>
          <a:p>
            <a:pPr>
              <a:lnSpc>
                <a:spcPct val="100%"/>
              </a:lnSpc>
            </a:pPr>
            <a:r>
              <a:rPr lang="es-ES" sz="700"/>
              <a:t>    </a:t>
            </a:r>
            <a:r>
              <a:rPr lang="es-ES" sz="700" err="1"/>
              <a:t>Console.WriteLine</a:t>
            </a:r>
            <a:r>
              <a:rPr lang="es-ES" sz="700"/>
              <a:t>("</a:t>
            </a:r>
            <a:r>
              <a:rPr lang="es-ES" sz="700" err="1"/>
              <a:t>Digits</a:t>
            </a:r>
            <a:r>
              <a:rPr lang="es-ES" sz="700"/>
              <a:t>: " + </a:t>
            </a:r>
            <a:r>
              <a:rPr lang="es-ES" sz="700" err="1"/>
              <a:t>digits</a:t>
            </a:r>
            <a:r>
              <a:rPr lang="es-ES" sz="700"/>
              <a:t>);</a:t>
            </a:r>
          </a:p>
          <a:p>
            <a:pPr>
              <a:lnSpc>
                <a:spcPct val="100%"/>
              </a:lnSpc>
            </a:pPr>
            <a:r>
              <a:rPr lang="es-ES" sz="700"/>
              <a:t>  }</a:t>
            </a:r>
          </a:p>
          <a:p>
            <a:pPr>
              <a:lnSpc>
                <a:spcPct val="100%"/>
              </a:lnSpc>
            </a:pPr>
            <a:r>
              <a:rPr lang="es-ES" sz="70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148099"/>
      </p:ext>
    </p:extLst>
  </p:cSld>
  <p:clrMapOvr>
    <a:masterClrMapping/>
  </p:clrMapOvr>
</p:sld>
</file>

<file path=ppt/slides/slide49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6681CA-6E53-36E3-A510-130D106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8C175E-AAC2-18C8-756A-EA22CA4D6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pPr>
              <a:lnSpc>
                <a:spcPct val="100%"/>
              </a:lnSpc>
            </a:pPr>
            <a:r>
              <a:rPr lang="es-ES" sz="1700" err="1"/>
              <a:t>class</a:t>
            </a:r>
            <a:r>
              <a:rPr lang="es-ES" sz="1700"/>
              <a:t> </a:t>
            </a:r>
            <a:r>
              <a:rPr lang="es-ES" sz="1700" err="1"/>
              <a:t>GrooveControl</a:t>
            </a:r>
            <a:r>
              <a:rPr lang="es-ES" sz="1700"/>
              <a:t>: Control {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protected</a:t>
            </a:r>
            <a:r>
              <a:rPr lang="es-ES" sz="1700"/>
              <a:t> </a:t>
            </a:r>
            <a:r>
              <a:rPr lang="es-ES" sz="1700" err="1"/>
              <a:t>bool</a:t>
            </a:r>
            <a:r>
              <a:rPr lang="es-ES" sz="1700"/>
              <a:t> </a:t>
            </a:r>
            <a:r>
              <a:rPr lang="es-ES" sz="1700" err="1"/>
              <a:t>isMoonWalking</a:t>
            </a:r>
            <a:r>
              <a:rPr lang="es-ES" sz="1700"/>
              <a:t>;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protected</a:t>
            </a:r>
            <a:r>
              <a:rPr lang="es-ES" sz="1700"/>
              <a:t> </a:t>
            </a:r>
            <a:r>
              <a:rPr lang="es-ES" sz="1700" err="1"/>
              <a:t>override</a:t>
            </a:r>
            <a:r>
              <a:rPr lang="es-ES" sz="1700"/>
              <a:t> </a:t>
            </a:r>
            <a:r>
              <a:rPr lang="es-ES" sz="1700" err="1"/>
              <a:t>void</a:t>
            </a:r>
            <a:r>
              <a:rPr lang="es-ES" sz="1700"/>
              <a:t> </a:t>
            </a:r>
            <a:r>
              <a:rPr lang="es-ES" sz="1700" err="1"/>
              <a:t>OnMouseDown</a:t>
            </a:r>
            <a:r>
              <a:rPr lang="es-ES" sz="1700"/>
              <a:t>(</a:t>
            </a:r>
            <a:r>
              <a:rPr lang="es-ES" sz="1700" err="1"/>
              <a:t>MouseButtonEventArgs</a:t>
            </a:r>
            <a:r>
              <a:rPr lang="es-ES" sz="1700"/>
              <a:t> e) {</a:t>
            </a:r>
          </a:p>
          <a:p>
            <a:pPr>
              <a:lnSpc>
                <a:spcPct val="100%"/>
              </a:lnSpc>
            </a:pPr>
            <a:r>
              <a:rPr lang="es-ES" sz="1700"/>
              <a:t>    </a:t>
            </a:r>
            <a:r>
              <a:rPr lang="es-ES" sz="1700" err="1"/>
              <a:t>isMoonWalking</a:t>
            </a:r>
            <a:r>
              <a:rPr lang="es-ES" sz="1700"/>
              <a:t> = </a:t>
            </a:r>
            <a:r>
              <a:rPr lang="es-ES" sz="1700" err="1"/>
              <a:t>CaptureMouse</a:t>
            </a:r>
            <a:r>
              <a:rPr lang="es-ES" sz="1700"/>
              <a:t>();</a:t>
            </a:r>
          </a:p>
          <a:p>
            <a:pPr>
              <a:lnSpc>
                <a:spcPct val="100%"/>
              </a:lnSpc>
            </a:pPr>
            <a:r>
              <a:rPr lang="es-ES" sz="1700"/>
              <a:t>    </a:t>
            </a:r>
            <a:r>
              <a:rPr lang="es-ES" sz="1700" err="1"/>
              <a:t>base.OnMouseDown</a:t>
            </a:r>
            <a:r>
              <a:rPr lang="es-ES" sz="1700"/>
              <a:t>(e);</a:t>
            </a:r>
          </a:p>
          <a:p>
            <a:pPr>
              <a:lnSpc>
                <a:spcPct val="100%"/>
              </a:lnSpc>
            </a:pPr>
            <a:r>
              <a:rPr lang="es-ES" sz="1700"/>
              <a:t>  }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protected</a:t>
            </a:r>
            <a:r>
              <a:rPr lang="es-ES" sz="1700"/>
              <a:t> </a:t>
            </a:r>
            <a:r>
              <a:rPr lang="es-ES" sz="1700" err="1"/>
              <a:t>override</a:t>
            </a:r>
            <a:r>
              <a:rPr lang="es-ES" sz="1700"/>
              <a:t> </a:t>
            </a:r>
            <a:r>
              <a:rPr lang="es-ES" sz="1700" err="1"/>
              <a:t>void</a:t>
            </a:r>
            <a:r>
              <a:rPr lang="es-ES" sz="1700"/>
              <a:t> </a:t>
            </a:r>
            <a:r>
              <a:rPr lang="es-ES" sz="1700" err="1"/>
              <a:t>OnMouseUp</a:t>
            </a:r>
            <a:r>
              <a:rPr lang="es-ES" sz="1700"/>
              <a:t>(</a:t>
            </a:r>
            <a:r>
              <a:rPr lang="es-ES" sz="1700" err="1"/>
              <a:t>MouseButtonEventArgs</a:t>
            </a:r>
            <a:r>
              <a:rPr lang="es-ES" sz="1700"/>
              <a:t> e) {</a:t>
            </a:r>
          </a:p>
          <a:p>
            <a:pPr>
              <a:lnSpc>
                <a:spcPct val="100%"/>
              </a:lnSpc>
            </a:pPr>
            <a:r>
              <a:rPr lang="es-ES" sz="1700"/>
              <a:t>    </a:t>
            </a:r>
            <a:r>
              <a:rPr lang="es-ES" sz="1700" err="1"/>
              <a:t>base.OnMouseUp</a:t>
            </a:r>
            <a:r>
              <a:rPr lang="es-ES" sz="1700"/>
              <a:t>(e);</a:t>
            </a:r>
          </a:p>
          <a:p>
            <a:pPr>
              <a:lnSpc>
                <a:spcPct val="100%"/>
              </a:lnSpc>
            </a:pPr>
            <a:r>
              <a:rPr lang="es-ES" sz="1700"/>
              <a:t>    </a:t>
            </a:r>
            <a:r>
              <a:rPr lang="es-ES" sz="1700" err="1"/>
              <a:t>if</a:t>
            </a:r>
            <a:r>
              <a:rPr lang="es-ES" sz="1700"/>
              <a:t> (</a:t>
            </a:r>
            <a:r>
              <a:rPr lang="es-ES" sz="1700" err="1"/>
              <a:t>isMoonWalking</a:t>
            </a:r>
            <a:r>
              <a:rPr lang="es-ES" sz="1700"/>
              <a:t>) {</a:t>
            </a:r>
          </a:p>
          <a:p>
            <a:pPr>
              <a:lnSpc>
                <a:spcPct val="100%"/>
              </a:lnSpc>
            </a:pPr>
            <a:r>
              <a:rPr lang="es-ES" sz="1700"/>
              <a:t>      </a:t>
            </a:r>
            <a:r>
              <a:rPr lang="es-ES" sz="1700" err="1"/>
              <a:t>ReleaseMouseCapture</a:t>
            </a:r>
            <a:r>
              <a:rPr lang="es-ES" sz="1700"/>
              <a:t>();</a:t>
            </a:r>
          </a:p>
          <a:p>
            <a:pPr>
              <a:lnSpc>
                <a:spcPct val="100%"/>
              </a:lnSpc>
            </a:pPr>
            <a:r>
              <a:rPr lang="es-ES" sz="1700"/>
              <a:t>      </a:t>
            </a:r>
            <a:r>
              <a:rPr lang="es-ES" sz="1700" err="1"/>
              <a:t>isMoonWalking</a:t>
            </a:r>
            <a:r>
              <a:rPr lang="es-ES" sz="1700"/>
              <a:t> = false;</a:t>
            </a:r>
          </a:p>
          <a:p>
            <a:pPr>
              <a:lnSpc>
                <a:spcPct val="100%"/>
              </a:lnSpc>
            </a:pPr>
            <a:r>
              <a:rPr lang="es-ES" sz="1700"/>
              <a:t>    }</a:t>
            </a:r>
          </a:p>
          <a:p>
            <a:pPr>
              <a:lnSpc>
                <a:spcPct val="100%"/>
              </a:lnSpc>
            </a:pPr>
            <a:r>
              <a:rPr lang="es-ES" sz="1700"/>
              <a:t>  }</a:t>
            </a:r>
          </a:p>
          <a:p>
            <a:pPr>
              <a:lnSpc>
                <a:spcPct val="100%"/>
              </a:lnSpc>
            </a:pPr>
            <a:r>
              <a:rPr lang="es-ES" sz="170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937231"/>
      </p:ext>
    </p:extLst>
  </p:cSld>
  <p:clrMapOvr>
    <a:masterClrMapping/>
  </p:clrMapOvr>
</p:sld>
</file>

<file path=ppt/slides/slide50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769886-3D11-5687-685B-04E117DE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s-ES" sz="3600" b="1"/>
              <a:t>The Interface Segregation Principle</a:t>
            </a:r>
            <a:br>
              <a:rPr lang="es-ES" sz="3600" b="1"/>
            </a:br>
            <a:br>
              <a:rPr lang="es-ES" sz="3600"/>
            </a:br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C9F16E-BF2B-955B-72E7-99181E261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pPr>
              <a:lnSpc>
                <a:spcPct val="100%"/>
              </a:lnSpc>
            </a:pPr>
            <a:r>
              <a:rPr lang="es-ES" dirty="0" err="1"/>
              <a:t>public</a:t>
            </a:r>
            <a:r>
              <a:rPr lang="es-ES" dirty="0"/>
              <a:t> interface </a:t>
            </a:r>
            <a:r>
              <a:rPr lang="es-ES" dirty="0" err="1"/>
              <a:t>ICollection</a:t>
            </a:r>
            <a:r>
              <a:rPr lang="es-ES" dirty="0"/>
              <a:t>&lt;T&gt; : </a:t>
            </a:r>
            <a:r>
              <a:rPr lang="es-ES" dirty="0" err="1"/>
              <a:t>IEnumerable</a:t>
            </a:r>
            <a:r>
              <a:rPr lang="es-ES" dirty="0"/>
              <a:t>&lt;T&gt; {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</a:t>
            </a: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Add</a:t>
            </a:r>
            <a:r>
              <a:rPr lang="es-ES" dirty="0"/>
              <a:t>(T </a:t>
            </a:r>
            <a:r>
              <a:rPr lang="es-ES" dirty="0" err="1"/>
              <a:t>item</a:t>
            </a:r>
            <a:r>
              <a:rPr lang="es-ES" dirty="0"/>
              <a:t>);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</a:t>
            </a:r>
            <a:r>
              <a:rPr lang="es-ES" dirty="0" err="1"/>
              <a:t>void</a:t>
            </a:r>
            <a:r>
              <a:rPr lang="es-ES" dirty="0"/>
              <a:t> Clear();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</a:t>
            </a:r>
            <a:r>
              <a:rPr lang="es-ES" dirty="0" err="1"/>
              <a:t>bool</a:t>
            </a:r>
            <a:r>
              <a:rPr lang="es-ES" dirty="0"/>
              <a:t> </a:t>
            </a:r>
            <a:r>
              <a:rPr lang="es-ES" dirty="0" err="1"/>
              <a:t>Contains</a:t>
            </a:r>
            <a:r>
              <a:rPr lang="es-ES" dirty="0"/>
              <a:t>(T </a:t>
            </a:r>
            <a:r>
              <a:rPr lang="es-ES" dirty="0" err="1"/>
              <a:t>item</a:t>
            </a:r>
            <a:r>
              <a:rPr lang="es-ES" dirty="0"/>
              <a:t>);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</a:t>
            </a: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CopyTo</a:t>
            </a:r>
            <a:r>
              <a:rPr lang="es-ES" dirty="0"/>
              <a:t>(T[] array,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arrayIndex</a:t>
            </a:r>
            <a:r>
              <a:rPr lang="es-ES" dirty="0"/>
              <a:t>);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</a:t>
            </a:r>
            <a:r>
              <a:rPr lang="es-ES" dirty="0" err="1"/>
              <a:t>bool</a:t>
            </a:r>
            <a:r>
              <a:rPr lang="es-ES" dirty="0"/>
              <a:t> </a:t>
            </a:r>
            <a:r>
              <a:rPr lang="es-ES" dirty="0" err="1"/>
              <a:t>Remove</a:t>
            </a:r>
            <a:r>
              <a:rPr lang="es-ES" dirty="0"/>
              <a:t>(T </a:t>
            </a:r>
            <a:r>
              <a:rPr lang="es-ES" dirty="0" err="1"/>
              <a:t>item</a:t>
            </a:r>
            <a:r>
              <a:rPr lang="es-ES" dirty="0"/>
              <a:t>);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}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 err="1"/>
              <a:t>public</a:t>
            </a:r>
            <a:r>
              <a:rPr lang="es-ES" dirty="0"/>
              <a:t> interface </a:t>
            </a:r>
            <a:r>
              <a:rPr lang="es-ES" dirty="0" err="1"/>
              <a:t>IList</a:t>
            </a:r>
            <a:r>
              <a:rPr lang="es-ES" dirty="0"/>
              <a:t>&lt;T&gt; : </a:t>
            </a:r>
            <a:r>
              <a:rPr lang="es-ES" dirty="0" err="1"/>
              <a:t>ICollection</a:t>
            </a:r>
            <a:r>
              <a:rPr lang="es-ES" dirty="0"/>
              <a:t>&lt;T&gt; {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T this[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index</a:t>
            </a:r>
            <a:r>
              <a:rPr lang="es-ES" dirty="0"/>
              <a:t>] { </a:t>
            </a:r>
            <a:r>
              <a:rPr lang="es-ES" dirty="0" err="1"/>
              <a:t>get</a:t>
            </a:r>
            <a:r>
              <a:rPr lang="es-ES" dirty="0"/>
              <a:t>; set; }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IndexOf</a:t>
            </a:r>
            <a:r>
              <a:rPr lang="es-ES" dirty="0"/>
              <a:t>(T </a:t>
            </a:r>
            <a:r>
              <a:rPr lang="es-ES" dirty="0" err="1"/>
              <a:t>item</a:t>
            </a:r>
            <a:r>
              <a:rPr lang="es-ES" dirty="0"/>
              <a:t>);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</a:t>
            </a: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Insert</a:t>
            </a:r>
            <a:r>
              <a:rPr lang="es-ES" dirty="0"/>
              <a:t>(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index</a:t>
            </a:r>
            <a:r>
              <a:rPr lang="es-ES" dirty="0"/>
              <a:t>, T </a:t>
            </a:r>
            <a:r>
              <a:rPr lang="es-ES" dirty="0" err="1"/>
              <a:t>item</a:t>
            </a:r>
            <a:r>
              <a:rPr lang="es-ES" dirty="0"/>
              <a:t>);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  </a:t>
            </a: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RemoveAt</a:t>
            </a:r>
            <a:r>
              <a:rPr lang="es-ES" dirty="0"/>
              <a:t>(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index</a:t>
            </a:r>
            <a:r>
              <a:rPr lang="es-ES" dirty="0"/>
              <a:t>);</a:t>
            </a:r>
            <a:endParaRPr lang="es-ES"/>
          </a:p>
          <a:p>
            <a:pPr>
              <a:lnSpc>
                <a:spcPct val="100%"/>
              </a:lnSpc>
            </a:pPr>
            <a:r>
              <a:rPr lang="es-ES" dirty="0"/>
              <a:t>}</a:t>
            </a:r>
            <a:endParaRPr lang="es-E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760126"/>
      </p:ext>
    </p:extLst>
  </p:cSld>
  <p:clrMapOvr>
    <a:masterClrMapping/>
  </p:clrMapOvr>
</p:sld>
</file>

<file path=ppt/slides/slide51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BE6F69-3B26-2957-0D2E-45E8BD132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F5DA02-C255-72BF-44AE-C2D70BEFD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r>
              <a:rPr lang="es-ES" dirty="0" err="1"/>
              <a:t>public</a:t>
            </a:r>
            <a:r>
              <a:rPr lang="es-ES" dirty="0"/>
              <a:t> interface </a:t>
            </a:r>
            <a:r>
              <a:rPr lang="es-ES" dirty="0" err="1"/>
              <a:t>ICollection</a:t>
            </a:r>
            <a:r>
              <a:rPr lang="es-ES" dirty="0"/>
              <a:t> : </a:t>
            </a:r>
            <a:r>
              <a:rPr lang="es-ES" dirty="0" err="1"/>
              <a:t>IEnumerable</a:t>
            </a:r>
            <a:r>
              <a:rPr lang="es-ES" dirty="0"/>
              <a:t> {</a:t>
            </a:r>
          </a:p>
          <a:p>
            <a:r>
              <a:rPr lang="es-ES" dirty="0"/>
              <a:t>  ...</a:t>
            </a:r>
          </a:p>
          <a:p>
            <a:r>
              <a:rPr lang="es-ES" dirty="0"/>
              <a:t>  </a:t>
            </a:r>
            <a:r>
              <a:rPr lang="es-ES" dirty="0" err="1"/>
              <a:t>object</a:t>
            </a:r>
            <a:r>
              <a:rPr lang="es-ES" dirty="0"/>
              <a:t> </a:t>
            </a:r>
            <a:r>
              <a:rPr lang="es-ES" dirty="0" err="1"/>
              <a:t>SyncRoot</a:t>
            </a:r>
            <a:r>
              <a:rPr lang="es-ES" dirty="0"/>
              <a:t> { </a:t>
            </a:r>
            <a:r>
              <a:rPr lang="es-ES" dirty="0" err="1"/>
              <a:t>get</a:t>
            </a:r>
            <a:r>
              <a:rPr lang="es-ES" dirty="0"/>
              <a:t>; }</a:t>
            </a:r>
          </a:p>
          <a:p>
            <a:r>
              <a:rPr lang="es-ES" dirty="0"/>
              <a:t>  </a:t>
            </a:r>
            <a:r>
              <a:rPr lang="es-ES" dirty="0" err="1"/>
              <a:t>bool</a:t>
            </a:r>
            <a:r>
              <a:rPr lang="es-ES" dirty="0"/>
              <a:t> </a:t>
            </a:r>
            <a:r>
              <a:rPr lang="es-ES" dirty="0" err="1"/>
              <a:t>IsSynchronized</a:t>
            </a:r>
            <a:r>
              <a:rPr lang="es-ES" dirty="0"/>
              <a:t> { </a:t>
            </a:r>
            <a:r>
              <a:rPr lang="es-ES" dirty="0" err="1"/>
              <a:t>get</a:t>
            </a:r>
            <a:r>
              <a:rPr lang="es-ES" dirty="0"/>
              <a:t>; }</a:t>
            </a:r>
          </a:p>
          <a:p>
            <a:r>
              <a:rPr lang="es-ES" dirty="0"/>
              <a:t>  ...</a:t>
            </a:r>
          </a:p>
          <a:p>
            <a:r>
              <a:rPr lang="es-ES" dirty="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831584"/>
      </p:ext>
    </p:extLst>
  </p:cSld>
  <p:clrMapOvr>
    <a:masterClrMapping/>
  </p:clrMapOvr>
</p:sld>
</file>

<file path=ppt/slides/slide52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EAC0B2-F6E0-79E5-4A12-77CE0D148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58A97D-18C8-B298-61D7-821F4D2EB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pPr>
              <a:lnSpc>
                <a:spcPct val="100%"/>
              </a:lnSpc>
            </a:pPr>
            <a:r>
              <a:rPr lang="es-ES" sz="1700"/>
              <a:t>// Up a </a:t>
            </a:r>
            <a:r>
              <a:rPr lang="es-ES" sz="1700" err="1"/>
              <a:t>level</a:t>
            </a:r>
            <a:r>
              <a:rPr lang="es-ES" sz="1700"/>
              <a:t> in </a:t>
            </a:r>
            <a:r>
              <a:rPr lang="es-ES" sz="1700" err="1"/>
              <a:t>the</a:t>
            </a:r>
            <a:r>
              <a:rPr lang="es-ES" sz="1700"/>
              <a:t> </a:t>
            </a:r>
            <a:r>
              <a:rPr lang="es-ES" sz="1700" err="1"/>
              <a:t>project</a:t>
            </a:r>
            <a:r>
              <a:rPr lang="es-ES" sz="1700"/>
              <a:t> </a:t>
            </a:r>
            <a:r>
              <a:rPr lang="es-ES" sz="1700" err="1"/>
              <a:t>hierarchy</a:t>
            </a:r>
            <a:endParaRPr lang="es-ES" sz="1700"/>
          </a:p>
          <a:p>
            <a:pPr>
              <a:lnSpc>
                <a:spcPct val="100%"/>
              </a:lnSpc>
            </a:pPr>
            <a:r>
              <a:rPr lang="es-ES" sz="1700" err="1"/>
              <a:t>public</a:t>
            </a:r>
            <a:r>
              <a:rPr lang="es-ES" sz="1700"/>
              <a:t> interface </a:t>
            </a:r>
            <a:r>
              <a:rPr lang="es-ES" sz="1700" err="1"/>
              <a:t>INerdService</a:t>
            </a:r>
            <a:r>
              <a:rPr lang="es-ES" sz="1700"/>
              <a:t> {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Type</a:t>
            </a:r>
            <a:r>
              <a:rPr lang="es-ES" sz="1700"/>
              <a:t>[] </a:t>
            </a:r>
            <a:r>
              <a:rPr lang="es-ES" sz="1700" err="1"/>
              <a:t>Dependencies</a:t>
            </a:r>
            <a:r>
              <a:rPr lang="es-ES" sz="1700"/>
              <a:t> { </a:t>
            </a:r>
            <a:r>
              <a:rPr lang="es-ES" sz="1700" err="1"/>
              <a:t>get</a:t>
            </a:r>
            <a:r>
              <a:rPr lang="es-ES" sz="1700"/>
              <a:t>; }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void</a:t>
            </a:r>
            <a:r>
              <a:rPr lang="es-ES" sz="1700"/>
              <a:t> </a:t>
            </a:r>
            <a:r>
              <a:rPr lang="es-ES" sz="1700" err="1"/>
              <a:t>Initialize</a:t>
            </a:r>
            <a:r>
              <a:rPr lang="es-ES" sz="1700"/>
              <a:t>(</a:t>
            </a:r>
            <a:r>
              <a:rPr lang="es-ES" sz="1700" err="1"/>
              <a:t>IEnumerable</a:t>
            </a:r>
            <a:r>
              <a:rPr lang="es-ES" sz="1700"/>
              <a:t>&lt;</a:t>
            </a:r>
            <a:r>
              <a:rPr lang="es-ES" sz="1700" err="1"/>
              <a:t>INerdService</a:t>
            </a:r>
            <a:r>
              <a:rPr lang="es-ES" sz="1700"/>
              <a:t>&gt; </a:t>
            </a:r>
            <a:r>
              <a:rPr lang="es-ES" sz="1700" err="1"/>
              <a:t>dependencies</a:t>
            </a:r>
            <a:r>
              <a:rPr lang="es-ES" sz="1700"/>
              <a:t>);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void</a:t>
            </a:r>
            <a:r>
              <a:rPr lang="es-ES" sz="1700"/>
              <a:t> </a:t>
            </a:r>
            <a:r>
              <a:rPr lang="es-ES" sz="1700" err="1"/>
              <a:t>Cleanup</a:t>
            </a:r>
            <a:r>
              <a:rPr lang="es-ES" sz="1700"/>
              <a:t>();</a:t>
            </a:r>
          </a:p>
          <a:p>
            <a:pPr>
              <a:lnSpc>
                <a:spcPct val="100%"/>
              </a:lnSpc>
            </a:pPr>
            <a:r>
              <a:rPr lang="es-ES" sz="1700"/>
              <a:t>}</a:t>
            </a:r>
          </a:p>
          <a:p>
            <a:pPr>
              <a:lnSpc>
                <a:spcPct val="100%"/>
              </a:lnSpc>
            </a:pPr>
            <a:r>
              <a:rPr lang="es-ES" sz="1700" err="1"/>
              <a:t>public</a:t>
            </a:r>
            <a:r>
              <a:rPr lang="es-ES" sz="1700"/>
              <a:t> </a:t>
            </a:r>
            <a:r>
              <a:rPr lang="es-ES" sz="1700" err="1"/>
              <a:t>class</a:t>
            </a:r>
            <a:r>
              <a:rPr lang="es-ES" sz="1700"/>
              <a:t> </a:t>
            </a:r>
            <a:r>
              <a:rPr lang="es-ES" sz="1700" err="1"/>
              <a:t>SocialIntroductionsService</a:t>
            </a:r>
            <a:r>
              <a:rPr lang="es-ES" sz="1700"/>
              <a:t>: </a:t>
            </a:r>
            <a:r>
              <a:rPr lang="es-ES" sz="1700" err="1"/>
              <a:t>INerdService</a:t>
            </a:r>
            <a:endParaRPr lang="es-ES" sz="1700"/>
          </a:p>
          <a:p>
            <a:pPr>
              <a:lnSpc>
                <a:spcPct val="100%"/>
              </a:lnSpc>
            </a:pPr>
            <a:r>
              <a:rPr lang="es-ES" sz="1700"/>
              <a:t>{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public</a:t>
            </a:r>
            <a:r>
              <a:rPr lang="es-ES" sz="1700"/>
              <a:t> </a:t>
            </a:r>
            <a:r>
              <a:rPr lang="es-ES" sz="1700" err="1"/>
              <a:t>Type</a:t>
            </a:r>
            <a:r>
              <a:rPr lang="es-ES" sz="1700"/>
              <a:t>[] </a:t>
            </a:r>
            <a:r>
              <a:rPr lang="es-ES" sz="1700" err="1"/>
              <a:t>Dependencies</a:t>
            </a:r>
            <a:r>
              <a:rPr lang="es-ES" sz="1700"/>
              <a:t> { </a:t>
            </a:r>
            <a:r>
              <a:rPr lang="es-ES" sz="1700" err="1"/>
              <a:t>get</a:t>
            </a:r>
            <a:r>
              <a:rPr lang="es-ES" sz="1700"/>
              <a:t> { </a:t>
            </a:r>
            <a:r>
              <a:rPr lang="es-ES" sz="1700" err="1"/>
              <a:t>return</a:t>
            </a:r>
            <a:r>
              <a:rPr lang="es-ES" sz="1700"/>
              <a:t> </a:t>
            </a:r>
            <a:r>
              <a:rPr lang="es-ES" sz="1700" err="1"/>
              <a:t>Type.EmptyTypes</a:t>
            </a:r>
            <a:r>
              <a:rPr lang="es-ES" sz="1700"/>
              <a:t>; } }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public</a:t>
            </a:r>
            <a:r>
              <a:rPr lang="es-ES" sz="1700"/>
              <a:t> </a:t>
            </a:r>
            <a:r>
              <a:rPr lang="es-ES" sz="1700" err="1"/>
              <a:t>void</a:t>
            </a:r>
            <a:r>
              <a:rPr lang="es-ES" sz="1700"/>
              <a:t> </a:t>
            </a:r>
            <a:r>
              <a:rPr lang="es-ES" sz="1700" err="1"/>
              <a:t>Initialize</a:t>
            </a:r>
            <a:r>
              <a:rPr lang="es-ES" sz="1700"/>
              <a:t>(</a:t>
            </a:r>
            <a:r>
              <a:rPr lang="es-ES" sz="1700" err="1"/>
              <a:t>IEnumerable</a:t>
            </a:r>
            <a:r>
              <a:rPr lang="es-ES" sz="1700"/>
              <a:t>&lt;</a:t>
            </a:r>
            <a:r>
              <a:rPr lang="es-ES" sz="1700" err="1"/>
              <a:t>INerdService</a:t>
            </a:r>
            <a:r>
              <a:rPr lang="es-ES" sz="1700"/>
              <a:t>&gt; </a:t>
            </a:r>
            <a:r>
              <a:rPr lang="es-ES" sz="1700" err="1"/>
              <a:t>dependencies</a:t>
            </a:r>
            <a:r>
              <a:rPr lang="es-ES" sz="1700"/>
              <a:t>)</a:t>
            </a:r>
          </a:p>
          <a:p>
            <a:pPr>
              <a:lnSpc>
                <a:spcPct val="100%"/>
              </a:lnSpc>
            </a:pPr>
            <a:r>
              <a:rPr lang="es-ES" sz="1700"/>
              <a:t>  { ... }</a:t>
            </a:r>
          </a:p>
          <a:p>
            <a:pPr>
              <a:lnSpc>
                <a:spcPct val="100%"/>
              </a:lnSpc>
            </a:pPr>
            <a:r>
              <a:rPr lang="es-ES" sz="1700"/>
              <a:t>  </a:t>
            </a:r>
            <a:r>
              <a:rPr lang="es-ES" sz="1700" err="1"/>
              <a:t>public</a:t>
            </a:r>
            <a:r>
              <a:rPr lang="es-ES" sz="1700"/>
              <a:t> </a:t>
            </a:r>
            <a:r>
              <a:rPr lang="es-ES" sz="1700" err="1"/>
              <a:t>void</a:t>
            </a:r>
            <a:r>
              <a:rPr lang="es-ES" sz="1700"/>
              <a:t> </a:t>
            </a:r>
            <a:r>
              <a:rPr lang="es-ES" sz="1700" err="1"/>
              <a:t>Cleanup</a:t>
            </a:r>
            <a:r>
              <a:rPr lang="es-ES" sz="1700"/>
              <a:t>() { ... }</a:t>
            </a:r>
          </a:p>
          <a:p>
            <a:pPr>
              <a:lnSpc>
                <a:spcPct val="100%"/>
              </a:lnSpc>
            </a:pPr>
            <a:r>
              <a:rPr lang="es-ES" sz="1700"/>
              <a:t>  ...</a:t>
            </a:r>
          </a:p>
          <a:p>
            <a:pPr>
              <a:lnSpc>
                <a:spcPct val="100%"/>
              </a:lnSpc>
            </a:pPr>
            <a:r>
              <a:rPr lang="es-ES" sz="170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807732"/>
      </p:ext>
    </p:extLst>
  </p:cSld>
  <p:clrMapOvr>
    <a:masterClrMapping/>
  </p:clrMapOvr>
</p:sld>
</file>

<file path=ppt/slides/slide53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A49277-CFE3-6F96-D0C3-A7342CD3C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621D22-55AA-3D88-12B2-30E0BE708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SocialIntroductionsService</a:t>
            </a:r>
            <a:r>
              <a:rPr lang="es-ES" dirty="0"/>
              <a:t>: </a:t>
            </a:r>
            <a:r>
              <a:rPr lang="es-ES" dirty="0" err="1"/>
              <a:t>INerdService</a:t>
            </a:r>
            <a:endParaRPr lang="es-ES" dirty="0"/>
          </a:p>
          <a:p>
            <a:r>
              <a:rPr lang="es-ES" dirty="0"/>
              <a:t>{</a:t>
            </a:r>
          </a:p>
          <a:p>
            <a:r>
              <a:rPr lang="es-ES" dirty="0"/>
              <a:t>  </a:t>
            </a:r>
            <a:r>
              <a:rPr lang="es-ES" dirty="0" err="1"/>
              <a:t>Type</a:t>
            </a:r>
            <a:r>
              <a:rPr lang="es-ES" dirty="0"/>
              <a:t>[] </a:t>
            </a:r>
            <a:r>
              <a:rPr lang="es-ES" dirty="0" err="1"/>
              <a:t>INerdService.Dependencies</a:t>
            </a:r>
            <a:r>
              <a:rPr lang="es-ES" dirty="0"/>
              <a:t> { </a:t>
            </a:r>
          </a:p>
          <a:p>
            <a:r>
              <a:rPr lang="es-ES" dirty="0"/>
              <a:t>    </a:t>
            </a:r>
            <a:r>
              <a:rPr lang="es-ES" dirty="0" err="1"/>
              <a:t>get</a:t>
            </a:r>
            <a:r>
              <a:rPr lang="es-ES" dirty="0"/>
              <a:t> { </a:t>
            </a:r>
            <a:r>
              <a:rPr lang="es-ES" dirty="0" err="1"/>
              <a:t>return</a:t>
            </a:r>
            <a:r>
              <a:rPr lang="es-ES" dirty="0"/>
              <a:t> </a:t>
            </a:r>
            <a:r>
              <a:rPr lang="es-ES" dirty="0" err="1"/>
              <a:t>Type.EmptyTypes</a:t>
            </a:r>
            <a:r>
              <a:rPr lang="es-ES" dirty="0"/>
              <a:t>; } }</a:t>
            </a:r>
          </a:p>
          <a:p>
            <a:r>
              <a:rPr lang="es-ES" dirty="0"/>
              <a:t>  </a:t>
            </a: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INerdService.Initialize</a:t>
            </a:r>
            <a:r>
              <a:rPr lang="es-ES" dirty="0"/>
              <a:t>(</a:t>
            </a:r>
            <a:r>
              <a:rPr lang="es-ES" dirty="0" err="1"/>
              <a:t>IEnumerable</a:t>
            </a:r>
            <a:r>
              <a:rPr lang="es-ES" dirty="0"/>
              <a:t>&lt;</a:t>
            </a:r>
            <a:r>
              <a:rPr lang="es-ES" dirty="0" err="1"/>
              <a:t>INerdService</a:t>
            </a:r>
            <a:r>
              <a:rPr lang="es-ES" dirty="0"/>
              <a:t>&gt; </a:t>
            </a:r>
            <a:r>
              <a:rPr lang="es-ES" dirty="0" err="1"/>
              <a:t>dependencies</a:t>
            </a:r>
            <a:r>
              <a:rPr lang="es-ES" dirty="0"/>
              <a:t>)</a:t>
            </a:r>
          </a:p>
          <a:p>
            <a:r>
              <a:rPr lang="es-ES" dirty="0"/>
              <a:t>  { ... }</a:t>
            </a:r>
          </a:p>
          <a:p>
            <a:r>
              <a:rPr lang="es-ES" dirty="0"/>
              <a:t>  </a:t>
            </a:r>
            <a:r>
              <a:rPr lang="es-ES" dirty="0" err="1"/>
              <a:t>void</a:t>
            </a:r>
            <a:r>
              <a:rPr lang="es-ES" dirty="0"/>
              <a:t> </a:t>
            </a:r>
            <a:r>
              <a:rPr lang="es-ES" dirty="0" err="1"/>
              <a:t>INerdService.Cleanup</a:t>
            </a:r>
            <a:r>
              <a:rPr lang="es-ES" dirty="0"/>
              <a:t>() {       ... }</a:t>
            </a:r>
          </a:p>
          <a:p>
            <a:r>
              <a:rPr lang="es-ES" dirty="0"/>
              <a:t>  ...</a:t>
            </a:r>
          </a:p>
          <a:p>
            <a:r>
              <a:rPr lang="es-ES" dirty="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658351"/>
      </p:ext>
    </p:extLst>
  </p:cSld>
  <p:clrMapOvr>
    <a:masterClrMapping/>
  </p:clrMapOvr>
</p:sld>
</file>

<file path=ppt/slides/slide54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C8683F-AC57-CF4D-B604-A487A486D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s-ES" sz="3600" b="1"/>
              <a:t>The Dependency Inversion Principle</a:t>
            </a:r>
            <a:br>
              <a:rPr lang="es-ES" sz="3600" b="1"/>
            </a:br>
            <a:br>
              <a:rPr lang="es-ES" sz="3600"/>
            </a:br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A95A6D-8C90-A541-FFA5-15248BE49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r>
              <a:rPr lang="es-ES" dirty="0" err="1"/>
              <a:t>private</a:t>
            </a:r>
            <a:r>
              <a:rPr lang="es-ES" dirty="0"/>
              <a:t> </a:t>
            </a:r>
            <a:r>
              <a:rPr lang="es-ES" dirty="0" err="1"/>
              <a:t>readonly</a:t>
            </a:r>
            <a:r>
              <a:rPr lang="es-ES" dirty="0"/>
              <a:t> </a:t>
            </a:r>
            <a:r>
              <a:rPr lang="es-ES" dirty="0" err="1"/>
              <a:t>IRamenContainer</a:t>
            </a:r>
            <a:r>
              <a:rPr lang="es-ES" dirty="0"/>
              <a:t> _</a:t>
            </a:r>
            <a:r>
              <a:rPr lang="es-ES" dirty="0" err="1"/>
              <a:t>ramenContainer</a:t>
            </a:r>
            <a:r>
              <a:rPr lang="es-ES" dirty="0"/>
              <a:t>; // A </a:t>
            </a:r>
            <a:r>
              <a:rPr lang="es-ES" dirty="0" err="1"/>
              <a:t>dependency</a:t>
            </a:r>
            <a:endParaRPr lang="es-ES" dirty="0"/>
          </a:p>
          <a:p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bool</a:t>
            </a:r>
            <a:r>
              <a:rPr lang="es-ES" dirty="0"/>
              <a:t> </a:t>
            </a:r>
            <a:r>
              <a:rPr lang="es-ES" dirty="0" err="1"/>
              <a:t>Recharge</a:t>
            </a:r>
            <a:r>
              <a:rPr lang="es-ES" dirty="0"/>
              <a:t>()</a:t>
            </a:r>
          </a:p>
          <a:p>
            <a:r>
              <a:rPr lang="es-ES" dirty="0"/>
              <a:t>{</a:t>
            </a:r>
          </a:p>
          <a:p>
            <a:r>
              <a:rPr lang="es-ES" dirty="0"/>
              <a:t>  </a:t>
            </a:r>
            <a:r>
              <a:rPr lang="es-ES" dirty="0" err="1"/>
              <a:t>if</a:t>
            </a:r>
            <a:r>
              <a:rPr lang="es-ES" dirty="0"/>
              <a:t> (_</a:t>
            </a:r>
            <a:r>
              <a:rPr lang="es-ES" dirty="0" err="1"/>
              <a:t>ramenContainer</a:t>
            </a:r>
            <a:r>
              <a:rPr lang="es-ES" dirty="0"/>
              <a:t> != </a:t>
            </a:r>
            <a:r>
              <a:rPr lang="es-ES" dirty="0" err="1"/>
              <a:t>null</a:t>
            </a:r>
            <a:r>
              <a:rPr lang="es-ES" dirty="0"/>
              <a:t>)</a:t>
            </a:r>
          </a:p>
          <a:p>
            <a:r>
              <a:rPr lang="es-ES" dirty="0"/>
              <a:t>  {</a:t>
            </a:r>
          </a:p>
          <a:p>
            <a:r>
              <a:rPr lang="es-ES" dirty="0"/>
              <a:t>    </a:t>
            </a:r>
            <a:r>
              <a:rPr lang="es-ES" dirty="0" err="1"/>
              <a:t>var</a:t>
            </a:r>
            <a:r>
              <a:rPr lang="es-ES" dirty="0"/>
              <a:t> </a:t>
            </a:r>
            <a:r>
              <a:rPr lang="es-ES" dirty="0" err="1"/>
              <a:t>toBeConsumed</a:t>
            </a:r>
            <a:r>
              <a:rPr lang="es-ES" dirty="0"/>
              <a:t> = _</a:t>
            </a:r>
            <a:r>
              <a:rPr lang="es-ES" dirty="0" err="1"/>
              <a:t>ramenContainer.Prepare</a:t>
            </a:r>
            <a:r>
              <a:rPr lang="es-ES" dirty="0"/>
              <a:t>();</a:t>
            </a:r>
          </a:p>
          <a:p>
            <a:r>
              <a:rPr lang="es-ES" dirty="0"/>
              <a:t>    </a:t>
            </a:r>
            <a:r>
              <a:rPr lang="es-ES" dirty="0" err="1"/>
              <a:t>return</a:t>
            </a:r>
            <a:r>
              <a:rPr lang="es-ES" dirty="0"/>
              <a:t> Consume(</a:t>
            </a:r>
            <a:r>
              <a:rPr lang="es-ES" dirty="0" err="1"/>
              <a:t>toBeConsumed</a:t>
            </a:r>
            <a:r>
              <a:rPr lang="es-ES" dirty="0"/>
              <a:t>);</a:t>
            </a:r>
          </a:p>
          <a:p>
            <a:r>
              <a:rPr lang="es-ES" dirty="0"/>
              <a:t>  }</a:t>
            </a:r>
          </a:p>
          <a:p>
            <a:r>
              <a:rPr lang="es-ES" dirty="0"/>
              <a:t>  </a:t>
            </a:r>
            <a:r>
              <a:rPr lang="es-ES" dirty="0" err="1"/>
              <a:t>return</a:t>
            </a:r>
            <a:r>
              <a:rPr lang="es-ES" dirty="0"/>
              <a:t> false;</a:t>
            </a:r>
          </a:p>
          <a:p>
            <a:r>
              <a:rPr lang="es-ES" dirty="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275740"/>
      </p:ext>
    </p:extLst>
  </p:cSld>
  <p:clrMapOvr>
    <a:masterClrMapping/>
  </p:clrMapOvr>
</p:sld>
</file>

<file path=ppt/slides/slide55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A829C2-AD4D-DB74-B70B-66AF0EEAA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344547-87D5-A9A9-10C8-D87B9EBF2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IList</a:t>
            </a:r>
            <a:r>
              <a:rPr lang="es-ES" dirty="0"/>
              <a:t>&lt;Nerd&gt; </a:t>
            </a:r>
            <a:r>
              <a:rPr lang="es-ES" dirty="0" err="1"/>
              <a:t>RestoreNerds</a:t>
            </a:r>
            <a:r>
              <a:rPr lang="es-ES" dirty="0"/>
              <a:t>(</a:t>
            </a:r>
            <a:r>
              <a:rPr lang="es-ES" dirty="0" err="1"/>
              <a:t>string</a:t>
            </a:r>
            <a:r>
              <a:rPr lang="es-ES" dirty="0"/>
              <a:t> </a:t>
            </a:r>
            <a:r>
              <a:rPr lang="es-ES" dirty="0" err="1"/>
              <a:t>filename</a:t>
            </a:r>
            <a:r>
              <a:rPr lang="es-ES" dirty="0"/>
              <a:t>)</a:t>
            </a:r>
          </a:p>
          <a:p>
            <a:r>
              <a:rPr lang="es-ES" dirty="0"/>
              <a:t>{</a:t>
            </a:r>
          </a:p>
          <a:p>
            <a:r>
              <a:rPr lang="es-ES" dirty="0"/>
              <a:t>  </a:t>
            </a:r>
            <a:r>
              <a:rPr lang="es-ES" dirty="0" err="1"/>
              <a:t>if</a:t>
            </a:r>
            <a:r>
              <a:rPr lang="es-ES" dirty="0"/>
              <a:t> (</a:t>
            </a:r>
            <a:r>
              <a:rPr lang="es-ES" dirty="0" err="1"/>
              <a:t>File.Exists</a:t>
            </a:r>
            <a:r>
              <a:rPr lang="es-ES" dirty="0"/>
              <a:t>(</a:t>
            </a:r>
            <a:r>
              <a:rPr lang="es-ES" dirty="0" err="1"/>
              <a:t>filename</a:t>
            </a:r>
            <a:r>
              <a:rPr lang="es-ES" dirty="0"/>
              <a:t>))</a:t>
            </a:r>
          </a:p>
          <a:p>
            <a:r>
              <a:rPr lang="es-ES" dirty="0"/>
              <a:t>  {</a:t>
            </a:r>
          </a:p>
          <a:p>
            <a:r>
              <a:rPr lang="es-ES" dirty="0"/>
              <a:t>    </a:t>
            </a:r>
            <a:r>
              <a:rPr lang="es-ES" dirty="0" err="1"/>
              <a:t>var</a:t>
            </a:r>
            <a:r>
              <a:rPr lang="es-ES" dirty="0"/>
              <a:t> </a:t>
            </a:r>
            <a:r>
              <a:rPr lang="es-ES" dirty="0" err="1"/>
              <a:t>serializer</a:t>
            </a:r>
            <a:r>
              <a:rPr lang="es-ES" dirty="0"/>
              <a:t> = new </a:t>
            </a:r>
            <a:r>
              <a:rPr lang="es-ES" dirty="0" err="1"/>
              <a:t>XmlSerializer</a:t>
            </a:r>
            <a:r>
              <a:rPr lang="es-ES" dirty="0"/>
              <a:t>(</a:t>
            </a:r>
            <a:r>
              <a:rPr lang="es-ES" dirty="0" err="1"/>
              <a:t>typeof</a:t>
            </a:r>
            <a:r>
              <a:rPr lang="es-ES" dirty="0"/>
              <a:t>(</a:t>
            </a:r>
            <a:r>
              <a:rPr lang="es-ES" dirty="0" err="1"/>
              <a:t>List</a:t>
            </a:r>
            <a:r>
              <a:rPr lang="es-ES" dirty="0"/>
              <a:t>&lt;Nerd&gt;));</a:t>
            </a:r>
          </a:p>
          <a:p>
            <a:r>
              <a:rPr lang="es-ES" dirty="0"/>
              <a:t>    </a:t>
            </a:r>
            <a:r>
              <a:rPr lang="es-ES" dirty="0" err="1"/>
              <a:t>using</a:t>
            </a:r>
            <a:r>
              <a:rPr lang="es-ES" dirty="0"/>
              <a:t> (</a:t>
            </a:r>
            <a:r>
              <a:rPr lang="es-ES" dirty="0" err="1"/>
              <a:t>var</a:t>
            </a:r>
            <a:r>
              <a:rPr lang="es-ES" dirty="0"/>
              <a:t> </a:t>
            </a:r>
            <a:r>
              <a:rPr lang="es-ES" dirty="0" err="1"/>
              <a:t>reader</a:t>
            </a:r>
            <a:r>
              <a:rPr lang="es-ES" dirty="0"/>
              <a:t> = new </a:t>
            </a:r>
            <a:r>
              <a:rPr lang="es-ES" dirty="0" err="1"/>
              <a:t>XmlTextReader</a:t>
            </a:r>
            <a:r>
              <a:rPr lang="es-ES" dirty="0"/>
              <a:t>(</a:t>
            </a:r>
            <a:r>
              <a:rPr lang="es-ES" dirty="0" err="1"/>
              <a:t>filename</a:t>
            </a:r>
            <a:r>
              <a:rPr lang="es-ES" dirty="0"/>
              <a:t>))</a:t>
            </a:r>
          </a:p>
          <a:p>
            <a:r>
              <a:rPr lang="es-ES" dirty="0"/>
              <a:t>      </a:t>
            </a:r>
            <a:r>
              <a:rPr lang="es-ES" dirty="0" err="1"/>
              <a:t>return</a:t>
            </a:r>
            <a:r>
              <a:rPr lang="es-ES" dirty="0"/>
              <a:t> (</a:t>
            </a:r>
            <a:r>
              <a:rPr lang="es-ES" dirty="0" err="1"/>
              <a:t>List</a:t>
            </a:r>
            <a:r>
              <a:rPr lang="es-ES" dirty="0"/>
              <a:t>&lt;Nerd&gt;)</a:t>
            </a:r>
            <a:r>
              <a:rPr lang="es-ES" dirty="0" err="1"/>
              <a:t>serializer.Deserialize</a:t>
            </a:r>
            <a:r>
              <a:rPr lang="es-ES" dirty="0"/>
              <a:t>(</a:t>
            </a:r>
            <a:r>
              <a:rPr lang="es-ES" dirty="0" err="1"/>
              <a:t>reader</a:t>
            </a:r>
            <a:r>
              <a:rPr lang="es-ES" dirty="0"/>
              <a:t>);</a:t>
            </a:r>
          </a:p>
          <a:p>
            <a:r>
              <a:rPr lang="es-ES" dirty="0"/>
              <a:t>  }</a:t>
            </a:r>
          </a:p>
          <a:p>
            <a:r>
              <a:rPr lang="es-ES" dirty="0"/>
              <a:t>  </a:t>
            </a:r>
            <a:r>
              <a:rPr lang="es-ES" dirty="0" err="1"/>
              <a:t>return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;</a:t>
            </a:r>
          </a:p>
          <a:p>
            <a:r>
              <a:rPr lang="es-ES" dirty="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971246"/>
      </p:ext>
    </p:extLst>
  </p:cSld>
  <p:clrMapOvr>
    <a:masterClrMapping/>
  </p:clrMapOvr>
</p:sld>
</file>

<file path=ppt/slides/slide56.xml><?xml version="1.0" encoding="utf-8"?>
<p:sld xmlns:a="http://purl.oclc.org/ooxml/drawingml/main" xmlns:r="http://purl.oclc.org/ooxml/officeDocument/relationships" xmlns:p="http://purl.oclc.org/ooxml/presentationml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%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%"/>
                  </a:schemeClr>
                </a:solidFill>
                <a:prstDash val="solid"/>
                <a:miter lim="800%"/>
              </a14:hiddenLine>
            </a:ext>
          </a:extLst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4B98B0-6552-D5D3-6B39-43B397EF9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endParaRPr lang="es-ES" sz="3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9CDED3-7B8E-F0DC-5F32-FEE831DC3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r>
              <a:rPr lang="es-ES" dirty="0" err="1"/>
              <a:t>class</a:t>
            </a:r>
            <a:r>
              <a:rPr lang="es-ES" dirty="0"/>
              <a:t> </a:t>
            </a:r>
            <a:r>
              <a:rPr lang="es-ES" dirty="0" err="1"/>
              <a:t>MonsterCardCollection</a:t>
            </a:r>
            <a:endParaRPr lang="es-ES" dirty="0"/>
          </a:p>
          <a:p>
            <a:r>
              <a:rPr lang="es-ES" dirty="0"/>
              <a:t>{</a:t>
            </a:r>
          </a:p>
          <a:p>
            <a:r>
              <a:rPr lang="es-ES" dirty="0"/>
              <a:t>  </a:t>
            </a:r>
            <a:r>
              <a:rPr lang="es-ES" dirty="0" err="1"/>
              <a:t>private</a:t>
            </a:r>
            <a:r>
              <a:rPr lang="es-ES" dirty="0"/>
              <a:t> </a:t>
            </a:r>
            <a:r>
              <a:rPr lang="es-ES" dirty="0" err="1"/>
              <a:t>readonly</a:t>
            </a:r>
            <a:r>
              <a:rPr lang="es-ES" dirty="0"/>
              <a:t> </a:t>
            </a:r>
            <a:r>
              <a:rPr lang="es-ES" dirty="0" err="1"/>
              <a:t>IMsSqlDatabase</a:t>
            </a:r>
            <a:r>
              <a:rPr lang="es-ES" dirty="0"/>
              <a:t> _</a:t>
            </a:r>
            <a:r>
              <a:rPr lang="es-ES" dirty="0" err="1"/>
              <a:t>storage</a:t>
            </a:r>
            <a:r>
              <a:rPr lang="es-ES" dirty="0"/>
              <a:t>;</a:t>
            </a:r>
          </a:p>
          <a:p>
            <a:r>
              <a:rPr lang="es-ES" dirty="0"/>
              <a:t>  </a:t>
            </a:r>
            <a:r>
              <a:rPr lang="es-ES" dirty="0" err="1"/>
              <a:t>public</a:t>
            </a:r>
            <a:r>
              <a:rPr lang="es-ES" dirty="0"/>
              <a:t> </a:t>
            </a:r>
            <a:r>
              <a:rPr lang="es-ES" dirty="0" err="1"/>
              <a:t>MonsterCardCollection</a:t>
            </a:r>
            <a:r>
              <a:rPr lang="es-ES" dirty="0"/>
              <a:t>(</a:t>
            </a:r>
            <a:r>
              <a:rPr lang="es-ES" dirty="0" err="1"/>
              <a:t>IMsSqlDatabase</a:t>
            </a:r>
            <a:r>
              <a:rPr lang="es-ES" dirty="0"/>
              <a:t> </a:t>
            </a:r>
            <a:r>
              <a:rPr lang="es-ES" dirty="0" err="1"/>
              <a:t>storage</a:t>
            </a:r>
            <a:r>
              <a:rPr lang="es-ES" dirty="0"/>
              <a:t>)</a:t>
            </a:r>
          </a:p>
          <a:p>
            <a:r>
              <a:rPr lang="es-ES" dirty="0"/>
              <a:t>  {</a:t>
            </a:r>
          </a:p>
          <a:p>
            <a:r>
              <a:rPr lang="es-ES" dirty="0"/>
              <a:t>    _</a:t>
            </a:r>
            <a:r>
              <a:rPr lang="es-ES" dirty="0" err="1"/>
              <a:t>storage</a:t>
            </a:r>
            <a:r>
              <a:rPr lang="es-ES" dirty="0"/>
              <a:t> = </a:t>
            </a:r>
            <a:r>
              <a:rPr lang="es-ES" dirty="0" err="1"/>
              <a:t>storage</a:t>
            </a:r>
            <a:r>
              <a:rPr lang="es-ES" dirty="0"/>
              <a:t>;</a:t>
            </a:r>
          </a:p>
          <a:p>
            <a:r>
              <a:rPr lang="es-ES" dirty="0"/>
              <a:t>  }</a:t>
            </a:r>
          </a:p>
          <a:p>
            <a:r>
              <a:rPr lang="es-ES" dirty="0"/>
              <a:t>  ...</a:t>
            </a:r>
          </a:p>
          <a:p>
            <a:r>
              <a:rPr lang="es-ES" dirty="0"/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877190"/>
      </p:ext>
    </p:extLst>
  </p:cSld>
  <p:clrMapOvr>
    <a:masterClrMapping/>
  </p:clrMapOvr>
</p:sld>
</file>

<file path=ppt/theme/theme1.xml><?xml version="1.0" encoding="utf-8"?>
<a:theme xmlns:a="http://purl.oclc.org/ooxml/drawingml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%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%"/>
                </a:schemeClr>
              </a:solidFill>
              <a:prstDash val="solid"/>
              <a:miter lim="800%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%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purl.oclc.org/ooxml/drawingml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purl.oclc.org/ooxml/officeDocument/extendedProperties" xmlns:vt="http://purl.oclc.org/ooxml/officeDocument/docPropsVTypes">
  <TotalTime>336</TotalTime>
  <Words>3899</Words>
  <Application>Microsoft Office PowerPoint</Application>
  <PresentationFormat>Panorámica</PresentationFormat>
  <Paragraphs>654</Paragraphs>
  <Slides>56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56</vt:i4>
      </vt:variant>
    </vt:vector>
  </HeadingPairs>
  <TitlesOfParts>
    <vt:vector size="64" baseType="lpstr">
      <vt:lpstr>Aptos</vt:lpstr>
      <vt:lpstr>Arial</vt:lpstr>
      <vt:lpstr>Bierstadt</vt:lpstr>
      <vt:lpstr>Calisto MT</vt:lpstr>
      <vt:lpstr>Consolas</vt:lpstr>
      <vt:lpstr>OpenSans</vt:lpstr>
      <vt:lpstr>Univers Condensed</vt:lpstr>
      <vt:lpstr>ChronicleVTI</vt:lpstr>
      <vt:lpstr>CLEAN CODE .NET</vt:lpstr>
      <vt:lpstr>CLEAN CODE</vt:lpstr>
      <vt:lpstr>Why Clean Code Matters </vt:lpstr>
      <vt:lpstr>Presentación de PowerPoint</vt:lpstr>
      <vt:lpstr>Use variable names that are easy to remember</vt:lpstr>
      <vt:lpstr>Use variable names with the same structure  </vt:lpstr>
      <vt:lpstr>Use searchable names  </vt:lpstr>
      <vt:lpstr>Don’t repeat yourself  </vt:lpstr>
      <vt:lpstr>Presentación de PowerPoint</vt:lpstr>
      <vt:lpstr>Uses highly descriptive variable names  </vt:lpstr>
      <vt:lpstr>Always encapsulate conditionals  </vt:lpstr>
      <vt:lpstr>Use private/protected members  </vt:lpstr>
      <vt:lpstr>Presentación de PowerPoint</vt:lpstr>
      <vt:lpstr>Learn to use setters and getters  </vt:lpstr>
      <vt:lpstr>Presentación de PowerPoint</vt:lpstr>
      <vt:lpstr>Presentación de PowerPoint</vt:lpstr>
      <vt:lpstr>Composition is better than inheritance  </vt:lpstr>
      <vt:lpstr>Presentación de PowerPoint</vt:lpstr>
      <vt:lpstr>Presentación de PowerPoint</vt:lpstr>
      <vt:lpstr>Don’t use magic chains  </vt:lpstr>
      <vt:lpstr>Limiting function arguments  </vt:lpstr>
      <vt:lpstr>Name the functions with what they do  </vt:lpstr>
      <vt:lpstr>Presentación de PowerPoint</vt:lpstr>
      <vt:lpstr>Never save unused code  </vt:lpstr>
      <vt:lpstr>One level of abstraction per function  </vt:lpstr>
      <vt:lpstr>Presentación de PowerPoint</vt:lpstr>
      <vt:lpstr>Never write in global functions  </vt:lpstr>
      <vt:lpstr>Presentación de PowerPoint</vt:lpstr>
      <vt:lpstr>Avoid magic numbers and strings  </vt:lpstr>
      <vt:lpstr>Comments and documentation  </vt:lpstr>
      <vt:lpstr>Presentación de PowerPoint</vt:lpstr>
      <vt:lpstr>Keep Functions and Methods Small </vt:lpstr>
      <vt:lpstr>LAB 1</vt:lpstr>
      <vt:lpstr>Presentación de PowerPoint</vt:lpstr>
      <vt:lpstr>The Single Responsibility Principle  </vt:lpstr>
      <vt:lpstr>Presentación de PowerPoint</vt:lpstr>
      <vt:lpstr>Presentación de PowerPoint</vt:lpstr>
      <vt:lpstr>The Open Closed Principle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LAB 2 – PART 1</vt:lpstr>
      <vt:lpstr>How to Keep Functions and Methods Small  </vt:lpstr>
      <vt:lpstr>Repo extra info</vt:lpstr>
      <vt:lpstr>The Liskov Substitution Principle  </vt:lpstr>
      <vt:lpstr>Presentación de PowerPoint</vt:lpstr>
      <vt:lpstr>Presentación de PowerPoint</vt:lpstr>
      <vt:lpstr>The Interface Segregation Principle  </vt:lpstr>
      <vt:lpstr>Presentación de PowerPoint</vt:lpstr>
      <vt:lpstr>Presentación de PowerPoint</vt:lpstr>
      <vt:lpstr>Presentación de PowerPoint</vt:lpstr>
      <vt:lpstr>The Dependency Inversion Principle 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Formador Dos</dc:creator>
  <cp:lastModifiedBy>Formador Dos</cp:lastModifiedBy>
  <cp:revision>11</cp:revision>
  <dcterms:created xsi:type="dcterms:W3CDTF">2026-01-07T07:46:40Z</dcterms:created>
  <dcterms:modified xsi:type="dcterms:W3CDTF">2026-01-07T13:22:44Z</dcterms:modified>
</cp:coreProperties>
</file>